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71" r:id="rId4"/>
    <p:sldId id="258" r:id="rId5"/>
    <p:sldId id="259" r:id="rId6"/>
    <p:sldId id="260" r:id="rId7"/>
    <p:sldId id="261" r:id="rId8"/>
    <p:sldId id="272" r:id="rId9"/>
    <p:sldId id="270" r:id="rId10"/>
    <p:sldId id="263" r:id="rId11"/>
    <p:sldId id="264" r:id="rId12"/>
    <p:sldId id="265" r:id="rId13"/>
    <p:sldId id="266" r:id="rId14"/>
    <p:sldId id="267" r:id="rId15"/>
    <p:sldId id="268" r:id="rId16"/>
  </p:sldIdLst>
  <p:sldSz cx="24384000" cy="13716000"/>
  <p:notesSz cx="6858000" cy="9144000"/>
  <p:embeddedFontLst>
    <p:embeddedFont>
      <p:font typeface="Embedded Arial" panose="020B0604020202020204" charset="0"/>
      <p:regular r:id="rId18"/>
      <p:bold r:id="rId19"/>
      <p:italic r:id="rId20"/>
      <p:boldItalic r:id="rId21"/>
    </p:embeddedFont>
    <p:embeddedFont>
      <p:font typeface="Embedded Hind Siliguri" panose="020B0604020202020204" charset="0"/>
      <p:regular r:id="rId22"/>
      <p:bold r:id="rId23"/>
    </p:embeddedFont>
    <p:embeddedFont>
      <p:font typeface="Embedded Inter" panose="020B0604020202020204" charset="0"/>
      <p:regular r:id="rId24"/>
      <p:bold r:id="rId25"/>
      <p:italic r:id="rId26"/>
      <p:boldItalic r:id="rId27"/>
    </p:embeddedFont>
    <p:embeddedFont>
      <p:font typeface="Embedded Playfair Display" panose="020B0604020202020204" charset="0"/>
      <p:regular r:id="rId28"/>
      <p:bold r:id="rId29"/>
      <p:italic r:id="rId30"/>
      <p:boldItalic r:id="rId31"/>
    </p:embeddedFont>
    <p:embeddedFont>
      <p:font typeface="Vrinda" panose="020B0502040204020203" pitchFamily="34" charset="0"/>
      <p:regular r:id="rId32"/>
      <p:bold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8" d="100"/>
          <a:sy n="38" d="100"/>
        </p:scale>
        <p:origin x="9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2C73F01-991A-4A56-891F-913AFAFF2635}"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1C4E326A-6631-43D7-AF9C-AB6BE8DE4D87}">
      <dgm:prSet/>
      <dgm:spPr>
        <a:solidFill>
          <a:schemeClr val="accent2"/>
        </a:solidFill>
      </dgm:spPr>
      <dgm:t>
        <a:bodyPr/>
        <a:lstStyle/>
        <a:p>
          <a:r>
            <a:rPr lang="en-US"/>
            <a:t>Introduction &amp; Problem Statement</a:t>
          </a:r>
        </a:p>
      </dgm:t>
    </dgm:pt>
    <dgm:pt modelId="{24594B32-A147-4944-A7E9-65ED346B34F9}" type="parTrans" cxnId="{370B172B-0B8F-41C2-9E77-9A70CFBEC1CF}">
      <dgm:prSet/>
      <dgm:spPr/>
      <dgm:t>
        <a:bodyPr/>
        <a:lstStyle/>
        <a:p>
          <a:endParaRPr lang="en-US"/>
        </a:p>
      </dgm:t>
    </dgm:pt>
    <dgm:pt modelId="{14C14F57-943C-429C-81DA-4633994B90E3}" type="sibTrans" cxnId="{370B172B-0B8F-41C2-9E77-9A70CFBEC1CF}">
      <dgm:prSet/>
      <dgm:spPr>
        <a:solidFill>
          <a:schemeClr val="accent2"/>
        </a:solidFill>
      </dgm:spPr>
      <dgm:t>
        <a:bodyPr/>
        <a:lstStyle/>
        <a:p>
          <a:endParaRPr lang="en-US"/>
        </a:p>
      </dgm:t>
    </dgm:pt>
    <dgm:pt modelId="{C3558737-B86E-4DE3-AE95-580170CBEEF1}">
      <dgm:prSet/>
      <dgm:spPr>
        <a:solidFill>
          <a:schemeClr val="accent2"/>
        </a:solidFill>
      </dgm:spPr>
      <dgm:t>
        <a:bodyPr/>
        <a:lstStyle/>
        <a:p>
          <a:r>
            <a:rPr lang="en-US"/>
            <a:t>Literature Review</a:t>
          </a:r>
        </a:p>
      </dgm:t>
    </dgm:pt>
    <dgm:pt modelId="{B782F219-6B04-40C5-89D6-F0038870D32E}" type="parTrans" cxnId="{96D65B90-754C-4F5B-8697-25B6680BEA47}">
      <dgm:prSet/>
      <dgm:spPr/>
      <dgm:t>
        <a:bodyPr/>
        <a:lstStyle/>
        <a:p>
          <a:endParaRPr lang="en-US"/>
        </a:p>
      </dgm:t>
    </dgm:pt>
    <dgm:pt modelId="{4EA1120B-5A0F-4ECF-8F5D-273E2F06C2A9}" type="sibTrans" cxnId="{96D65B90-754C-4F5B-8697-25B6680BEA47}">
      <dgm:prSet/>
      <dgm:spPr/>
      <dgm:t>
        <a:bodyPr/>
        <a:lstStyle/>
        <a:p>
          <a:endParaRPr lang="en-US"/>
        </a:p>
      </dgm:t>
    </dgm:pt>
    <dgm:pt modelId="{25BF7B92-7250-4FE9-8AEC-700DC97895FF}">
      <dgm:prSet/>
      <dgm:spPr>
        <a:solidFill>
          <a:schemeClr val="accent2"/>
        </a:solidFill>
      </dgm:spPr>
      <dgm:t>
        <a:bodyPr/>
        <a:lstStyle/>
        <a:p>
          <a:r>
            <a:rPr lang="en-US"/>
            <a:t>Objectives &amp; Contributions</a:t>
          </a:r>
        </a:p>
      </dgm:t>
    </dgm:pt>
    <dgm:pt modelId="{87E2DB28-1831-4857-A198-FE69A7E0D26B}" type="parTrans" cxnId="{DD2A597C-DB8A-422C-8FA9-E2EA74853EA0}">
      <dgm:prSet/>
      <dgm:spPr/>
      <dgm:t>
        <a:bodyPr/>
        <a:lstStyle/>
        <a:p>
          <a:endParaRPr lang="en-US"/>
        </a:p>
      </dgm:t>
    </dgm:pt>
    <dgm:pt modelId="{F9596284-4747-4B95-A292-5C327A28BF97}" type="sibTrans" cxnId="{DD2A597C-DB8A-422C-8FA9-E2EA74853EA0}">
      <dgm:prSet/>
      <dgm:spPr/>
      <dgm:t>
        <a:bodyPr/>
        <a:lstStyle/>
        <a:p>
          <a:endParaRPr lang="en-US"/>
        </a:p>
      </dgm:t>
    </dgm:pt>
    <dgm:pt modelId="{2876D05E-9414-4BD6-A156-B9090FD84FDE}">
      <dgm:prSet/>
      <dgm:spPr>
        <a:solidFill>
          <a:schemeClr val="accent2"/>
        </a:solidFill>
      </dgm:spPr>
      <dgm:t>
        <a:bodyPr/>
        <a:lstStyle/>
        <a:p>
          <a:r>
            <a:rPr lang="en-US" dirty="0"/>
            <a:t>Dataset Construction Pipeline &amp; Statistics</a:t>
          </a:r>
        </a:p>
      </dgm:t>
    </dgm:pt>
    <dgm:pt modelId="{C0E6BBA6-D3E8-407C-9B7C-75768FF30E53}" type="parTrans" cxnId="{567D2819-A249-49CE-B3DF-7CB4E08E12D1}">
      <dgm:prSet/>
      <dgm:spPr/>
      <dgm:t>
        <a:bodyPr/>
        <a:lstStyle/>
        <a:p>
          <a:endParaRPr lang="en-US"/>
        </a:p>
      </dgm:t>
    </dgm:pt>
    <dgm:pt modelId="{2ECF6DCE-EF00-4315-8C66-719B909AA9F7}" type="sibTrans" cxnId="{567D2819-A249-49CE-B3DF-7CB4E08E12D1}">
      <dgm:prSet/>
      <dgm:spPr/>
      <dgm:t>
        <a:bodyPr/>
        <a:lstStyle/>
        <a:p>
          <a:endParaRPr lang="en-US"/>
        </a:p>
      </dgm:t>
    </dgm:pt>
    <dgm:pt modelId="{5B1F3E5C-43A0-4341-A3A7-8A5126687C57}">
      <dgm:prSet/>
      <dgm:spPr>
        <a:solidFill>
          <a:schemeClr val="accent2"/>
        </a:solidFill>
      </dgm:spPr>
      <dgm:t>
        <a:bodyPr/>
        <a:lstStyle/>
        <a:p>
          <a:r>
            <a:rPr lang="en-US"/>
            <a:t>System Architecture</a:t>
          </a:r>
        </a:p>
      </dgm:t>
    </dgm:pt>
    <dgm:pt modelId="{5DC47AFA-3510-4F81-9431-6FE5F65CA83D}" type="parTrans" cxnId="{F518A56F-33BF-4C26-9F56-919D3CFD1F26}">
      <dgm:prSet/>
      <dgm:spPr/>
      <dgm:t>
        <a:bodyPr/>
        <a:lstStyle/>
        <a:p>
          <a:endParaRPr lang="en-US"/>
        </a:p>
      </dgm:t>
    </dgm:pt>
    <dgm:pt modelId="{789BF7B8-7E75-4C56-A2AB-19C6481809D6}" type="sibTrans" cxnId="{F518A56F-33BF-4C26-9F56-919D3CFD1F26}">
      <dgm:prSet/>
      <dgm:spPr/>
      <dgm:t>
        <a:bodyPr/>
        <a:lstStyle/>
        <a:p>
          <a:endParaRPr lang="en-US"/>
        </a:p>
      </dgm:t>
    </dgm:pt>
    <dgm:pt modelId="{0A5FCC57-1BC3-4BF0-B777-C6FADF639AB3}">
      <dgm:prSet/>
      <dgm:spPr>
        <a:solidFill>
          <a:schemeClr val="accent2"/>
        </a:solidFill>
      </dgm:spPr>
      <dgm:t>
        <a:bodyPr/>
        <a:lstStyle/>
        <a:p>
          <a:r>
            <a:rPr lang="en-US"/>
            <a:t>Performance Results &amp; Comparison</a:t>
          </a:r>
        </a:p>
      </dgm:t>
    </dgm:pt>
    <dgm:pt modelId="{4CA8718E-FF85-43B0-93D6-98B45D08F009}" type="parTrans" cxnId="{EA6C30B0-1452-4CA2-B96D-0587844D54F8}">
      <dgm:prSet/>
      <dgm:spPr/>
      <dgm:t>
        <a:bodyPr/>
        <a:lstStyle/>
        <a:p>
          <a:endParaRPr lang="en-US"/>
        </a:p>
      </dgm:t>
    </dgm:pt>
    <dgm:pt modelId="{8E4D968F-C0DC-495D-9BE1-CAD9B9462273}" type="sibTrans" cxnId="{EA6C30B0-1452-4CA2-B96D-0587844D54F8}">
      <dgm:prSet/>
      <dgm:spPr/>
      <dgm:t>
        <a:bodyPr/>
        <a:lstStyle/>
        <a:p>
          <a:endParaRPr lang="en-US"/>
        </a:p>
      </dgm:t>
    </dgm:pt>
    <dgm:pt modelId="{CA99E86B-CB79-4CF2-8AB5-B3C0B0AA84C2}">
      <dgm:prSet/>
      <dgm:spPr>
        <a:solidFill>
          <a:schemeClr val="accent2"/>
        </a:solidFill>
      </dgm:spPr>
      <dgm:t>
        <a:bodyPr/>
        <a:lstStyle/>
        <a:p>
          <a:r>
            <a:rPr lang="en-US" dirty="0"/>
            <a:t>Limitations, Future Works &amp; References</a:t>
          </a:r>
        </a:p>
      </dgm:t>
    </dgm:pt>
    <dgm:pt modelId="{11E52632-1915-40FB-BAFC-A2662E3C6F7B}" type="parTrans" cxnId="{971927C9-7BF0-47FF-835D-69652F743A73}">
      <dgm:prSet/>
      <dgm:spPr/>
      <dgm:t>
        <a:bodyPr/>
        <a:lstStyle/>
        <a:p>
          <a:endParaRPr lang="en-US"/>
        </a:p>
      </dgm:t>
    </dgm:pt>
    <dgm:pt modelId="{76DA57CE-87C5-4A04-9521-9FF12EC6F6F4}" type="sibTrans" cxnId="{971927C9-7BF0-47FF-835D-69652F743A73}">
      <dgm:prSet/>
      <dgm:spPr/>
      <dgm:t>
        <a:bodyPr/>
        <a:lstStyle/>
        <a:p>
          <a:endParaRPr lang="en-US"/>
        </a:p>
      </dgm:t>
    </dgm:pt>
    <dgm:pt modelId="{466DAF74-ED78-4DCE-A2AC-378A6578ADE1}">
      <dgm:prSet/>
      <dgm:spPr/>
    </dgm:pt>
    <dgm:pt modelId="{C57D9202-571E-4BF2-8EDD-B943796C490A}" type="parTrans" cxnId="{E1913ACE-E740-4805-8AB8-74B4052E7685}">
      <dgm:prSet/>
      <dgm:spPr/>
      <dgm:t>
        <a:bodyPr/>
        <a:lstStyle/>
        <a:p>
          <a:endParaRPr lang="en-US"/>
        </a:p>
      </dgm:t>
    </dgm:pt>
    <dgm:pt modelId="{F13608F3-572F-4BF6-AC80-44FF6AE3C4E5}" type="sibTrans" cxnId="{E1913ACE-E740-4805-8AB8-74B4052E7685}">
      <dgm:prSet/>
      <dgm:spPr/>
      <dgm:t>
        <a:bodyPr/>
        <a:lstStyle/>
        <a:p>
          <a:endParaRPr lang="en-US"/>
        </a:p>
      </dgm:t>
    </dgm:pt>
    <dgm:pt modelId="{D2FA5AE9-4977-495B-B48A-4D6AC2B8F961}">
      <dgm:prSet/>
      <dgm:spPr/>
      <dgm:t>
        <a:bodyPr/>
        <a:lstStyle/>
        <a:p>
          <a:endParaRPr lang="en-US"/>
        </a:p>
      </dgm:t>
    </dgm:pt>
    <dgm:pt modelId="{1ECDFD39-F5BA-4D4B-B4CF-E44BA4DE0C9E}" type="parTrans" cxnId="{A73E60DA-AB17-430D-978F-90924C625003}">
      <dgm:prSet/>
      <dgm:spPr/>
      <dgm:t>
        <a:bodyPr/>
        <a:lstStyle/>
        <a:p>
          <a:endParaRPr lang="en-US"/>
        </a:p>
      </dgm:t>
    </dgm:pt>
    <dgm:pt modelId="{843F0739-64E6-4534-B75F-707EC18D1D76}" type="sibTrans" cxnId="{A73E60DA-AB17-430D-978F-90924C625003}">
      <dgm:prSet/>
      <dgm:spPr/>
      <dgm:t>
        <a:bodyPr/>
        <a:lstStyle/>
        <a:p>
          <a:endParaRPr lang="en-US"/>
        </a:p>
      </dgm:t>
    </dgm:pt>
    <dgm:pt modelId="{BEDC985A-5842-43E5-8541-48639AECE540}" type="pres">
      <dgm:prSet presAssocID="{A2C73F01-991A-4A56-891F-913AFAFF2635}" presName="Name0" presStyleCnt="0">
        <dgm:presLayoutVars>
          <dgm:chMax val="7"/>
          <dgm:chPref val="7"/>
          <dgm:dir/>
        </dgm:presLayoutVars>
      </dgm:prSet>
      <dgm:spPr/>
    </dgm:pt>
    <dgm:pt modelId="{C14F9608-D8E6-4071-8738-4AEEED545D2B}" type="pres">
      <dgm:prSet presAssocID="{A2C73F01-991A-4A56-891F-913AFAFF2635}" presName="Name1" presStyleCnt="0"/>
      <dgm:spPr/>
    </dgm:pt>
    <dgm:pt modelId="{CE6995C4-EE76-4CC7-B8F1-900262BEC3E0}" type="pres">
      <dgm:prSet presAssocID="{A2C73F01-991A-4A56-891F-913AFAFF2635}" presName="cycle" presStyleCnt="0"/>
      <dgm:spPr/>
    </dgm:pt>
    <dgm:pt modelId="{D0AF0D93-6717-401F-B263-40C5CCACB563}" type="pres">
      <dgm:prSet presAssocID="{A2C73F01-991A-4A56-891F-913AFAFF2635}" presName="srcNode" presStyleLbl="node1" presStyleIdx="0" presStyleCnt="7"/>
      <dgm:spPr/>
    </dgm:pt>
    <dgm:pt modelId="{EFEFEDBB-C8AD-43CC-8376-3E81BC2885A6}" type="pres">
      <dgm:prSet presAssocID="{A2C73F01-991A-4A56-891F-913AFAFF2635}" presName="conn" presStyleLbl="parChTrans1D2" presStyleIdx="0" presStyleCnt="1"/>
      <dgm:spPr/>
    </dgm:pt>
    <dgm:pt modelId="{46344D0E-4BC3-4597-864A-774DA0CC7DCC}" type="pres">
      <dgm:prSet presAssocID="{A2C73F01-991A-4A56-891F-913AFAFF2635}" presName="extraNode" presStyleLbl="node1" presStyleIdx="0" presStyleCnt="7"/>
      <dgm:spPr/>
    </dgm:pt>
    <dgm:pt modelId="{6179AF19-A481-498D-ADFE-7D0990AD6488}" type="pres">
      <dgm:prSet presAssocID="{A2C73F01-991A-4A56-891F-913AFAFF2635}" presName="dstNode" presStyleLbl="node1" presStyleIdx="0" presStyleCnt="7"/>
      <dgm:spPr/>
    </dgm:pt>
    <dgm:pt modelId="{58111FF2-CD10-4E39-9371-174D5C3FF351}" type="pres">
      <dgm:prSet presAssocID="{1C4E326A-6631-43D7-AF9C-AB6BE8DE4D87}" presName="text_1" presStyleLbl="node1" presStyleIdx="0" presStyleCnt="7">
        <dgm:presLayoutVars>
          <dgm:bulletEnabled val="1"/>
        </dgm:presLayoutVars>
      </dgm:prSet>
      <dgm:spPr/>
    </dgm:pt>
    <dgm:pt modelId="{E4155002-184D-4C42-BB6A-853D74C3BC10}" type="pres">
      <dgm:prSet presAssocID="{1C4E326A-6631-43D7-AF9C-AB6BE8DE4D87}" presName="accent_1" presStyleCnt="0"/>
      <dgm:spPr/>
    </dgm:pt>
    <dgm:pt modelId="{A3CDA243-A689-4218-B0F8-170C0DFD2CD1}" type="pres">
      <dgm:prSet presAssocID="{1C4E326A-6631-43D7-AF9C-AB6BE8DE4D87}" presName="accentRepeatNode" presStyleLbl="solidFgAcc1" presStyleIdx="0" presStyleCnt="7"/>
      <dgm:spPr>
        <a:solidFill>
          <a:schemeClr val="accent2"/>
        </a:solidFill>
      </dgm:spPr>
    </dgm:pt>
    <dgm:pt modelId="{8CA7195F-1849-475F-8E7B-45BC9A7D78BD}" type="pres">
      <dgm:prSet presAssocID="{C3558737-B86E-4DE3-AE95-580170CBEEF1}" presName="text_2" presStyleLbl="node1" presStyleIdx="1" presStyleCnt="7">
        <dgm:presLayoutVars>
          <dgm:bulletEnabled val="1"/>
        </dgm:presLayoutVars>
      </dgm:prSet>
      <dgm:spPr/>
    </dgm:pt>
    <dgm:pt modelId="{0ED4843F-A2AE-4828-BC66-1859CA71B427}" type="pres">
      <dgm:prSet presAssocID="{C3558737-B86E-4DE3-AE95-580170CBEEF1}" presName="accent_2" presStyleCnt="0"/>
      <dgm:spPr/>
    </dgm:pt>
    <dgm:pt modelId="{7747707B-44CA-4408-B875-2F5829FDEEBD}" type="pres">
      <dgm:prSet presAssocID="{C3558737-B86E-4DE3-AE95-580170CBEEF1}" presName="accentRepeatNode" presStyleLbl="solidFgAcc1" presStyleIdx="1" presStyleCnt="7"/>
      <dgm:spPr>
        <a:solidFill>
          <a:schemeClr val="accent2"/>
        </a:solidFill>
      </dgm:spPr>
    </dgm:pt>
    <dgm:pt modelId="{DF10F21F-2FEC-40A6-9B0B-0FB0B3EEABFD}" type="pres">
      <dgm:prSet presAssocID="{25BF7B92-7250-4FE9-8AEC-700DC97895FF}" presName="text_3" presStyleLbl="node1" presStyleIdx="2" presStyleCnt="7">
        <dgm:presLayoutVars>
          <dgm:bulletEnabled val="1"/>
        </dgm:presLayoutVars>
      </dgm:prSet>
      <dgm:spPr/>
    </dgm:pt>
    <dgm:pt modelId="{20B676EC-26CF-4030-8DB9-ADC0CD328F69}" type="pres">
      <dgm:prSet presAssocID="{25BF7B92-7250-4FE9-8AEC-700DC97895FF}" presName="accent_3" presStyleCnt="0"/>
      <dgm:spPr/>
    </dgm:pt>
    <dgm:pt modelId="{21C83452-684C-4220-A07C-836BEFD77D46}" type="pres">
      <dgm:prSet presAssocID="{25BF7B92-7250-4FE9-8AEC-700DC97895FF}" presName="accentRepeatNode" presStyleLbl="solidFgAcc1" presStyleIdx="2" presStyleCnt="7"/>
      <dgm:spPr>
        <a:solidFill>
          <a:schemeClr val="accent2"/>
        </a:solidFill>
      </dgm:spPr>
    </dgm:pt>
    <dgm:pt modelId="{CDC5E136-C368-4445-8D68-DF83448CEC86}" type="pres">
      <dgm:prSet presAssocID="{2876D05E-9414-4BD6-A156-B9090FD84FDE}" presName="text_4" presStyleLbl="node1" presStyleIdx="3" presStyleCnt="7">
        <dgm:presLayoutVars>
          <dgm:bulletEnabled val="1"/>
        </dgm:presLayoutVars>
      </dgm:prSet>
      <dgm:spPr/>
    </dgm:pt>
    <dgm:pt modelId="{1D6F4D5B-61CC-46B9-BAF1-42D72AE64907}" type="pres">
      <dgm:prSet presAssocID="{2876D05E-9414-4BD6-A156-B9090FD84FDE}" presName="accent_4" presStyleCnt="0"/>
      <dgm:spPr/>
    </dgm:pt>
    <dgm:pt modelId="{7CBF52EC-E81D-4613-9955-E70D2655155A}" type="pres">
      <dgm:prSet presAssocID="{2876D05E-9414-4BD6-A156-B9090FD84FDE}" presName="accentRepeatNode" presStyleLbl="solidFgAcc1" presStyleIdx="3" presStyleCnt="7"/>
      <dgm:spPr>
        <a:solidFill>
          <a:schemeClr val="accent2"/>
        </a:solidFill>
      </dgm:spPr>
    </dgm:pt>
    <dgm:pt modelId="{69782C70-87C2-4FB5-9828-297F336BCCC3}" type="pres">
      <dgm:prSet presAssocID="{5B1F3E5C-43A0-4341-A3A7-8A5126687C57}" presName="text_5" presStyleLbl="node1" presStyleIdx="4" presStyleCnt="7">
        <dgm:presLayoutVars>
          <dgm:bulletEnabled val="1"/>
        </dgm:presLayoutVars>
      </dgm:prSet>
      <dgm:spPr/>
    </dgm:pt>
    <dgm:pt modelId="{B9BAA5A2-8061-45CD-9B80-4D93CBA18646}" type="pres">
      <dgm:prSet presAssocID="{5B1F3E5C-43A0-4341-A3A7-8A5126687C57}" presName="accent_5" presStyleCnt="0"/>
      <dgm:spPr/>
    </dgm:pt>
    <dgm:pt modelId="{F1E87316-C05F-4BD0-83FA-09BADD1EF9C4}" type="pres">
      <dgm:prSet presAssocID="{5B1F3E5C-43A0-4341-A3A7-8A5126687C57}" presName="accentRepeatNode" presStyleLbl="solidFgAcc1" presStyleIdx="4" presStyleCnt="7"/>
      <dgm:spPr>
        <a:solidFill>
          <a:schemeClr val="accent2"/>
        </a:solidFill>
      </dgm:spPr>
    </dgm:pt>
    <dgm:pt modelId="{56301765-693D-4BF8-9FAC-5118EED50881}" type="pres">
      <dgm:prSet presAssocID="{0A5FCC57-1BC3-4BF0-B777-C6FADF639AB3}" presName="text_6" presStyleLbl="node1" presStyleIdx="5" presStyleCnt="7">
        <dgm:presLayoutVars>
          <dgm:bulletEnabled val="1"/>
        </dgm:presLayoutVars>
      </dgm:prSet>
      <dgm:spPr/>
    </dgm:pt>
    <dgm:pt modelId="{76C55B18-288E-4491-8017-6B703C473BFB}" type="pres">
      <dgm:prSet presAssocID="{0A5FCC57-1BC3-4BF0-B777-C6FADF639AB3}" presName="accent_6" presStyleCnt="0"/>
      <dgm:spPr/>
    </dgm:pt>
    <dgm:pt modelId="{C369B705-68A6-42DA-8177-40EC2192DA0B}" type="pres">
      <dgm:prSet presAssocID="{0A5FCC57-1BC3-4BF0-B777-C6FADF639AB3}" presName="accentRepeatNode" presStyleLbl="solidFgAcc1" presStyleIdx="5" presStyleCnt="7"/>
      <dgm:spPr>
        <a:solidFill>
          <a:schemeClr val="accent2"/>
        </a:solidFill>
      </dgm:spPr>
    </dgm:pt>
    <dgm:pt modelId="{407B5984-4EF7-485E-BFEE-E47FFFD52E46}" type="pres">
      <dgm:prSet presAssocID="{CA99E86B-CB79-4CF2-8AB5-B3C0B0AA84C2}" presName="text_7" presStyleLbl="node1" presStyleIdx="6" presStyleCnt="7">
        <dgm:presLayoutVars>
          <dgm:bulletEnabled val="1"/>
        </dgm:presLayoutVars>
      </dgm:prSet>
      <dgm:spPr/>
    </dgm:pt>
    <dgm:pt modelId="{ADC292F5-6CD0-46C0-9075-E873FED8146A}" type="pres">
      <dgm:prSet presAssocID="{CA99E86B-CB79-4CF2-8AB5-B3C0B0AA84C2}" presName="accent_7" presStyleCnt="0"/>
      <dgm:spPr/>
    </dgm:pt>
    <dgm:pt modelId="{0C40DEEB-BE44-404D-A1D9-F04502DC8A31}" type="pres">
      <dgm:prSet presAssocID="{CA99E86B-CB79-4CF2-8AB5-B3C0B0AA84C2}" presName="accentRepeatNode" presStyleLbl="solidFgAcc1" presStyleIdx="6" presStyleCnt="7"/>
      <dgm:spPr>
        <a:solidFill>
          <a:schemeClr val="accent2"/>
        </a:solidFill>
      </dgm:spPr>
    </dgm:pt>
  </dgm:ptLst>
  <dgm:cxnLst>
    <dgm:cxn modelId="{87BED115-2EC1-439D-8299-DDC235B5CA01}" type="presOf" srcId="{25BF7B92-7250-4FE9-8AEC-700DC97895FF}" destId="{DF10F21F-2FEC-40A6-9B0B-0FB0B3EEABFD}" srcOrd="0" destOrd="0" presId="urn:microsoft.com/office/officeart/2008/layout/VerticalCurvedList"/>
    <dgm:cxn modelId="{E33A8118-6820-4C39-95CB-301A01EEFDEA}" type="presOf" srcId="{A2C73F01-991A-4A56-891F-913AFAFF2635}" destId="{BEDC985A-5842-43E5-8541-48639AECE540}" srcOrd="0" destOrd="0" presId="urn:microsoft.com/office/officeart/2008/layout/VerticalCurvedList"/>
    <dgm:cxn modelId="{225D2419-5BDB-45F6-AA0B-C2A277CE3483}" type="presOf" srcId="{2876D05E-9414-4BD6-A156-B9090FD84FDE}" destId="{CDC5E136-C368-4445-8D68-DF83448CEC86}" srcOrd="0" destOrd="0" presId="urn:microsoft.com/office/officeart/2008/layout/VerticalCurvedList"/>
    <dgm:cxn modelId="{567D2819-A249-49CE-B3DF-7CB4E08E12D1}" srcId="{A2C73F01-991A-4A56-891F-913AFAFF2635}" destId="{2876D05E-9414-4BD6-A156-B9090FD84FDE}" srcOrd="3" destOrd="0" parTransId="{C0E6BBA6-D3E8-407C-9B7C-75768FF30E53}" sibTransId="{2ECF6DCE-EF00-4315-8C66-719B909AA9F7}"/>
    <dgm:cxn modelId="{370B172B-0B8F-41C2-9E77-9A70CFBEC1CF}" srcId="{A2C73F01-991A-4A56-891F-913AFAFF2635}" destId="{1C4E326A-6631-43D7-AF9C-AB6BE8DE4D87}" srcOrd="0" destOrd="0" parTransId="{24594B32-A147-4944-A7E9-65ED346B34F9}" sibTransId="{14C14F57-943C-429C-81DA-4633994B90E3}"/>
    <dgm:cxn modelId="{599C754D-4471-45EB-BB6F-FB1B3EFB7750}" type="presOf" srcId="{5B1F3E5C-43A0-4341-A3A7-8A5126687C57}" destId="{69782C70-87C2-4FB5-9828-297F336BCCC3}" srcOrd="0" destOrd="0" presId="urn:microsoft.com/office/officeart/2008/layout/VerticalCurvedList"/>
    <dgm:cxn modelId="{F518A56F-33BF-4C26-9F56-919D3CFD1F26}" srcId="{A2C73F01-991A-4A56-891F-913AFAFF2635}" destId="{5B1F3E5C-43A0-4341-A3A7-8A5126687C57}" srcOrd="4" destOrd="0" parTransId="{5DC47AFA-3510-4F81-9431-6FE5F65CA83D}" sibTransId="{789BF7B8-7E75-4C56-A2AB-19C6481809D6}"/>
    <dgm:cxn modelId="{4770E257-2FA7-40D7-B12B-6C7D5B95D093}" type="presOf" srcId="{14C14F57-943C-429C-81DA-4633994B90E3}" destId="{EFEFEDBB-C8AD-43CC-8376-3E81BC2885A6}" srcOrd="0" destOrd="0" presId="urn:microsoft.com/office/officeart/2008/layout/VerticalCurvedList"/>
    <dgm:cxn modelId="{DD2A597C-DB8A-422C-8FA9-E2EA74853EA0}" srcId="{A2C73F01-991A-4A56-891F-913AFAFF2635}" destId="{25BF7B92-7250-4FE9-8AEC-700DC97895FF}" srcOrd="2" destOrd="0" parTransId="{87E2DB28-1831-4857-A198-FE69A7E0D26B}" sibTransId="{F9596284-4747-4B95-A292-5C327A28BF97}"/>
    <dgm:cxn modelId="{96D65B90-754C-4F5B-8697-25B6680BEA47}" srcId="{A2C73F01-991A-4A56-891F-913AFAFF2635}" destId="{C3558737-B86E-4DE3-AE95-580170CBEEF1}" srcOrd="1" destOrd="0" parTransId="{B782F219-6B04-40C5-89D6-F0038870D32E}" sibTransId="{4EA1120B-5A0F-4ECF-8F5D-273E2F06C2A9}"/>
    <dgm:cxn modelId="{879C049B-1743-4922-B5FC-222645DE6EC6}" type="presOf" srcId="{CA99E86B-CB79-4CF2-8AB5-B3C0B0AA84C2}" destId="{407B5984-4EF7-485E-BFEE-E47FFFD52E46}" srcOrd="0" destOrd="0" presId="urn:microsoft.com/office/officeart/2008/layout/VerticalCurvedList"/>
    <dgm:cxn modelId="{EA6C30B0-1452-4CA2-B96D-0587844D54F8}" srcId="{A2C73F01-991A-4A56-891F-913AFAFF2635}" destId="{0A5FCC57-1BC3-4BF0-B777-C6FADF639AB3}" srcOrd="5" destOrd="0" parTransId="{4CA8718E-FF85-43B0-93D6-98B45D08F009}" sibTransId="{8E4D968F-C0DC-495D-9BE1-CAD9B9462273}"/>
    <dgm:cxn modelId="{DA7FF7B5-3BEC-46B1-83C7-E41186E24AA4}" type="presOf" srcId="{1C4E326A-6631-43D7-AF9C-AB6BE8DE4D87}" destId="{58111FF2-CD10-4E39-9371-174D5C3FF351}" srcOrd="0" destOrd="0" presId="urn:microsoft.com/office/officeart/2008/layout/VerticalCurvedList"/>
    <dgm:cxn modelId="{971927C9-7BF0-47FF-835D-69652F743A73}" srcId="{A2C73F01-991A-4A56-891F-913AFAFF2635}" destId="{CA99E86B-CB79-4CF2-8AB5-B3C0B0AA84C2}" srcOrd="6" destOrd="0" parTransId="{11E52632-1915-40FB-BAFC-A2662E3C6F7B}" sibTransId="{76DA57CE-87C5-4A04-9521-9FF12EC6F6F4}"/>
    <dgm:cxn modelId="{2C432CCC-4F95-48C4-9DE4-F383CCCC4BDA}" type="presOf" srcId="{0A5FCC57-1BC3-4BF0-B777-C6FADF639AB3}" destId="{56301765-693D-4BF8-9FAC-5118EED50881}" srcOrd="0" destOrd="0" presId="urn:microsoft.com/office/officeart/2008/layout/VerticalCurvedList"/>
    <dgm:cxn modelId="{E1913ACE-E740-4805-8AB8-74B4052E7685}" srcId="{A2C73F01-991A-4A56-891F-913AFAFF2635}" destId="{466DAF74-ED78-4DCE-A2AC-378A6578ADE1}" srcOrd="7" destOrd="0" parTransId="{C57D9202-571E-4BF2-8EDD-B943796C490A}" sibTransId="{F13608F3-572F-4BF6-AC80-44FF6AE3C4E5}"/>
    <dgm:cxn modelId="{A73E60DA-AB17-430D-978F-90924C625003}" srcId="{A2C73F01-991A-4A56-891F-913AFAFF2635}" destId="{D2FA5AE9-4977-495B-B48A-4D6AC2B8F961}" srcOrd="8" destOrd="0" parTransId="{1ECDFD39-F5BA-4D4B-B4CF-E44BA4DE0C9E}" sibTransId="{843F0739-64E6-4534-B75F-707EC18D1D76}"/>
    <dgm:cxn modelId="{3B1FB6EB-30E2-468A-8861-336A001698CF}" type="presOf" srcId="{C3558737-B86E-4DE3-AE95-580170CBEEF1}" destId="{8CA7195F-1849-475F-8E7B-45BC9A7D78BD}" srcOrd="0" destOrd="0" presId="urn:microsoft.com/office/officeart/2008/layout/VerticalCurvedList"/>
    <dgm:cxn modelId="{E5F1FCCF-ED0E-4AA0-95C6-E132F6B83FA2}" type="presParOf" srcId="{BEDC985A-5842-43E5-8541-48639AECE540}" destId="{C14F9608-D8E6-4071-8738-4AEEED545D2B}" srcOrd="0" destOrd="0" presId="urn:microsoft.com/office/officeart/2008/layout/VerticalCurvedList"/>
    <dgm:cxn modelId="{D992F5CC-0D4F-4AFE-A096-A0DBE8659456}" type="presParOf" srcId="{C14F9608-D8E6-4071-8738-4AEEED545D2B}" destId="{CE6995C4-EE76-4CC7-B8F1-900262BEC3E0}" srcOrd="0" destOrd="0" presId="urn:microsoft.com/office/officeart/2008/layout/VerticalCurvedList"/>
    <dgm:cxn modelId="{99BB0442-61CF-4D2C-BE6B-FB34D294E6AF}" type="presParOf" srcId="{CE6995C4-EE76-4CC7-B8F1-900262BEC3E0}" destId="{D0AF0D93-6717-401F-B263-40C5CCACB563}" srcOrd="0" destOrd="0" presId="urn:microsoft.com/office/officeart/2008/layout/VerticalCurvedList"/>
    <dgm:cxn modelId="{7DB0A966-A0BB-46DE-AF46-DB2A5575AF38}" type="presParOf" srcId="{CE6995C4-EE76-4CC7-B8F1-900262BEC3E0}" destId="{EFEFEDBB-C8AD-43CC-8376-3E81BC2885A6}" srcOrd="1" destOrd="0" presId="urn:microsoft.com/office/officeart/2008/layout/VerticalCurvedList"/>
    <dgm:cxn modelId="{169FC555-4F0C-4623-A8B1-81A0ECA46D89}" type="presParOf" srcId="{CE6995C4-EE76-4CC7-B8F1-900262BEC3E0}" destId="{46344D0E-4BC3-4597-864A-774DA0CC7DCC}" srcOrd="2" destOrd="0" presId="urn:microsoft.com/office/officeart/2008/layout/VerticalCurvedList"/>
    <dgm:cxn modelId="{207D1D64-FF88-417D-9966-66AE01FE4370}" type="presParOf" srcId="{CE6995C4-EE76-4CC7-B8F1-900262BEC3E0}" destId="{6179AF19-A481-498D-ADFE-7D0990AD6488}" srcOrd="3" destOrd="0" presId="urn:microsoft.com/office/officeart/2008/layout/VerticalCurvedList"/>
    <dgm:cxn modelId="{91E6EA4E-D603-4520-98D9-2958E533136C}" type="presParOf" srcId="{C14F9608-D8E6-4071-8738-4AEEED545D2B}" destId="{58111FF2-CD10-4E39-9371-174D5C3FF351}" srcOrd="1" destOrd="0" presId="urn:microsoft.com/office/officeart/2008/layout/VerticalCurvedList"/>
    <dgm:cxn modelId="{977E7ED7-0FED-4FBF-8A73-E9E933EC7858}" type="presParOf" srcId="{C14F9608-D8E6-4071-8738-4AEEED545D2B}" destId="{E4155002-184D-4C42-BB6A-853D74C3BC10}" srcOrd="2" destOrd="0" presId="urn:microsoft.com/office/officeart/2008/layout/VerticalCurvedList"/>
    <dgm:cxn modelId="{D0087AA1-5FB8-4295-BD0C-87E857F81B60}" type="presParOf" srcId="{E4155002-184D-4C42-BB6A-853D74C3BC10}" destId="{A3CDA243-A689-4218-B0F8-170C0DFD2CD1}" srcOrd="0" destOrd="0" presId="urn:microsoft.com/office/officeart/2008/layout/VerticalCurvedList"/>
    <dgm:cxn modelId="{6A11F58F-DA03-43D6-98E1-F6E2576BBEB6}" type="presParOf" srcId="{C14F9608-D8E6-4071-8738-4AEEED545D2B}" destId="{8CA7195F-1849-475F-8E7B-45BC9A7D78BD}" srcOrd="3" destOrd="0" presId="urn:microsoft.com/office/officeart/2008/layout/VerticalCurvedList"/>
    <dgm:cxn modelId="{39A16331-6BBC-4A8D-8D30-38F8FD154DFA}" type="presParOf" srcId="{C14F9608-D8E6-4071-8738-4AEEED545D2B}" destId="{0ED4843F-A2AE-4828-BC66-1859CA71B427}" srcOrd="4" destOrd="0" presId="urn:microsoft.com/office/officeart/2008/layout/VerticalCurvedList"/>
    <dgm:cxn modelId="{E5495212-CC0B-4E9C-BA84-6634B17A1C1A}" type="presParOf" srcId="{0ED4843F-A2AE-4828-BC66-1859CA71B427}" destId="{7747707B-44CA-4408-B875-2F5829FDEEBD}" srcOrd="0" destOrd="0" presId="urn:microsoft.com/office/officeart/2008/layout/VerticalCurvedList"/>
    <dgm:cxn modelId="{EA9C0A5E-6784-41E6-B207-0D86378D52CA}" type="presParOf" srcId="{C14F9608-D8E6-4071-8738-4AEEED545D2B}" destId="{DF10F21F-2FEC-40A6-9B0B-0FB0B3EEABFD}" srcOrd="5" destOrd="0" presId="urn:microsoft.com/office/officeart/2008/layout/VerticalCurvedList"/>
    <dgm:cxn modelId="{2020D9FF-6EBE-4F75-A4F1-C5E78BC1E257}" type="presParOf" srcId="{C14F9608-D8E6-4071-8738-4AEEED545D2B}" destId="{20B676EC-26CF-4030-8DB9-ADC0CD328F69}" srcOrd="6" destOrd="0" presId="urn:microsoft.com/office/officeart/2008/layout/VerticalCurvedList"/>
    <dgm:cxn modelId="{16C9E3C9-4454-4DEC-B837-3BFABD0BB28A}" type="presParOf" srcId="{20B676EC-26CF-4030-8DB9-ADC0CD328F69}" destId="{21C83452-684C-4220-A07C-836BEFD77D46}" srcOrd="0" destOrd="0" presId="urn:microsoft.com/office/officeart/2008/layout/VerticalCurvedList"/>
    <dgm:cxn modelId="{9EF94DF2-60D6-43AC-8B63-1AAC5B67F2CD}" type="presParOf" srcId="{C14F9608-D8E6-4071-8738-4AEEED545D2B}" destId="{CDC5E136-C368-4445-8D68-DF83448CEC86}" srcOrd="7" destOrd="0" presId="urn:microsoft.com/office/officeart/2008/layout/VerticalCurvedList"/>
    <dgm:cxn modelId="{257BD9D8-E17E-4AF2-98B7-58CE10B145EE}" type="presParOf" srcId="{C14F9608-D8E6-4071-8738-4AEEED545D2B}" destId="{1D6F4D5B-61CC-46B9-BAF1-42D72AE64907}" srcOrd="8" destOrd="0" presId="urn:microsoft.com/office/officeart/2008/layout/VerticalCurvedList"/>
    <dgm:cxn modelId="{79016809-4F2B-4BCE-BEB2-B9D7D922574B}" type="presParOf" srcId="{1D6F4D5B-61CC-46B9-BAF1-42D72AE64907}" destId="{7CBF52EC-E81D-4613-9955-E70D2655155A}" srcOrd="0" destOrd="0" presId="urn:microsoft.com/office/officeart/2008/layout/VerticalCurvedList"/>
    <dgm:cxn modelId="{6729D6C7-4BBA-4543-80BA-131ECD3B52F7}" type="presParOf" srcId="{C14F9608-D8E6-4071-8738-4AEEED545D2B}" destId="{69782C70-87C2-4FB5-9828-297F336BCCC3}" srcOrd="9" destOrd="0" presId="urn:microsoft.com/office/officeart/2008/layout/VerticalCurvedList"/>
    <dgm:cxn modelId="{293B59E9-95E3-4699-8239-49C16B2B4737}" type="presParOf" srcId="{C14F9608-D8E6-4071-8738-4AEEED545D2B}" destId="{B9BAA5A2-8061-45CD-9B80-4D93CBA18646}" srcOrd="10" destOrd="0" presId="urn:microsoft.com/office/officeart/2008/layout/VerticalCurvedList"/>
    <dgm:cxn modelId="{C7D40E36-F470-4AAA-8B71-A15F79361892}" type="presParOf" srcId="{B9BAA5A2-8061-45CD-9B80-4D93CBA18646}" destId="{F1E87316-C05F-4BD0-83FA-09BADD1EF9C4}" srcOrd="0" destOrd="0" presId="urn:microsoft.com/office/officeart/2008/layout/VerticalCurvedList"/>
    <dgm:cxn modelId="{E68CC019-9740-45D9-A452-8FF9E8078CCD}" type="presParOf" srcId="{C14F9608-D8E6-4071-8738-4AEEED545D2B}" destId="{56301765-693D-4BF8-9FAC-5118EED50881}" srcOrd="11" destOrd="0" presId="urn:microsoft.com/office/officeart/2008/layout/VerticalCurvedList"/>
    <dgm:cxn modelId="{654A3091-A3A3-4708-8689-5617CFF9B27F}" type="presParOf" srcId="{C14F9608-D8E6-4071-8738-4AEEED545D2B}" destId="{76C55B18-288E-4491-8017-6B703C473BFB}" srcOrd="12" destOrd="0" presId="urn:microsoft.com/office/officeart/2008/layout/VerticalCurvedList"/>
    <dgm:cxn modelId="{2F320F86-AF94-4E1C-921A-DF5A781A786D}" type="presParOf" srcId="{76C55B18-288E-4491-8017-6B703C473BFB}" destId="{C369B705-68A6-42DA-8177-40EC2192DA0B}" srcOrd="0" destOrd="0" presId="urn:microsoft.com/office/officeart/2008/layout/VerticalCurvedList"/>
    <dgm:cxn modelId="{578B0086-1B14-4C87-8797-179203153912}" type="presParOf" srcId="{C14F9608-D8E6-4071-8738-4AEEED545D2B}" destId="{407B5984-4EF7-485E-BFEE-E47FFFD52E46}" srcOrd="13" destOrd="0" presId="urn:microsoft.com/office/officeart/2008/layout/VerticalCurvedList"/>
    <dgm:cxn modelId="{D984A8B8-F25D-40AB-B3F8-CCCB9D676DA5}" type="presParOf" srcId="{C14F9608-D8E6-4071-8738-4AEEED545D2B}" destId="{ADC292F5-6CD0-46C0-9075-E873FED8146A}" srcOrd="14" destOrd="0" presId="urn:microsoft.com/office/officeart/2008/layout/VerticalCurvedList"/>
    <dgm:cxn modelId="{671B3EF5-050D-4EAE-AA0A-CBFB92DAD1F5}" type="presParOf" srcId="{ADC292F5-6CD0-46C0-9075-E873FED8146A}" destId="{0C40DEEB-BE44-404D-A1D9-F04502DC8A31}" srcOrd="0" destOrd="0" presId="urn:microsoft.com/office/officeart/2008/layout/VerticalCurv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EFEDBB-C8AD-43CC-8376-3E81BC2885A6}">
      <dsp:nvSpPr>
        <dsp:cNvPr id="0" name=""/>
        <dsp:cNvSpPr/>
      </dsp:nvSpPr>
      <dsp:spPr>
        <a:xfrm>
          <a:off x="-11445055" y="-1748295"/>
          <a:ext cx="13629703" cy="13629703"/>
        </a:xfrm>
        <a:prstGeom prst="blockArc">
          <a:avLst>
            <a:gd name="adj1" fmla="val 18900000"/>
            <a:gd name="adj2" fmla="val 2700000"/>
            <a:gd name="adj3" fmla="val 158"/>
          </a:avLst>
        </a:prstGeom>
        <a:solidFill>
          <a:schemeClr val="accent2"/>
        </a:solid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111FF2-CD10-4E39-9371-174D5C3FF351}">
      <dsp:nvSpPr>
        <dsp:cNvPr id="0" name=""/>
        <dsp:cNvSpPr/>
      </dsp:nvSpPr>
      <dsp:spPr>
        <a:xfrm>
          <a:off x="710837" y="460651"/>
          <a:ext cx="12412685" cy="920897"/>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0962" tIns="119380" rIns="119380" bIns="119380" numCol="1" spcCol="1270" anchor="ctr" anchorCtr="0">
          <a:noAutofit/>
        </a:bodyPr>
        <a:lstStyle/>
        <a:p>
          <a:pPr marL="0" lvl="0" indent="0" algn="l" defTabSz="2089150">
            <a:lnSpc>
              <a:spcPct val="90000"/>
            </a:lnSpc>
            <a:spcBef>
              <a:spcPct val="0"/>
            </a:spcBef>
            <a:spcAft>
              <a:spcPct val="35000"/>
            </a:spcAft>
            <a:buNone/>
          </a:pPr>
          <a:r>
            <a:rPr lang="en-US" sz="4700" kern="1200"/>
            <a:t>Introduction &amp; Problem Statement</a:t>
          </a:r>
        </a:p>
      </dsp:txBody>
      <dsp:txXfrm>
        <a:off x="710837" y="460651"/>
        <a:ext cx="12412685" cy="920897"/>
      </dsp:txXfrm>
    </dsp:sp>
    <dsp:sp modelId="{A3CDA243-A689-4218-B0F8-170C0DFD2CD1}">
      <dsp:nvSpPr>
        <dsp:cNvPr id="0" name=""/>
        <dsp:cNvSpPr/>
      </dsp:nvSpPr>
      <dsp:spPr>
        <a:xfrm>
          <a:off x="135277" y="345539"/>
          <a:ext cx="1151121" cy="1151121"/>
        </a:xfrm>
        <a:prstGeom prst="ellipse">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CA7195F-1849-475F-8E7B-45BC9A7D78BD}">
      <dsp:nvSpPr>
        <dsp:cNvPr id="0" name=""/>
        <dsp:cNvSpPr/>
      </dsp:nvSpPr>
      <dsp:spPr>
        <a:xfrm>
          <a:off x="1544793" y="1842807"/>
          <a:ext cx="11578729" cy="920897"/>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0962" tIns="119380" rIns="119380" bIns="119380" numCol="1" spcCol="1270" anchor="ctr" anchorCtr="0">
          <a:noAutofit/>
        </a:bodyPr>
        <a:lstStyle/>
        <a:p>
          <a:pPr marL="0" lvl="0" indent="0" algn="l" defTabSz="2089150">
            <a:lnSpc>
              <a:spcPct val="90000"/>
            </a:lnSpc>
            <a:spcBef>
              <a:spcPct val="0"/>
            </a:spcBef>
            <a:spcAft>
              <a:spcPct val="35000"/>
            </a:spcAft>
            <a:buNone/>
          </a:pPr>
          <a:r>
            <a:rPr lang="en-US" sz="4700" kern="1200"/>
            <a:t>Literature Review</a:t>
          </a:r>
        </a:p>
      </dsp:txBody>
      <dsp:txXfrm>
        <a:off x="1544793" y="1842807"/>
        <a:ext cx="11578729" cy="920897"/>
      </dsp:txXfrm>
    </dsp:sp>
    <dsp:sp modelId="{7747707B-44CA-4408-B875-2F5829FDEEBD}">
      <dsp:nvSpPr>
        <dsp:cNvPr id="0" name=""/>
        <dsp:cNvSpPr/>
      </dsp:nvSpPr>
      <dsp:spPr>
        <a:xfrm>
          <a:off x="969232" y="1727695"/>
          <a:ext cx="1151121" cy="1151121"/>
        </a:xfrm>
        <a:prstGeom prst="ellipse">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F10F21F-2FEC-40A6-9B0B-0FB0B3EEABFD}">
      <dsp:nvSpPr>
        <dsp:cNvPr id="0" name=""/>
        <dsp:cNvSpPr/>
      </dsp:nvSpPr>
      <dsp:spPr>
        <a:xfrm>
          <a:off x="2001796" y="3223951"/>
          <a:ext cx="11121726" cy="920897"/>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0962" tIns="119380" rIns="119380" bIns="119380" numCol="1" spcCol="1270" anchor="ctr" anchorCtr="0">
          <a:noAutofit/>
        </a:bodyPr>
        <a:lstStyle/>
        <a:p>
          <a:pPr marL="0" lvl="0" indent="0" algn="l" defTabSz="2089150">
            <a:lnSpc>
              <a:spcPct val="90000"/>
            </a:lnSpc>
            <a:spcBef>
              <a:spcPct val="0"/>
            </a:spcBef>
            <a:spcAft>
              <a:spcPct val="35000"/>
            </a:spcAft>
            <a:buNone/>
          </a:pPr>
          <a:r>
            <a:rPr lang="en-US" sz="4700" kern="1200"/>
            <a:t>Objectives &amp; Contributions</a:t>
          </a:r>
        </a:p>
      </dsp:txBody>
      <dsp:txXfrm>
        <a:off x="2001796" y="3223951"/>
        <a:ext cx="11121726" cy="920897"/>
      </dsp:txXfrm>
    </dsp:sp>
    <dsp:sp modelId="{21C83452-684C-4220-A07C-836BEFD77D46}">
      <dsp:nvSpPr>
        <dsp:cNvPr id="0" name=""/>
        <dsp:cNvSpPr/>
      </dsp:nvSpPr>
      <dsp:spPr>
        <a:xfrm>
          <a:off x="1426235" y="3108839"/>
          <a:ext cx="1151121" cy="1151121"/>
        </a:xfrm>
        <a:prstGeom prst="ellipse">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C5E136-C368-4445-8D68-DF83448CEC86}">
      <dsp:nvSpPr>
        <dsp:cNvPr id="0" name=""/>
        <dsp:cNvSpPr/>
      </dsp:nvSpPr>
      <dsp:spPr>
        <a:xfrm>
          <a:off x="2147713" y="4606107"/>
          <a:ext cx="10975809" cy="920897"/>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0962" tIns="119380" rIns="119380" bIns="119380" numCol="1" spcCol="1270" anchor="ctr" anchorCtr="0">
          <a:noAutofit/>
        </a:bodyPr>
        <a:lstStyle/>
        <a:p>
          <a:pPr marL="0" lvl="0" indent="0" algn="l" defTabSz="2089150">
            <a:lnSpc>
              <a:spcPct val="90000"/>
            </a:lnSpc>
            <a:spcBef>
              <a:spcPct val="0"/>
            </a:spcBef>
            <a:spcAft>
              <a:spcPct val="35000"/>
            </a:spcAft>
            <a:buNone/>
          </a:pPr>
          <a:r>
            <a:rPr lang="en-US" sz="4700" kern="1200" dirty="0"/>
            <a:t>Dataset Construction Pipeline &amp; Statistics</a:t>
          </a:r>
        </a:p>
      </dsp:txBody>
      <dsp:txXfrm>
        <a:off x="2147713" y="4606107"/>
        <a:ext cx="10975809" cy="920897"/>
      </dsp:txXfrm>
    </dsp:sp>
    <dsp:sp modelId="{7CBF52EC-E81D-4613-9955-E70D2655155A}">
      <dsp:nvSpPr>
        <dsp:cNvPr id="0" name=""/>
        <dsp:cNvSpPr/>
      </dsp:nvSpPr>
      <dsp:spPr>
        <a:xfrm>
          <a:off x="1572152" y="4490995"/>
          <a:ext cx="1151121" cy="1151121"/>
        </a:xfrm>
        <a:prstGeom prst="ellipse">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9782C70-87C2-4FB5-9828-297F336BCCC3}">
      <dsp:nvSpPr>
        <dsp:cNvPr id="0" name=""/>
        <dsp:cNvSpPr/>
      </dsp:nvSpPr>
      <dsp:spPr>
        <a:xfrm>
          <a:off x="2001796" y="5988264"/>
          <a:ext cx="11121726" cy="920897"/>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0962" tIns="119380" rIns="119380" bIns="119380" numCol="1" spcCol="1270" anchor="ctr" anchorCtr="0">
          <a:noAutofit/>
        </a:bodyPr>
        <a:lstStyle/>
        <a:p>
          <a:pPr marL="0" lvl="0" indent="0" algn="l" defTabSz="2089150">
            <a:lnSpc>
              <a:spcPct val="90000"/>
            </a:lnSpc>
            <a:spcBef>
              <a:spcPct val="0"/>
            </a:spcBef>
            <a:spcAft>
              <a:spcPct val="35000"/>
            </a:spcAft>
            <a:buNone/>
          </a:pPr>
          <a:r>
            <a:rPr lang="en-US" sz="4700" kern="1200"/>
            <a:t>System Architecture</a:t>
          </a:r>
        </a:p>
      </dsp:txBody>
      <dsp:txXfrm>
        <a:off x="2001796" y="5988264"/>
        <a:ext cx="11121726" cy="920897"/>
      </dsp:txXfrm>
    </dsp:sp>
    <dsp:sp modelId="{F1E87316-C05F-4BD0-83FA-09BADD1EF9C4}">
      <dsp:nvSpPr>
        <dsp:cNvPr id="0" name=""/>
        <dsp:cNvSpPr/>
      </dsp:nvSpPr>
      <dsp:spPr>
        <a:xfrm>
          <a:off x="1426235" y="5873152"/>
          <a:ext cx="1151121" cy="1151121"/>
        </a:xfrm>
        <a:prstGeom prst="ellipse">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6301765-693D-4BF8-9FAC-5118EED50881}">
      <dsp:nvSpPr>
        <dsp:cNvPr id="0" name=""/>
        <dsp:cNvSpPr/>
      </dsp:nvSpPr>
      <dsp:spPr>
        <a:xfrm>
          <a:off x="1544793" y="7369407"/>
          <a:ext cx="11578729" cy="920897"/>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0962" tIns="119380" rIns="119380" bIns="119380" numCol="1" spcCol="1270" anchor="ctr" anchorCtr="0">
          <a:noAutofit/>
        </a:bodyPr>
        <a:lstStyle/>
        <a:p>
          <a:pPr marL="0" lvl="0" indent="0" algn="l" defTabSz="2089150">
            <a:lnSpc>
              <a:spcPct val="90000"/>
            </a:lnSpc>
            <a:spcBef>
              <a:spcPct val="0"/>
            </a:spcBef>
            <a:spcAft>
              <a:spcPct val="35000"/>
            </a:spcAft>
            <a:buNone/>
          </a:pPr>
          <a:r>
            <a:rPr lang="en-US" sz="4700" kern="1200"/>
            <a:t>Performance Results &amp; Comparison</a:t>
          </a:r>
        </a:p>
      </dsp:txBody>
      <dsp:txXfrm>
        <a:off x="1544793" y="7369407"/>
        <a:ext cx="11578729" cy="920897"/>
      </dsp:txXfrm>
    </dsp:sp>
    <dsp:sp modelId="{C369B705-68A6-42DA-8177-40EC2192DA0B}">
      <dsp:nvSpPr>
        <dsp:cNvPr id="0" name=""/>
        <dsp:cNvSpPr/>
      </dsp:nvSpPr>
      <dsp:spPr>
        <a:xfrm>
          <a:off x="969232" y="7254295"/>
          <a:ext cx="1151121" cy="1151121"/>
        </a:xfrm>
        <a:prstGeom prst="ellipse">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7B5984-4EF7-485E-BFEE-E47FFFD52E46}">
      <dsp:nvSpPr>
        <dsp:cNvPr id="0" name=""/>
        <dsp:cNvSpPr/>
      </dsp:nvSpPr>
      <dsp:spPr>
        <a:xfrm>
          <a:off x="710837" y="8751564"/>
          <a:ext cx="12412685" cy="920897"/>
        </a:xfrm>
        <a:prstGeom prst="rect">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0962" tIns="119380" rIns="119380" bIns="119380" numCol="1" spcCol="1270" anchor="ctr" anchorCtr="0">
          <a:noAutofit/>
        </a:bodyPr>
        <a:lstStyle/>
        <a:p>
          <a:pPr marL="0" lvl="0" indent="0" algn="l" defTabSz="2089150">
            <a:lnSpc>
              <a:spcPct val="90000"/>
            </a:lnSpc>
            <a:spcBef>
              <a:spcPct val="0"/>
            </a:spcBef>
            <a:spcAft>
              <a:spcPct val="35000"/>
            </a:spcAft>
            <a:buNone/>
          </a:pPr>
          <a:r>
            <a:rPr lang="en-US" sz="4700" kern="1200" dirty="0"/>
            <a:t>Limitations, Future Works &amp; References</a:t>
          </a:r>
        </a:p>
      </dsp:txBody>
      <dsp:txXfrm>
        <a:off x="710837" y="8751564"/>
        <a:ext cx="12412685" cy="920897"/>
      </dsp:txXfrm>
    </dsp:sp>
    <dsp:sp modelId="{0C40DEEB-BE44-404D-A1D9-F04502DC8A31}">
      <dsp:nvSpPr>
        <dsp:cNvPr id="0" name=""/>
        <dsp:cNvSpPr/>
      </dsp:nvSpPr>
      <dsp:spPr>
        <a:xfrm>
          <a:off x="135277" y="8636452"/>
          <a:ext cx="1151121" cy="1151121"/>
        </a:xfrm>
        <a:prstGeom prst="ellipse">
          <a:avLst/>
        </a:prstGeom>
        <a:solidFill>
          <a:schemeClr val="accent2"/>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0E8AA-4EED-AE2E-BA32-0E89DFF8F56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6F99B8-0684-C13B-D6ED-A39307B33F7B}"/>
              </a:ext>
            </a:extLst>
          </p:cNvPr>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extLst>
      <p:ext uri="{BB962C8B-B14F-4D97-AF65-F5344CB8AC3E}">
        <p14:creationId xmlns:p14="http://schemas.microsoft.com/office/powerpoint/2010/main" val="1160840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r>
              <a:rPr lang="en-US" sz="1200" b="0" i="0" kern="1200" dirty="0">
                <a:solidFill>
                  <a:schemeClr val="tx1"/>
                </a:solidFill>
                <a:effectLst/>
                <a:latin typeface="+mn-lt"/>
                <a:ea typeface="+mn-ea"/>
                <a:cs typeface="+mn-cs"/>
              </a:rPr>
              <a:t>However, all existing models rely on a </a:t>
            </a:r>
            <a:r>
              <a:rPr lang="en-US" sz="1200" b="1" i="0" kern="1200" dirty="0">
                <a:solidFill>
                  <a:schemeClr val="tx1"/>
                </a:solidFill>
                <a:effectLst/>
                <a:latin typeface="+mn-lt"/>
                <a:ea typeface="+mn-ea"/>
                <a:cs typeface="+mn-cs"/>
              </a:rPr>
              <a:t>single-stream approach</a:t>
            </a:r>
            <a:r>
              <a:rPr lang="en-US" sz="1200" b="0" i="0" kern="1200" dirty="0">
                <a:solidFill>
                  <a:schemeClr val="tx1"/>
                </a:solidFill>
                <a:effectLst/>
                <a:latin typeface="+mn-lt"/>
                <a:ea typeface="+mn-ea"/>
                <a:cs typeface="+mn-cs"/>
              </a:rPr>
              <a:t>. They process text purely as a flat sequence of words, completely missing syntactic clickbait patterns and </a:t>
            </a:r>
            <a:r>
              <a:rPr lang="en-US" sz="1200" b="0" i="0" kern="1200" dirty="0" err="1">
                <a:solidFill>
                  <a:schemeClr val="tx1"/>
                </a:solidFill>
                <a:effectLst/>
                <a:latin typeface="+mn-lt"/>
                <a:ea typeface="+mn-ea"/>
                <a:cs typeface="+mn-cs"/>
              </a:rPr>
              <a:t>subword</a:t>
            </a:r>
            <a:r>
              <a:rPr lang="en-US" sz="1200" b="0" i="0" kern="1200" dirty="0">
                <a:solidFill>
                  <a:schemeClr val="tx1"/>
                </a:solidFill>
                <a:effectLst/>
                <a:latin typeface="+mn-lt"/>
                <a:ea typeface="+mn-ea"/>
                <a:cs typeface="+mn-cs"/>
              </a:rPr>
              <a:t> typographical cues.</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7BE39-FA44-E725-6F46-0DD10C8BDF6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285288B-D047-F81E-7F31-0BCF868BB693}"/>
              </a:ext>
            </a:extLst>
          </p:cNvPr>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extLst>
      <p:ext uri="{BB962C8B-B14F-4D97-AF65-F5344CB8AC3E}">
        <p14:creationId xmlns:p14="http://schemas.microsoft.com/office/powerpoint/2010/main" val="3278187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r>
              <a:rPr lang="en-US" sz="1200" b="0" i="0" kern="1200" dirty="0">
                <a:solidFill>
                  <a:schemeClr val="tx1"/>
                </a:solidFill>
                <a:effectLst/>
                <a:latin typeface="+mn-lt"/>
                <a:ea typeface="+mn-ea"/>
                <a:cs typeface="+mn-cs"/>
              </a:rPr>
              <a:t>The tight error bars across 3 random seeds confirm the statistical stability and reproducibility of our multi-stream architecture.</a:t>
            </a: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a:spLocks noGrp="1"/>
          </p:cNvSpPr>
          <p:nvPr>
            <p:ph type="body"/>
          </p:nvPr>
        </p:nvSpPr>
        <p:spPr>
          <a:xfrm>
            <a:off x="0" y="0"/>
            <a:ext cx="25146000" cy="13716000"/>
          </a:xfrm>
          <a:prstGeom prst="rect">
            <a:avLst/>
          </a:prstGeom>
        </p:spPr>
        <p:txBody>
          <a:bodyPr rtlCol="0" anchor="t"/>
          <a:lstStyle/>
          <a:p>
            <a:pPr algn="l">
              <a:defRPr/>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image" Target="../media/image9.png"/><Relationship Id="rId7" Type="http://schemas.openxmlformats.org/officeDocument/2006/relationships/image" Target="../media/image11.png"/><Relationship Id="rId12"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diagramColors" Target="../diagrams/colors1.xml"/><Relationship Id="rId5" Type="http://schemas.openxmlformats.org/officeDocument/2006/relationships/image" Target="../media/image3.png"/><Relationship Id="rId10" Type="http://schemas.openxmlformats.org/officeDocument/2006/relationships/diagramQuickStyle" Target="../diagrams/quickStyle1.xml"/><Relationship Id="rId4" Type="http://schemas.openxmlformats.org/officeDocument/2006/relationships/image" Target="../media/image2.png"/><Relationship Id="rId9"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0.png"/><Relationship Id="rId5" Type="http://schemas.openxmlformats.org/officeDocument/2006/relationships/image" Target="../media/image3.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17.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3.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28.png"/><Relationship Id="rId5" Type="http://schemas.openxmlformats.org/officeDocument/2006/relationships/image" Target="../media/image3.png"/><Relationship Id="rId15" Type="http://schemas.openxmlformats.org/officeDocument/2006/relationships/image" Target="../media/image11.png"/><Relationship Id="rId10" Type="http://schemas.openxmlformats.org/officeDocument/2006/relationships/image" Target="../media/image27.png"/><Relationship Id="rId4" Type="http://schemas.openxmlformats.org/officeDocument/2006/relationships/image" Target="../media/image2.png"/><Relationship Id="rId9" Type="http://schemas.openxmlformats.org/officeDocument/2006/relationships/image" Target="../media/image26.pn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11.png"/><Relationship Id="rId3" Type="http://schemas.openxmlformats.org/officeDocument/2006/relationships/image" Target="../media/image31.png"/><Relationship Id="rId7" Type="http://schemas.openxmlformats.org/officeDocument/2006/relationships/image" Target="../media/image32.png"/><Relationship Id="rId12"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35.png"/><Relationship Id="rId5" Type="http://schemas.openxmlformats.org/officeDocument/2006/relationships/image" Target="../media/image3.png"/><Relationship Id="rId10" Type="http://schemas.openxmlformats.org/officeDocument/2006/relationships/image" Target="../media/image34.png"/><Relationship Id="rId4" Type="http://schemas.openxmlformats.org/officeDocument/2006/relationships/image" Target="../media/image2.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0.png"/><Relationship Id="rId7"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1.png"/><Relationship Id="rId5" Type="http://schemas.openxmlformats.org/officeDocument/2006/relationships/image" Target="../media/image3.png"/><Relationship Id="rId10" Type="http://schemas.openxmlformats.org/officeDocument/2006/relationships/image" Target="../media/image44.png"/><Relationship Id="rId4" Type="http://schemas.openxmlformats.org/officeDocument/2006/relationships/image" Target="../media/image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5.png"/><Relationship Id="rId10" Type="http://schemas.openxmlformats.org/officeDocument/2006/relationships/image" Target="../media/image51.png"/><Relationship Id="rId4" Type="http://schemas.openxmlformats.org/officeDocument/2006/relationships/image" Target="../media/image2.png"/><Relationship Id="rId9" Type="http://schemas.openxmlformats.org/officeDocument/2006/relationships/image" Target="../media/image50.png"/><Relationship Id="rId1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11.png"/><Relationship Id="rId3" Type="http://schemas.openxmlformats.org/officeDocument/2006/relationships/image" Target="../media/image56.png"/><Relationship Id="rId7" Type="http://schemas.openxmlformats.org/officeDocument/2006/relationships/image" Target="../media/image57.png"/><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notesSlide" Target="../notesSlides/notesSlide11.xml"/><Relationship Id="rId16"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61.png"/><Relationship Id="rId5" Type="http://schemas.openxmlformats.org/officeDocument/2006/relationships/image" Target="../media/image3.png"/><Relationship Id="rId15" Type="http://schemas.openxmlformats.org/officeDocument/2006/relationships/image" Target="../media/image65.png"/><Relationship Id="rId10" Type="http://schemas.openxmlformats.org/officeDocument/2006/relationships/image" Target="../media/image60.png"/><Relationship Id="rId19" Type="http://schemas.openxmlformats.org/officeDocument/2006/relationships/image" Target="../media/image48.png"/><Relationship Id="rId4" Type="http://schemas.openxmlformats.org/officeDocument/2006/relationships/image" Target="../media/image2.png"/><Relationship Id="rId9" Type="http://schemas.openxmlformats.org/officeDocument/2006/relationships/image" Target="../media/image59.png"/><Relationship Id="rId14" Type="http://schemas.openxmlformats.org/officeDocument/2006/relationships/image" Target="../media/image64.png"/></Relationships>
</file>

<file path=ppt/slides/_rels/slide12.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8.png"/><Relationship Id="rId7" Type="http://schemas.openxmlformats.org/officeDocument/2006/relationships/image" Target="../media/image69.png"/><Relationship Id="rId12"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48.png"/><Relationship Id="rId5" Type="http://schemas.openxmlformats.org/officeDocument/2006/relationships/image" Target="../media/image3.png"/><Relationship Id="rId10" Type="http://schemas.openxmlformats.org/officeDocument/2006/relationships/image" Target="../media/image72.png"/><Relationship Id="rId4" Type="http://schemas.openxmlformats.org/officeDocument/2006/relationships/image" Target="../media/image2.png"/><Relationship Id="rId9" Type="http://schemas.openxmlformats.org/officeDocument/2006/relationships/image" Target="../media/image71.png"/></Relationships>
</file>

<file path=ppt/slides/_rels/slide13.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3.png"/><Relationship Id="rId7"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48.pn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hyperlink" Target="https://doi.org/10.1109/ICCV.2017.324" TargetMode="External"/><Relationship Id="rId3" Type="http://schemas.openxmlformats.org/officeDocument/2006/relationships/image" Target="../media/image76.png"/><Relationship Id="rId7" Type="http://schemas.openxmlformats.org/officeDocument/2006/relationships/image" Target="../media/image48.png"/><Relationship Id="rId12" Type="http://schemas.openxmlformats.org/officeDocument/2006/relationships/hyperlink" Target="https://doi.org/10.48550/arXiv.2004.11362" TargetMode="External"/><Relationship Id="rId2" Type="http://schemas.openxmlformats.org/officeDocument/2006/relationships/notesSlide" Target="../notesSlides/notesSlide14.xml"/><Relationship Id="rId16" Type="http://schemas.openxmlformats.org/officeDocument/2006/relationships/hyperlink" Target="https://doi.org/10.1038/s42256-020-00257-z" TargetMode="Externa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hyperlink" Target="https://aclanthology.org/2020.lrec-1.349" TargetMode="External"/><Relationship Id="rId5" Type="http://schemas.openxmlformats.org/officeDocument/2006/relationships/image" Target="../media/image3.png"/><Relationship Id="rId15" Type="http://schemas.openxmlformats.org/officeDocument/2006/relationships/hyperlink" Target="https://doi.org/10.1145/2939672.2939778" TargetMode="External"/><Relationship Id="rId10" Type="http://schemas.openxmlformats.org/officeDocument/2006/relationships/hyperlink" Target="https://doi.org/10.18653/v1/2022.findings-naacl.98" TargetMode="External"/><Relationship Id="rId4" Type="http://schemas.openxmlformats.org/officeDocument/2006/relationships/image" Target="../media/image2.png"/><Relationship Id="rId9" Type="http://schemas.openxmlformats.org/officeDocument/2006/relationships/hyperlink" Target="https://doi.org/10.18653/v1/N19-1423" TargetMode="External"/><Relationship Id="rId14" Type="http://schemas.openxmlformats.org/officeDocument/2006/relationships/hyperlink" Target="https://doi.org/10.3115/v1/D14-1181"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7.png"/><Relationship Id="rId7"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26572"/>
            <a:ext cx="23222857" cy="13062857"/>
          </a:xfrm>
          <a:prstGeom prst="rect">
            <a:avLst/>
          </a:prstGeom>
        </p:spPr>
      </p:pic>
      <p:pic>
        <p:nvPicPr>
          <p:cNvPr id="6" name="Picture 6"/>
          <p:cNvPicPr>
            <a:picLocks noChangeAspect="1"/>
          </p:cNvPicPr>
          <p:nvPr/>
        </p:nvPicPr>
        <p:blipFill>
          <a:blip r:embed="rId7"/>
          <a:stretch>
            <a:fillRect/>
          </a:stretch>
        </p:blipFill>
        <p:spPr>
          <a:xfrm>
            <a:off x="12343192" y="978597"/>
            <a:ext cx="1451429" cy="1451429"/>
          </a:xfrm>
          <a:prstGeom prst="rect">
            <a:avLst/>
          </a:prstGeom>
        </p:spPr>
      </p:pic>
      <p:pic>
        <p:nvPicPr>
          <p:cNvPr id="7" name="Picture 7"/>
          <p:cNvPicPr>
            <a:picLocks noChangeAspect="1"/>
          </p:cNvPicPr>
          <p:nvPr/>
        </p:nvPicPr>
        <p:blipFill>
          <a:blip r:embed="rId8"/>
          <a:stretch>
            <a:fillRect/>
          </a:stretch>
        </p:blipFill>
        <p:spPr>
          <a:xfrm>
            <a:off x="10589380" y="1064380"/>
            <a:ext cx="1451429" cy="1451429"/>
          </a:xfrm>
          <a:prstGeom prst="rect">
            <a:avLst/>
          </a:prstGeom>
        </p:spPr>
      </p:pic>
      <p:pic>
        <p:nvPicPr>
          <p:cNvPr id="9" name="Picture 9"/>
          <p:cNvPicPr>
            <a:picLocks noChangeAspect="1"/>
          </p:cNvPicPr>
          <p:nvPr/>
        </p:nvPicPr>
        <p:blipFill>
          <a:blip r:embed="rId9"/>
          <a:stretch>
            <a:fillRect/>
          </a:stretch>
        </p:blipFill>
        <p:spPr>
          <a:xfrm>
            <a:off x="1638904" y="7235857"/>
            <a:ext cx="9676191" cy="5080000"/>
          </a:xfrm>
          <a:prstGeom prst="rect">
            <a:avLst/>
          </a:prstGeom>
          <a:effectLst>
            <a:outerShdw blurRad="2177142" dist="241904" dir="5400000" algn="ctr">
              <a:srgbClr val="000000">
                <a:alpha val="5098"/>
              </a:srgbClr>
            </a:outerShdw>
          </a:effectLst>
        </p:spPr>
      </p:pic>
      <p:pic>
        <p:nvPicPr>
          <p:cNvPr id="10" name="Picture 10"/>
          <p:cNvPicPr>
            <a:picLocks noChangeAspect="1"/>
          </p:cNvPicPr>
          <p:nvPr/>
        </p:nvPicPr>
        <p:blipFill>
          <a:blip r:embed="rId9"/>
          <a:stretch>
            <a:fillRect/>
          </a:stretch>
        </p:blipFill>
        <p:spPr>
          <a:xfrm>
            <a:off x="13068907" y="7235857"/>
            <a:ext cx="9676191" cy="5080000"/>
          </a:xfrm>
          <a:prstGeom prst="rect">
            <a:avLst/>
          </a:prstGeom>
          <a:effectLst>
            <a:outerShdw blurRad="2177142" dist="241904" dir="5400000" algn="ctr">
              <a:srgbClr val="000000">
                <a:alpha val="5098"/>
              </a:srgbClr>
            </a:outerShdw>
          </a:effectLst>
        </p:spPr>
      </p:pic>
      <p:pic>
        <p:nvPicPr>
          <p:cNvPr id="11" name="Picture 11"/>
          <p:cNvPicPr>
            <a:picLocks noChangeAspect="1"/>
          </p:cNvPicPr>
          <p:nvPr/>
        </p:nvPicPr>
        <p:blipFill>
          <a:blip r:embed="rId10"/>
          <a:stretch>
            <a:fillRect/>
          </a:stretch>
        </p:blipFill>
        <p:spPr>
          <a:xfrm>
            <a:off x="1596571" y="7235857"/>
            <a:ext cx="135467" cy="5080000"/>
          </a:xfrm>
          <a:prstGeom prst="rect">
            <a:avLst/>
          </a:prstGeom>
        </p:spPr>
      </p:pic>
      <p:pic>
        <p:nvPicPr>
          <p:cNvPr id="12" name="Picture 12"/>
          <p:cNvPicPr>
            <a:picLocks noChangeAspect="1"/>
          </p:cNvPicPr>
          <p:nvPr/>
        </p:nvPicPr>
        <p:blipFill>
          <a:blip r:embed="rId10"/>
          <a:stretch>
            <a:fillRect/>
          </a:stretch>
        </p:blipFill>
        <p:spPr>
          <a:xfrm>
            <a:off x="13100593" y="7212206"/>
            <a:ext cx="135467" cy="5080000"/>
          </a:xfrm>
          <a:prstGeom prst="rect">
            <a:avLst/>
          </a:prstGeom>
        </p:spPr>
      </p:pic>
      <p:sp>
        <p:nvSpPr>
          <p:cNvPr id="13" name="TextBox 13"/>
          <p:cNvSpPr txBox="1"/>
          <p:nvPr/>
        </p:nvSpPr>
        <p:spPr>
          <a:xfrm>
            <a:off x="1596571" y="2823211"/>
            <a:ext cx="24480761" cy="3033486"/>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Playfair Display"/>
              </a:rPr>
              <a:t> </a:t>
            </a:r>
          </a:p>
          <a:p>
            <a:pPr marL="0" algn="l" fontAlgn="base">
              <a:lnSpc>
                <a:spcPct val="100000"/>
              </a:lnSpc>
              <a:spcBef>
                <a:spcPct val="0"/>
              </a:spcBef>
              <a:spcAft>
                <a:spcPct val="0"/>
              </a:spcAft>
            </a:pPr>
            <a:r>
              <a:rPr lang="en-US" sz="5599" b="1" i="0" u="none" strike="noStrike" dirty="0">
                <a:solidFill>
                  <a:srgbClr val="111111"/>
                </a:solidFill>
                <a:latin typeface="Embedded Playfair Display"/>
              </a:rPr>
              <a:t>DG-</a:t>
            </a:r>
            <a:r>
              <a:rPr lang="en-US" sz="5599" b="1" i="0" u="none" strike="noStrike" dirty="0" err="1">
                <a:solidFill>
                  <a:srgbClr val="111111"/>
                </a:solidFill>
                <a:latin typeface="Embedded Playfair Display"/>
              </a:rPr>
              <a:t>SSOFNet</a:t>
            </a:r>
            <a:r>
              <a:rPr lang="en-US" sz="5599" b="1" i="0" u="none" strike="noStrike" dirty="0">
                <a:solidFill>
                  <a:srgbClr val="111111"/>
                </a:solidFill>
                <a:latin typeface="Embedded Playfair Display"/>
              </a:rPr>
              <a:t>: A Novel Corpus and Cross-Attention Multi-Stream</a:t>
            </a:r>
          </a:p>
          <a:p>
            <a:pPr marL="0" algn="l" fontAlgn="base">
              <a:lnSpc>
                <a:spcPct val="100000"/>
              </a:lnSpc>
              <a:spcBef>
                <a:spcPct val="0"/>
              </a:spcBef>
              <a:spcAft>
                <a:spcPct val="0"/>
              </a:spcAft>
            </a:pPr>
            <a:r>
              <a:rPr lang="en-US" sz="5599" b="1" i="0" u="none" strike="noStrike" dirty="0">
                <a:solidFill>
                  <a:srgbClr val="111111"/>
                </a:solidFill>
                <a:latin typeface="Embedded Playfair Display"/>
              </a:rPr>
              <a:t>Fusion with Contrastive Learning for Bangla Fake News</a:t>
            </a:r>
          </a:p>
          <a:p>
            <a:pPr marL="0" algn="l" fontAlgn="base">
              <a:lnSpc>
                <a:spcPct val="100000"/>
              </a:lnSpc>
              <a:spcBef>
                <a:spcPct val="0"/>
              </a:spcBef>
              <a:spcAft>
                <a:spcPct val="0"/>
              </a:spcAft>
            </a:pPr>
            <a:r>
              <a:rPr lang="en-US" sz="5599" b="1" i="0" u="none" strike="noStrike" dirty="0">
                <a:solidFill>
                  <a:srgbClr val="111111"/>
                </a:solidFill>
                <a:latin typeface="Embedded Playfair Display"/>
              </a:rPr>
              <a:t>Detection</a:t>
            </a:r>
          </a:p>
          <a:p>
            <a:pPr marL="0" algn="l">
              <a:lnSpc>
                <a:spcPct val="110000"/>
              </a:lnSpc>
              <a:spcBef>
                <a:spcPct val="0"/>
              </a:spcBef>
              <a:spcAft>
                <a:spcPct val="0"/>
              </a:spcAft>
            </a:pPr>
            <a:r>
              <a:rPr lang="en-US" sz="100" dirty="0">
                <a:latin typeface="Embedded Playfair Display"/>
              </a:rPr>
              <a:t> </a:t>
            </a:r>
          </a:p>
        </p:txBody>
      </p:sp>
      <p:sp>
        <p:nvSpPr>
          <p:cNvPr id="14" name="TextBox 14"/>
          <p:cNvSpPr txBox="1"/>
          <p:nvPr/>
        </p:nvSpPr>
        <p:spPr>
          <a:xfrm>
            <a:off x="2215847" y="8989182"/>
            <a:ext cx="8573105" cy="3396343"/>
          </a:xfrm>
          <a:prstGeom prst="rect">
            <a:avLst/>
          </a:prstGeom>
        </p:spPr>
        <p:txBody>
          <a:bodyPr wrap="square" lIns="0" tIns="0" rIns="0" bIns="0" rtlCol="0" anchor="ctr"/>
          <a:lstStyle/>
          <a:p>
            <a:pPr marL="0" algn="l">
              <a:lnSpc>
                <a:spcPct val="110000"/>
              </a:lnSpc>
              <a:spcBef>
                <a:spcPct val="0"/>
              </a:spcBef>
              <a:spcAft>
                <a:spcPct val="0"/>
              </a:spcAft>
            </a:pPr>
            <a:r>
              <a:rPr lang="en-US" sz="100" dirty="0">
                <a:latin typeface="Embedded Inter"/>
              </a:rPr>
              <a:t> </a:t>
            </a:r>
          </a:p>
          <a:p>
            <a:pPr marL="0" algn="l" fontAlgn="base">
              <a:lnSpc>
                <a:spcPct val="105000"/>
              </a:lnSpc>
              <a:spcBef>
                <a:spcPct val="0"/>
              </a:spcBef>
              <a:spcAft>
                <a:spcPct val="3000"/>
              </a:spcAft>
            </a:pPr>
            <a:r>
              <a:rPr lang="en-US" sz="3205" b="0" i="0" u="none" strike="noStrike" dirty="0">
                <a:solidFill>
                  <a:srgbClr val="444444"/>
                </a:solidFill>
                <a:latin typeface="Embedded Inter"/>
              </a:rPr>
              <a:t>Roll No: 210606 | Reg No: 1065411</a:t>
            </a:r>
          </a:p>
          <a:p>
            <a:pPr marL="0" algn="l" fontAlgn="base">
              <a:lnSpc>
                <a:spcPct val="105000"/>
              </a:lnSpc>
              <a:spcBef>
                <a:spcPct val="0"/>
              </a:spcBef>
              <a:spcAft>
                <a:spcPct val="3000"/>
              </a:spcAft>
            </a:pPr>
            <a:r>
              <a:rPr lang="en-US" sz="3205" b="0" i="0" u="none" strike="noStrike" dirty="0">
                <a:solidFill>
                  <a:srgbClr val="444444"/>
                </a:solidFill>
                <a:latin typeface="Embedded Inter"/>
              </a:rPr>
              <a:t>Session: 2020–2021</a:t>
            </a:r>
          </a:p>
          <a:p>
            <a:pPr marL="0" algn="l" fontAlgn="base">
              <a:lnSpc>
                <a:spcPct val="105000"/>
              </a:lnSpc>
              <a:spcBef>
                <a:spcPct val="0"/>
              </a:spcBef>
              <a:spcAft>
                <a:spcPct val="3000"/>
              </a:spcAft>
            </a:pPr>
            <a:r>
              <a:rPr lang="en-US" sz="3205" b="0" i="0" u="none" strike="noStrike" dirty="0">
                <a:solidFill>
                  <a:srgbClr val="444444"/>
                </a:solidFill>
                <a:latin typeface="Embedded Inter"/>
              </a:rPr>
              <a:t>Dept. of Information and Communication</a:t>
            </a:r>
          </a:p>
          <a:p>
            <a:pPr marL="0" algn="l" fontAlgn="base">
              <a:lnSpc>
                <a:spcPct val="105000"/>
              </a:lnSpc>
              <a:spcBef>
                <a:spcPct val="0"/>
              </a:spcBef>
              <a:spcAft>
                <a:spcPct val="3000"/>
              </a:spcAft>
            </a:pPr>
            <a:r>
              <a:rPr lang="en-US" sz="3205" b="0" i="0" u="none" strike="noStrike" dirty="0">
                <a:solidFill>
                  <a:srgbClr val="444444"/>
                </a:solidFill>
                <a:latin typeface="Embedded Inter"/>
              </a:rPr>
              <a:t>Engineering</a:t>
            </a:r>
          </a:p>
          <a:p>
            <a:pPr marL="0" algn="l" fontAlgn="base">
              <a:lnSpc>
                <a:spcPct val="105000"/>
              </a:lnSpc>
              <a:spcBef>
                <a:spcPct val="0"/>
              </a:spcBef>
              <a:spcAft>
                <a:spcPct val="3000"/>
              </a:spcAft>
            </a:pPr>
            <a:r>
              <a:rPr lang="en-US" sz="3205" b="0" i="0" u="none" strike="noStrike" dirty="0">
                <a:solidFill>
                  <a:srgbClr val="444444"/>
                </a:solidFill>
                <a:latin typeface="Embedded Inter"/>
              </a:rPr>
              <a:t>Pabna University of Science and Technology</a:t>
            </a:r>
          </a:p>
          <a:p>
            <a:pPr marL="0" algn="l">
              <a:lnSpc>
                <a:spcPct val="110000"/>
              </a:lnSpc>
              <a:spcBef>
                <a:spcPct val="0"/>
              </a:spcBef>
              <a:spcAft>
                <a:spcPct val="0"/>
              </a:spcAft>
            </a:pPr>
            <a:r>
              <a:rPr lang="en-US" sz="100" dirty="0">
                <a:latin typeface="Embedded Inter"/>
              </a:rPr>
              <a:t> </a:t>
            </a:r>
          </a:p>
        </p:txBody>
      </p:sp>
      <p:sp>
        <p:nvSpPr>
          <p:cNvPr id="15" name="TextBox 15"/>
          <p:cNvSpPr txBox="1"/>
          <p:nvPr/>
        </p:nvSpPr>
        <p:spPr>
          <a:xfrm>
            <a:off x="13730515" y="9272209"/>
            <a:ext cx="8573105" cy="2830286"/>
          </a:xfrm>
          <a:prstGeom prst="rect">
            <a:avLst/>
          </a:prstGeom>
        </p:spPr>
        <p:txBody>
          <a:bodyPr wrap="square" lIns="0" tIns="0" rIns="0" bIns="0" rtlCol="0" anchor="ctr"/>
          <a:lstStyle/>
          <a:p>
            <a:pPr marL="0" algn="l">
              <a:lnSpc>
                <a:spcPct val="110000"/>
              </a:lnSpc>
              <a:spcBef>
                <a:spcPct val="0"/>
              </a:spcBef>
              <a:spcAft>
                <a:spcPct val="0"/>
              </a:spcAft>
            </a:pPr>
            <a:r>
              <a:rPr lang="en-US" sz="100" dirty="0">
                <a:latin typeface="Embedded Inter"/>
              </a:rPr>
              <a:t> </a:t>
            </a:r>
          </a:p>
          <a:p>
            <a:pPr marL="0" algn="l" fontAlgn="base">
              <a:lnSpc>
                <a:spcPct val="105000"/>
              </a:lnSpc>
              <a:spcBef>
                <a:spcPct val="0"/>
              </a:spcBef>
              <a:spcAft>
                <a:spcPct val="3000"/>
              </a:spcAft>
            </a:pPr>
            <a:r>
              <a:rPr lang="en-US" sz="3205" b="0" i="0" u="none" strike="noStrike" dirty="0">
                <a:solidFill>
                  <a:srgbClr val="444444"/>
                </a:solidFill>
                <a:latin typeface="Embedded Inter"/>
              </a:rPr>
              <a:t>Professor,</a:t>
            </a:r>
          </a:p>
          <a:p>
            <a:pPr marL="0" algn="l" fontAlgn="base">
              <a:lnSpc>
                <a:spcPct val="105000"/>
              </a:lnSpc>
              <a:spcBef>
                <a:spcPct val="0"/>
              </a:spcBef>
              <a:spcAft>
                <a:spcPct val="3000"/>
              </a:spcAft>
            </a:pPr>
            <a:r>
              <a:rPr lang="en-US" sz="3205" b="0" i="0" u="none" strike="noStrike" dirty="0">
                <a:solidFill>
                  <a:srgbClr val="444444"/>
                </a:solidFill>
                <a:latin typeface="Embedded Inter"/>
              </a:rPr>
              <a:t>Dept. of Information and Communication</a:t>
            </a:r>
          </a:p>
          <a:p>
            <a:pPr marL="0" algn="l" fontAlgn="base">
              <a:lnSpc>
                <a:spcPct val="105000"/>
              </a:lnSpc>
              <a:spcBef>
                <a:spcPct val="0"/>
              </a:spcBef>
              <a:spcAft>
                <a:spcPct val="3000"/>
              </a:spcAft>
            </a:pPr>
            <a:r>
              <a:rPr lang="en-US" sz="3205" b="0" i="0" u="none" strike="noStrike" dirty="0">
                <a:solidFill>
                  <a:srgbClr val="444444"/>
                </a:solidFill>
                <a:latin typeface="Embedded Inter"/>
              </a:rPr>
              <a:t>Engineering</a:t>
            </a:r>
          </a:p>
          <a:p>
            <a:pPr marL="0" algn="l" fontAlgn="base">
              <a:lnSpc>
                <a:spcPct val="105000"/>
              </a:lnSpc>
              <a:spcBef>
                <a:spcPct val="0"/>
              </a:spcBef>
              <a:spcAft>
                <a:spcPct val="3000"/>
              </a:spcAft>
            </a:pPr>
            <a:r>
              <a:rPr lang="en-US" sz="3205" b="0" i="0" u="none" strike="noStrike" dirty="0">
                <a:solidFill>
                  <a:srgbClr val="444444"/>
                </a:solidFill>
                <a:latin typeface="Embedded Inter"/>
              </a:rPr>
              <a:t>Pabna University of Science and Technology</a:t>
            </a:r>
          </a:p>
          <a:p>
            <a:pPr marL="0" algn="l">
              <a:lnSpc>
                <a:spcPct val="110000"/>
              </a:lnSpc>
              <a:spcBef>
                <a:spcPct val="0"/>
              </a:spcBef>
              <a:spcAft>
                <a:spcPct val="0"/>
              </a:spcAft>
            </a:pPr>
            <a:r>
              <a:rPr lang="en-US" sz="100" dirty="0">
                <a:latin typeface="Embedded Inter"/>
              </a:rPr>
              <a:t> </a:t>
            </a:r>
          </a:p>
        </p:txBody>
      </p:sp>
      <p:sp>
        <p:nvSpPr>
          <p:cNvPr id="16" name="TextBox 16"/>
          <p:cNvSpPr txBox="1"/>
          <p:nvPr/>
        </p:nvSpPr>
        <p:spPr>
          <a:xfrm>
            <a:off x="2215847" y="7620001"/>
            <a:ext cx="9859070" cy="522514"/>
          </a:xfrm>
          <a:prstGeom prst="rect">
            <a:avLst/>
          </a:prstGeom>
        </p:spPr>
        <p:txBody>
          <a:bodyPr wrap="none" lIns="0" tIns="0" rIns="0" bIns="0" rtlCol="0" anchor="ctr"/>
          <a:lstStyle/>
          <a:p>
            <a:pPr marL="0" algn="l">
              <a:lnSpc>
                <a:spcPct val="110000"/>
              </a:lnSpc>
              <a:spcBef>
                <a:spcPct val="0"/>
              </a:spcBef>
              <a:spcAft>
                <a:spcPct val="0"/>
              </a:spcAft>
            </a:pPr>
            <a:r>
              <a:rPr lang="en-US" sz="100">
                <a:latin typeface="Embedded Inter"/>
              </a:rPr>
              <a:t> </a:t>
            </a:r>
          </a:p>
          <a:p>
            <a:pPr marL="0" algn="l" fontAlgn="base">
              <a:lnSpc>
                <a:spcPct val="100000"/>
              </a:lnSpc>
              <a:spcBef>
                <a:spcPct val="0"/>
              </a:spcBef>
              <a:spcAft>
                <a:spcPct val="0"/>
              </a:spcAft>
            </a:pPr>
            <a:r>
              <a:rPr lang="en-US" sz="3399" b="0" i="0" u="none" strike="noStrike">
                <a:solidFill>
                  <a:srgbClr val="D94F3A"/>
                </a:solidFill>
                <a:latin typeface="Embedded Inter"/>
              </a:rPr>
              <a:t>Prepared by</a:t>
            </a:r>
          </a:p>
          <a:p>
            <a:pPr marL="0" algn="l">
              <a:lnSpc>
                <a:spcPct val="110000"/>
              </a:lnSpc>
              <a:spcBef>
                <a:spcPct val="0"/>
              </a:spcBef>
              <a:spcAft>
                <a:spcPct val="0"/>
              </a:spcAft>
            </a:pPr>
            <a:r>
              <a:rPr lang="en-US" sz="100">
                <a:latin typeface="Embedded Inter"/>
              </a:rPr>
              <a:t> </a:t>
            </a:r>
          </a:p>
        </p:txBody>
      </p:sp>
      <p:sp>
        <p:nvSpPr>
          <p:cNvPr id="17" name="TextBox 17"/>
          <p:cNvSpPr txBox="1"/>
          <p:nvPr/>
        </p:nvSpPr>
        <p:spPr>
          <a:xfrm>
            <a:off x="2215847" y="8263467"/>
            <a:ext cx="9859070" cy="580571"/>
          </a:xfrm>
          <a:prstGeom prst="rect">
            <a:avLst/>
          </a:prstGeom>
        </p:spPr>
        <p:txBody>
          <a:bodyPr wrap="none" lIns="0" tIns="0" rIns="0" bIns="0" rtlCol="0" anchor="ctr"/>
          <a:lstStyle/>
          <a:p>
            <a:pPr marL="0" algn="l">
              <a:lnSpc>
                <a:spcPct val="110000"/>
              </a:lnSpc>
              <a:spcBef>
                <a:spcPct val="0"/>
              </a:spcBef>
              <a:spcAft>
                <a:spcPct val="0"/>
              </a:spcAft>
            </a:pPr>
            <a:r>
              <a:rPr lang="en-US" sz="100">
                <a:latin typeface="Embedded Inter"/>
              </a:rPr>
              <a:t> </a:t>
            </a:r>
          </a:p>
          <a:p>
            <a:pPr marL="0" algn="l" fontAlgn="base">
              <a:lnSpc>
                <a:spcPct val="100000"/>
              </a:lnSpc>
              <a:spcBef>
                <a:spcPct val="0"/>
              </a:spcBef>
              <a:spcAft>
                <a:spcPct val="0"/>
              </a:spcAft>
            </a:pPr>
            <a:r>
              <a:rPr lang="en-US" sz="3777" b="0" i="0" u="none" strike="noStrike">
                <a:solidFill>
                  <a:srgbClr val="111111"/>
                </a:solidFill>
                <a:latin typeface="Embedded Inter"/>
              </a:rPr>
              <a:t>Shubail Haque Turza</a:t>
            </a:r>
          </a:p>
          <a:p>
            <a:pPr marL="0" algn="l">
              <a:lnSpc>
                <a:spcPct val="110000"/>
              </a:lnSpc>
              <a:spcBef>
                <a:spcPct val="0"/>
              </a:spcBef>
              <a:spcAft>
                <a:spcPct val="0"/>
              </a:spcAft>
            </a:pPr>
            <a:r>
              <a:rPr lang="en-US" sz="100">
                <a:latin typeface="Embedded Inter"/>
              </a:rPr>
              <a:t> </a:t>
            </a:r>
          </a:p>
        </p:txBody>
      </p:sp>
      <p:sp>
        <p:nvSpPr>
          <p:cNvPr id="18" name="TextBox 18"/>
          <p:cNvSpPr txBox="1"/>
          <p:nvPr/>
        </p:nvSpPr>
        <p:spPr>
          <a:xfrm>
            <a:off x="13730515" y="7903028"/>
            <a:ext cx="9859070" cy="522514"/>
          </a:xfrm>
          <a:prstGeom prst="rect">
            <a:avLst/>
          </a:prstGeom>
        </p:spPr>
        <p:txBody>
          <a:bodyPr wrap="none" lIns="0" tIns="0" rIns="0" bIns="0" rtlCol="0" anchor="ctr"/>
          <a:lstStyle/>
          <a:p>
            <a:pPr marL="0" algn="l">
              <a:lnSpc>
                <a:spcPct val="110000"/>
              </a:lnSpc>
              <a:spcBef>
                <a:spcPct val="0"/>
              </a:spcBef>
              <a:spcAft>
                <a:spcPct val="0"/>
              </a:spcAft>
            </a:pPr>
            <a:r>
              <a:rPr lang="en-US" sz="100">
                <a:latin typeface="Embedded Inter"/>
              </a:rPr>
              <a:t> </a:t>
            </a:r>
          </a:p>
          <a:p>
            <a:pPr marL="0" algn="l" fontAlgn="base">
              <a:lnSpc>
                <a:spcPct val="100000"/>
              </a:lnSpc>
              <a:spcBef>
                <a:spcPct val="0"/>
              </a:spcBef>
              <a:spcAft>
                <a:spcPct val="0"/>
              </a:spcAft>
            </a:pPr>
            <a:r>
              <a:rPr lang="en-US" sz="3399" b="0" i="0" u="none" strike="noStrike">
                <a:solidFill>
                  <a:srgbClr val="D94F3A"/>
                </a:solidFill>
                <a:latin typeface="Embedded Inter"/>
              </a:rPr>
              <a:t>Supervised by</a:t>
            </a:r>
          </a:p>
          <a:p>
            <a:pPr marL="0" algn="l">
              <a:lnSpc>
                <a:spcPct val="110000"/>
              </a:lnSpc>
              <a:spcBef>
                <a:spcPct val="0"/>
              </a:spcBef>
              <a:spcAft>
                <a:spcPct val="0"/>
              </a:spcAft>
            </a:pPr>
            <a:r>
              <a:rPr lang="en-US" sz="100">
                <a:latin typeface="Embedded Inter"/>
              </a:rPr>
              <a:t> </a:t>
            </a:r>
          </a:p>
        </p:txBody>
      </p:sp>
      <p:sp>
        <p:nvSpPr>
          <p:cNvPr id="19" name="TextBox 19"/>
          <p:cNvSpPr txBox="1"/>
          <p:nvPr/>
        </p:nvSpPr>
        <p:spPr>
          <a:xfrm>
            <a:off x="13730515" y="8546494"/>
            <a:ext cx="9859070" cy="580571"/>
          </a:xfrm>
          <a:prstGeom prst="rect">
            <a:avLst/>
          </a:prstGeom>
        </p:spPr>
        <p:txBody>
          <a:bodyPr wrap="none" lIns="0" tIns="0" rIns="0" bIns="0" rtlCol="0" anchor="ctr"/>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777" b="0" i="0" u="none" strike="noStrike" dirty="0">
                <a:solidFill>
                  <a:srgbClr val="111111"/>
                </a:solidFill>
                <a:latin typeface="Embedded Inter"/>
              </a:rPr>
              <a:t>Dr. Md. Sarwar Hosain</a:t>
            </a:r>
          </a:p>
          <a:p>
            <a:pPr marL="0" algn="l">
              <a:lnSpc>
                <a:spcPct val="110000"/>
              </a:lnSpc>
              <a:spcBef>
                <a:spcPct val="0"/>
              </a:spcBef>
              <a:spcAft>
                <a:spcPct val="0"/>
              </a:spcAft>
            </a:pPr>
            <a:r>
              <a:rPr lang="en-US" sz="100" dirty="0">
                <a:latin typeface="Embedded Inter"/>
              </a:rPr>
              <a:t> </a:t>
            </a:r>
          </a:p>
        </p:txBody>
      </p:sp>
      <p:sp>
        <p:nvSpPr>
          <p:cNvPr id="20" name="TextBox 20"/>
          <p:cNvSpPr txBox="1"/>
          <p:nvPr/>
        </p:nvSpPr>
        <p:spPr>
          <a:xfrm>
            <a:off x="-1161143" y="6253238"/>
            <a:ext cx="26706285" cy="696686"/>
          </a:xfrm>
          <a:prstGeom prst="rect">
            <a:avLst/>
          </a:prstGeom>
        </p:spPr>
        <p:txBody>
          <a:bodyPr wrap="none" lIns="0" tIns="0" rIns="0" bIns="0" rtlCol="0" anchor="t"/>
          <a:lstStyle/>
          <a:p>
            <a:pPr marL="0" algn="ctr" fontAlgn="base">
              <a:lnSpc>
                <a:spcPct val="100000"/>
              </a:lnSpc>
              <a:spcBef>
                <a:spcPct val="0"/>
              </a:spcBef>
              <a:spcAft>
                <a:spcPct val="0"/>
              </a:spcAft>
            </a:pPr>
            <a:r>
              <a:rPr lang="en-US" sz="4532" b="0" i="0" u="none" strike="noStrike" dirty="0">
                <a:solidFill>
                  <a:schemeClr val="accent2">
                    <a:lumMod val="75000"/>
                  </a:schemeClr>
                </a:solidFill>
                <a:latin typeface="Embedded Inter"/>
              </a:rPr>
              <a:t>Thesis | Course Code: ICE-4210</a:t>
            </a:r>
          </a:p>
        </p:txBody>
      </p:sp>
      <p:sp>
        <p:nvSpPr>
          <p:cNvPr id="21" name="TextBox 20">
            <a:extLst>
              <a:ext uri="{FF2B5EF4-FFF2-40B4-BE49-F238E27FC236}">
                <a16:creationId xmlns:a16="http://schemas.microsoft.com/office/drawing/2014/main" id="{466F1FD3-2700-6FA1-10DF-9C46884AB56A}"/>
              </a:ext>
            </a:extLst>
          </p:cNvPr>
          <p:cNvSpPr txBox="1"/>
          <p:nvPr/>
        </p:nvSpPr>
        <p:spPr>
          <a:xfrm>
            <a:off x="1540448" y="12574453"/>
            <a:ext cx="3412551" cy="492443"/>
          </a:xfrm>
          <a:prstGeom prst="rect">
            <a:avLst/>
          </a:prstGeom>
          <a:noFill/>
        </p:spPr>
        <p:txBody>
          <a:bodyPr wrap="square" rtlCol="0">
            <a:spAutoFit/>
          </a:bodyPr>
          <a:lstStyle/>
          <a:p>
            <a:r>
              <a:rPr lang="en-US" sz="2600" b="1" dirty="0">
                <a:latin typeface="Arial" panose="020B0604020202020204" pitchFamily="34" charset="0"/>
                <a:cs typeface="Arial" panose="020B0604020202020204" pitchFamily="34" charset="0"/>
              </a:rPr>
              <a:t>September 2, 2026</a:t>
            </a:r>
          </a:p>
        </p:txBody>
      </p:sp>
      <p:sp>
        <p:nvSpPr>
          <p:cNvPr id="26" name="TextBox 20">
            <a:extLst>
              <a:ext uri="{FF2B5EF4-FFF2-40B4-BE49-F238E27FC236}">
                <a16:creationId xmlns:a16="http://schemas.microsoft.com/office/drawing/2014/main" id="{6F7BD27A-7CEB-7742-7BF7-2AC777DF3D26}"/>
              </a:ext>
            </a:extLst>
          </p:cNvPr>
          <p:cNvSpPr txBox="1"/>
          <p:nvPr/>
        </p:nvSpPr>
        <p:spPr>
          <a:xfrm>
            <a:off x="-1161143" y="5532901"/>
            <a:ext cx="26706285" cy="696686"/>
          </a:xfrm>
          <a:prstGeom prst="rect">
            <a:avLst/>
          </a:prstGeom>
        </p:spPr>
        <p:txBody>
          <a:bodyPr wrap="none" lIns="0" tIns="0" rIns="0" bIns="0" rtlCol="0" anchor="t"/>
          <a:lstStyle/>
          <a:p>
            <a:pPr marL="0" algn="ctr" fontAlgn="base">
              <a:lnSpc>
                <a:spcPct val="100000"/>
              </a:lnSpc>
              <a:spcBef>
                <a:spcPct val="0"/>
              </a:spcBef>
              <a:spcAft>
                <a:spcPct val="0"/>
              </a:spcAft>
            </a:pPr>
            <a:r>
              <a:rPr lang="en-US" sz="4532" b="0" i="0" u="none" strike="noStrike" dirty="0">
                <a:solidFill>
                  <a:schemeClr val="accent2">
                    <a:lumMod val="75000"/>
                  </a:schemeClr>
                </a:solidFill>
                <a:latin typeface="Embedded Inter"/>
              </a:rPr>
              <a:t>B.Sc. (Engineering) Examination-2024</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14" name="Picture 14"/>
          <p:cNvPicPr>
            <a:picLocks noChangeAspect="1"/>
          </p:cNvPicPr>
          <p:nvPr/>
        </p:nvPicPr>
        <p:blipFill>
          <a:blip r:embed="rId6"/>
          <a:stretch>
            <a:fillRect/>
          </a:stretch>
        </p:blipFill>
        <p:spPr>
          <a:xfrm flipV="1">
            <a:off x="2514600" y="1924659"/>
            <a:ext cx="2629504" cy="76200"/>
          </a:xfrm>
          <a:prstGeom prst="rect">
            <a:avLst/>
          </a:prstGeom>
        </p:spPr>
      </p:pic>
      <p:sp>
        <p:nvSpPr>
          <p:cNvPr id="18" name="TextBox 18"/>
          <p:cNvSpPr txBox="1"/>
          <p:nvPr/>
        </p:nvSpPr>
        <p:spPr>
          <a:xfrm>
            <a:off x="2362200" y="1042795"/>
            <a:ext cx="16968229" cy="106438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Playfair Display"/>
              </a:rPr>
              <a:t> </a:t>
            </a:r>
          </a:p>
          <a:p>
            <a:pPr marL="0" algn="l" fontAlgn="base">
              <a:lnSpc>
                <a:spcPct val="100000"/>
              </a:lnSpc>
              <a:spcBef>
                <a:spcPct val="0"/>
              </a:spcBef>
              <a:spcAft>
                <a:spcPct val="0"/>
              </a:spcAft>
            </a:pPr>
            <a:r>
              <a:rPr lang="en-US" sz="6287" b="1" dirty="0">
                <a:solidFill>
                  <a:srgbClr val="111111"/>
                </a:solidFill>
                <a:latin typeface="Embedded Playfair Display"/>
              </a:rPr>
              <a:t>Outline</a:t>
            </a:r>
            <a:endParaRPr lang="en-US" sz="6287" b="1" i="0" u="none" strike="noStrike" dirty="0">
              <a:solidFill>
                <a:srgbClr val="111111"/>
              </a:solidFill>
              <a:latin typeface="Embedded Playfair Display"/>
            </a:endParaRPr>
          </a:p>
          <a:p>
            <a:pPr marL="0" algn="l">
              <a:lnSpc>
                <a:spcPct val="110000"/>
              </a:lnSpc>
              <a:spcBef>
                <a:spcPct val="0"/>
              </a:spcBef>
              <a:spcAft>
                <a:spcPct val="0"/>
              </a:spcAft>
            </a:pPr>
            <a:r>
              <a:rPr lang="en-US" sz="100" dirty="0">
                <a:latin typeface="Embedded Playfair Display"/>
              </a:rPr>
              <a:t> </a:t>
            </a:r>
          </a:p>
        </p:txBody>
      </p:sp>
      <p:pic>
        <p:nvPicPr>
          <p:cNvPr id="24" name="Picture 24"/>
          <p:cNvPicPr>
            <a:picLocks noChangeAspect="1"/>
          </p:cNvPicPr>
          <p:nvPr/>
        </p:nvPicPr>
        <p:blipFill>
          <a:blip r:embed="rId7"/>
          <a:stretch>
            <a:fillRect/>
          </a:stretch>
        </p:blipFill>
        <p:spPr>
          <a:xfrm>
            <a:off x="22158476" y="-1270000"/>
            <a:ext cx="3193143" cy="3193143"/>
          </a:xfrm>
          <a:prstGeom prst="rect">
            <a:avLst/>
          </a:prstGeom>
        </p:spPr>
      </p:pic>
      <p:sp>
        <p:nvSpPr>
          <p:cNvPr id="25" name="TextBox 25"/>
          <p:cNvSpPr txBox="1"/>
          <p:nvPr/>
        </p:nvSpPr>
        <p:spPr>
          <a:xfrm>
            <a:off x="23121257" y="616857"/>
            <a:ext cx="339392" cy="580571"/>
          </a:xfrm>
          <a:prstGeom prst="rect">
            <a:avLst/>
          </a:prstGeom>
        </p:spPr>
        <p:txBody>
          <a:bodyPr wrap="none" lIns="0" tIns="0" rIns="0" bIns="0" rtlCol="0" anchor="t"/>
          <a:lstStyle/>
          <a:p>
            <a:pPr marL="0" algn="l">
              <a:lnSpc>
                <a:spcPct val="110000"/>
              </a:lnSpc>
              <a:spcBef>
                <a:spcPct val="0"/>
              </a:spcBef>
              <a:spcAft>
                <a:spcPct val="0"/>
              </a:spcAft>
            </a:pPr>
            <a:r>
              <a:rPr lang="en-US" sz="100">
                <a:latin typeface="Embedded Inter"/>
              </a:rPr>
              <a:t> </a:t>
            </a:r>
          </a:p>
          <a:p>
            <a:pPr marL="0" algn="l" fontAlgn="base">
              <a:lnSpc>
                <a:spcPct val="100000"/>
              </a:lnSpc>
              <a:spcBef>
                <a:spcPct val="0"/>
              </a:spcBef>
              <a:spcAft>
                <a:spcPct val="0"/>
              </a:spcAft>
            </a:pPr>
            <a:r>
              <a:rPr lang="en-US" sz="3777" b="0" i="0" u="none" strike="noStrike">
                <a:solidFill>
                  <a:srgbClr val="F2F0EC"/>
                </a:solidFill>
                <a:latin typeface="Embedded Inter"/>
              </a:rPr>
              <a:t>2</a:t>
            </a:r>
          </a:p>
          <a:p>
            <a:pPr marL="0" algn="l">
              <a:lnSpc>
                <a:spcPct val="110000"/>
              </a:lnSpc>
              <a:spcBef>
                <a:spcPct val="0"/>
              </a:spcBef>
              <a:spcAft>
                <a:spcPct val="0"/>
              </a:spcAft>
            </a:pPr>
            <a:r>
              <a:rPr lang="en-US" sz="100">
                <a:latin typeface="Embedded Inter"/>
              </a:rPr>
              <a:t> </a:t>
            </a:r>
          </a:p>
        </p:txBody>
      </p:sp>
      <p:graphicFrame>
        <p:nvGraphicFramePr>
          <p:cNvPr id="41" name="Diagram 40">
            <a:extLst>
              <a:ext uri="{FF2B5EF4-FFF2-40B4-BE49-F238E27FC236}">
                <a16:creationId xmlns:a16="http://schemas.microsoft.com/office/drawing/2014/main" id="{00CD123D-C8B7-7A9B-C514-3D0113DFD0A0}"/>
              </a:ext>
            </a:extLst>
          </p:cNvPr>
          <p:cNvGraphicFramePr/>
          <p:nvPr>
            <p:extLst>
              <p:ext uri="{D42A27DB-BD31-4B8C-83A1-F6EECF244321}">
                <p14:modId xmlns:p14="http://schemas.microsoft.com/office/powerpoint/2010/main" val="1331238873"/>
              </p:ext>
            </p:extLst>
          </p:nvPr>
        </p:nvGraphicFramePr>
        <p:xfrm>
          <a:off x="2362200" y="2466126"/>
          <a:ext cx="13258800" cy="1013311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9C50E-4056-4A24-7FFF-FEF9BDCB472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80183C4-FE29-5506-EABB-02DE3E5FDA54}"/>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a:extLst>
              <a:ext uri="{FF2B5EF4-FFF2-40B4-BE49-F238E27FC236}">
                <a16:creationId xmlns:a16="http://schemas.microsoft.com/office/drawing/2014/main" id="{9AFB6F4D-1D80-4292-D45C-73B3EDADE4D8}"/>
              </a:ext>
            </a:extLst>
          </p:cNvPr>
          <p:cNvPicPr>
            <a:picLocks noChangeAspect="1"/>
          </p:cNvPicPr>
          <p:nvPr/>
        </p:nvPicPr>
        <p:blipFill>
          <a:blip r:embed="rId4"/>
          <a:stretch>
            <a:fillRect/>
          </a:stretch>
        </p:blipFill>
        <p:spPr>
          <a:xfrm>
            <a:off x="580572" y="382396"/>
            <a:ext cx="23222857" cy="12951209"/>
          </a:xfrm>
          <a:prstGeom prst="rect">
            <a:avLst/>
          </a:prstGeom>
        </p:spPr>
      </p:pic>
      <p:pic>
        <p:nvPicPr>
          <p:cNvPr id="4" name="Picture 4">
            <a:extLst>
              <a:ext uri="{FF2B5EF4-FFF2-40B4-BE49-F238E27FC236}">
                <a16:creationId xmlns:a16="http://schemas.microsoft.com/office/drawing/2014/main" id="{0BF73E47-E80D-EABD-C815-7CE3F061625E}"/>
              </a:ext>
            </a:extLst>
          </p:cNvPr>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a:extLst>
              <a:ext uri="{FF2B5EF4-FFF2-40B4-BE49-F238E27FC236}">
                <a16:creationId xmlns:a16="http://schemas.microsoft.com/office/drawing/2014/main" id="{49F0E2ED-8EA0-34AE-0849-E55A85E21742}"/>
              </a:ext>
            </a:extLst>
          </p:cNvPr>
          <p:cNvPicPr>
            <a:picLocks noChangeAspect="1"/>
          </p:cNvPicPr>
          <p:nvPr/>
        </p:nvPicPr>
        <p:blipFill>
          <a:blip r:embed="rId6"/>
          <a:stretch>
            <a:fillRect/>
          </a:stretch>
        </p:blipFill>
        <p:spPr>
          <a:xfrm>
            <a:off x="580572" y="424543"/>
            <a:ext cx="23222857" cy="13062857"/>
          </a:xfrm>
          <a:prstGeom prst="rect">
            <a:avLst/>
          </a:prstGeom>
        </p:spPr>
      </p:pic>
      <p:pic>
        <p:nvPicPr>
          <p:cNvPr id="6" name="Picture 6">
            <a:extLst>
              <a:ext uri="{FF2B5EF4-FFF2-40B4-BE49-F238E27FC236}">
                <a16:creationId xmlns:a16="http://schemas.microsoft.com/office/drawing/2014/main" id="{DFC68002-56CF-7E6C-DEFF-03B882B8CC23}"/>
              </a:ext>
            </a:extLst>
          </p:cNvPr>
          <p:cNvPicPr>
            <a:picLocks noChangeAspect="1"/>
          </p:cNvPicPr>
          <p:nvPr/>
        </p:nvPicPr>
        <p:blipFill>
          <a:blip r:embed="rId7"/>
          <a:stretch>
            <a:fillRect/>
          </a:stretch>
        </p:blipFill>
        <p:spPr>
          <a:xfrm>
            <a:off x="1693334" y="7704666"/>
            <a:ext cx="10160000" cy="4838095"/>
          </a:xfrm>
          <a:prstGeom prst="rect">
            <a:avLst/>
          </a:prstGeom>
          <a:effectLst>
            <a:outerShdw blurRad="1451428" dist="241904" dir="5400000" algn="ctr">
              <a:srgbClr val="000000">
                <a:alpha val="3137"/>
              </a:srgbClr>
            </a:outerShdw>
          </a:effectLst>
        </p:spPr>
      </p:pic>
      <p:pic>
        <p:nvPicPr>
          <p:cNvPr id="7" name="Picture 7">
            <a:extLst>
              <a:ext uri="{FF2B5EF4-FFF2-40B4-BE49-F238E27FC236}">
                <a16:creationId xmlns:a16="http://schemas.microsoft.com/office/drawing/2014/main" id="{8F117753-80AD-CD74-BC72-EC200F1529B3}"/>
              </a:ext>
            </a:extLst>
          </p:cNvPr>
          <p:cNvPicPr>
            <a:picLocks noChangeAspect="1"/>
          </p:cNvPicPr>
          <p:nvPr/>
        </p:nvPicPr>
        <p:blipFill>
          <a:blip r:embed="rId7"/>
          <a:stretch>
            <a:fillRect/>
          </a:stretch>
        </p:blipFill>
        <p:spPr>
          <a:xfrm>
            <a:off x="12530666" y="7704666"/>
            <a:ext cx="10160000" cy="4838095"/>
          </a:xfrm>
          <a:prstGeom prst="rect">
            <a:avLst/>
          </a:prstGeom>
          <a:effectLst>
            <a:outerShdw blurRad="1451428" dist="241904" dir="5400000" algn="ctr">
              <a:srgbClr val="000000">
                <a:alpha val="3137"/>
              </a:srgbClr>
            </a:outerShdw>
          </a:effectLst>
        </p:spPr>
      </p:pic>
      <p:pic>
        <p:nvPicPr>
          <p:cNvPr id="8" name="Picture 8">
            <a:extLst>
              <a:ext uri="{FF2B5EF4-FFF2-40B4-BE49-F238E27FC236}">
                <a16:creationId xmlns:a16="http://schemas.microsoft.com/office/drawing/2014/main" id="{AAAFB56F-2B06-BC45-C44B-51919EA9551E}"/>
              </a:ext>
            </a:extLst>
          </p:cNvPr>
          <p:cNvPicPr>
            <a:picLocks noChangeAspect="1"/>
          </p:cNvPicPr>
          <p:nvPr/>
        </p:nvPicPr>
        <p:blipFill>
          <a:blip r:embed="rId8"/>
          <a:stretch>
            <a:fillRect/>
          </a:stretch>
        </p:blipFill>
        <p:spPr>
          <a:xfrm>
            <a:off x="1693334" y="2987524"/>
            <a:ext cx="10160000" cy="4354286"/>
          </a:xfrm>
          <a:prstGeom prst="rect">
            <a:avLst/>
          </a:prstGeom>
          <a:effectLst>
            <a:outerShdw blurRad="1451428" dist="241904" dir="5400000" algn="ctr">
              <a:srgbClr val="000000">
                <a:alpha val="3137"/>
              </a:srgbClr>
            </a:outerShdw>
          </a:effectLst>
        </p:spPr>
      </p:pic>
      <p:pic>
        <p:nvPicPr>
          <p:cNvPr id="9" name="Picture 9">
            <a:extLst>
              <a:ext uri="{FF2B5EF4-FFF2-40B4-BE49-F238E27FC236}">
                <a16:creationId xmlns:a16="http://schemas.microsoft.com/office/drawing/2014/main" id="{D96D7497-DC06-BC33-AFC5-D10EF5B83585}"/>
              </a:ext>
            </a:extLst>
          </p:cNvPr>
          <p:cNvPicPr>
            <a:picLocks noChangeAspect="1"/>
          </p:cNvPicPr>
          <p:nvPr/>
        </p:nvPicPr>
        <p:blipFill>
          <a:blip r:embed="rId8"/>
          <a:stretch>
            <a:fillRect/>
          </a:stretch>
        </p:blipFill>
        <p:spPr>
          <a:xfrm>
            <a:off x="12530666" y="2987524"/>
            <a:ext cx="10160000" cy="4354286"/>
          </a:xfrm>
          <a:prstGeom prst="rect">
            <a:avLst/>
          </a:prstGeom>
          <a:effectLst>
            <a:outerShdw blurRad="1451428" dist="241904" dir="5400000" algn="ctr">
              <a:srgbClr val="000000">
                <a:alpha val="3137"/>
              </a:srgbClr>
            </a:outerShdw>
          </a:effectLst>
        </p:spPr>
      </p:pic>
      <p:pic>
        <p:nvPicPr>
          <p:cNvPr id="10" name="Picture 10">
            <a:extLst>
              <a:ext uri="{FF2B5EF4-FFF2-40B4-BE49-F238E27FC236}">
                <a16:creationId xmlns:a16="http://schemas.microsoft.com/office/drawing/2014/main" id="{B051955E-DCEB-0D62-797B-0EE8343E1B7B}"/>
              </a:ext>
            </a:extLst>
          </p:cNvPr>
          <p:cNvPicPr>
            <a:picLocks noChangeAspect="1"/>
          </p:cNvPicPr>
          <p:nvPr/>
        </p:nvPicPr>
        <p:blipFill>
          <a:blip r:embed="rId9"/>
          <a:stretch>
            <a:fillRect/>
          </a:stretch>
        </p:blipFill>
        <p:spPr>
          <a:xfrm>
            <a:off x="1693334" y="7704666"/>
            <a:ext cx="193524" cy="4838095"/>
          </a:xfrm>
          <a:prstGeom prst="rect">
            <a:avLst/>
          </a:prstGeom>
        </p:spPr>
      </p:pic>
      <p:pic>
        <p:nvPicPr>
          <p:cNvPr id="11" name="Picture 11">
            <a:extLst>
              <a:ext uri="{FF2B5EF4-FFF2-40B4-BE49-F238E27FC236}">
                <a16:creationId xmlns:a16="http://schemas.microsoft.com/office/drawing/2014/main" id="{58DFC299-2CCC-5AAE-E9C7-5E8FD168A296}"/>
              </a:ext>
            </a:extLst>
          </p:cNvPr>
          <p:cNvPicPr>
            <a:picLocks noChangeAspect="1"/>
          </p:cNvPicPr>
          <p:nvPr/>
        </p:nvPicPr>
        <p:blipFill>
          <a:blip r:embed="rId9"/>
          <a:stretch>
            <a:fillRect/>
          </a:stretch>
        </p:blipFill>
        <p:spPr>
          <a:xfrm>
            <a:off x="12530667" y="7704666"/>
            <a:ext cx="193524" cy="4838095"/>
          </a:xfrm>
          <a:prstGeom prst="rect">
            <a:avLst/>
          </a:prstGeom>
        </p:spPr>
      </p:pic>
      <p:pic>
        <p:nvPicPr>
          <p:cNvPr id="12" name="Picture 12">
            <a:extLst>
              <a:ext uri="{FF2B5EF4-FFF2-40B4-BE49-F238E27FC236}">
                <a16:creationId xmlns:a16="http://schemas.microsoft.com/office/drawing/2014/main" id="{B23CBB51-9868-4409-1565-7987E520BB89}"/>
              </a:ext>
            </a:extLst>
          </p:cNvPr>
          <p:cNvPicPr>
            <a:picLocks noChangeAspect="1"/>
          </p:cNvPicPr>
          <p:nvPr/>
        </p:nvPicPr>
        <p:blipFill>
          <a:blip r:embed="rId10"/>
          <a:stretch>
            <a:fillRect/>
          </a:stretch>
        </p:blipFill>
        <p:spPr>
          <a:xfrm>
            <a:off x="1693334" y="2987524"/>
            <a:ext cx="193524" cy="4354286"/>
          </a:xfrm>
          <a:prstGeom prst="rect">
            <a:avLst/>
          </a:prstGeom>
        </p:spPr>
      </p:pic>
      <p:pic>
        <p:nvPicPr>
          <p:cNvPr id="13" name="Picture 13">
            <a:extLst>
              <a:ext uri="{FF2B5EF4-FFF2-40B4-BE49-F238E27FC236}">
                <a16:creationId xmlns:a16="http://schemas.microsoft.com/office/drawing/2014/main" id="{C45C7119-B1FC-C3EE-DD08-B25A1A2BBCBE}"/>
              </a:ext>
            </a:extLst>
          </p:cNvPr>
          <p:cNvPicPr>
            <a:picLocks noChangeAspect="1"/>
          </p:cNvPicPr>
          <p:nvPr/>
        </p:nvPicPr>
        <p:blipFill>
          <a:blip r:embed="rId10"/>
          <a:stretch>
            <a:fillRect/>
          </a:stretch>
        </p:blipFill>
        <p:spPr>
          <a:xfrm>
            <a:off x="12530667" y="2987524"/>
            <a:ext cx="193524" cy="4354286"/>
          </a:xfrm>
          <a:prstGeom prst="rect">
            <a:avLst/>
          </a:prstGeom>
        </p:spPr>
      </p:pic>
      <p:pic>
        <p:nvPicPr>
          <p:cNvPr id="14" name="Picture 14">
            <a:extLst>
              <a:ext uri="{FF2B5EF4-FFF2-40B4-BE49-F238E27FC236}">
                <a16:creationId xmlns:a16="http://schemas.microsoft.com/office/drawing/2014/main" id="{2BA05E24-529D-7A62-C5BB-E6C83EC152AC}"/>
              </a:ext>
            </a:extLst>
          </p:cNvPr>
          <p:cNvPicPr>
            <a:picLocks noChangeAspect="1"/>
          </p:cNvPicPr>
          <p:nvPr/>
        </p:nvPicPr>
        <p:blipFill>
          <a:blip r:embed="rId11"/>
          <a:stretch>
            <a:fillRect/>
          </a:stretch>
        </p:blipFill>
        <p:spPr>
          <a:xfrm flipV="1">
            <a:off x="1790096" y="2185368"/>
            <a:ext cx="13470467" cy="72571"/>
          </a:xfrm>
          <a:prstGeom prst="rect">
            <a:avLst/>
          </a:prstGeom>
        </p:spPr>
      </p:pic>
      <p:sp>
        <p:nvSpPr>
          <p:cNvPr id="15" name="TextBox 15">
            <a:extLst>
              <a:ext uri="{FF2B5EF4-FFF2-40B4-BE49-F238E27FC236}">
                <a16:creationId xmlns:a16="http://schemas.microsoft.com/office/drawing/2014/main" id="{F9103F9E-C01E-CFF5-5B32-4835E425D3B6}"/>
              </a:ext>
            </a:extLst>
          </p:cNvPr>
          <p:cNvSpPr txBox="1"/>
          <p:nvPr/>
        </p:nvSpPr>
        <p:spPr>
          <a:xfrm>
            <a:off x="13062857" y="4318000"/>
            <a:ext cx="9221409" cy="2515809"/>
          </a:xfrm>
          <a:prstGeom prst="rect">
            <a:avLst/>
          </a:prstGeom>
        </p:spPr>
        <p:txBody>
          <a:bodyPr wrap="squar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5000"/>
              </a:lnSpc>
              <a:spcBef>
                <a:spcPct val="0"/>
              </a:spcBef>
              <a:spcAft>
                <a:spcPct val="3000"/>
              </a:spcAft>
            </a:pPr>
            <a:r>
              <a:rPr lang="en-US" sz="3340" b="0" i="0" u="none" strike="noStrike" dirty="0">
                <a:solidFill>
                  <a:srgbClr val="111111"/>
                </a:solidFill>
                <a:latin typeface="Embedded Inter"/>
              </a:rPr>
              <a:t>Over 50M social media users where viral</a:t>
            </a:r>
          </a:p>
          <a:p>
            <a:pPr marL="0" algn="l" fontAlgn="base">
              <a:lnSpc>
                <a:spcPct val="105000"/>
              </a:lnSpc>
              <a:spcBef>
                <a:spcPct val="0"/>
              </a:spcBef>
              <a:spcAft>
                <a:spcPct val="3000"/>
              </a:spcAft>
            </a:pPr>
            <a:r>
              <a:rPr lang="en-US" sz="3340" b="0" i="0" u="none" strike="noStrike" dirty="0">
                <a:solidFill>
                  <a:srgbClr val="111111"/>
                </a:solidFill>
                <a:latin typeface="Embedded Inter"/>
              </a:rPr>
              <a:t>rumors spread 6x faster than factual</a:t>
            </a:r>
          </a:p>
          <a:p>
            <a:pPr marL="0" algn="l" fontAlgn="base">
              <a:lnSpc>
                <a:spcPct val="105000"/>
              </a:lnSpc>
              <a:spcBef>
                <a:spcPct val="0"/>
              </a:spcBef>
              <a:spcAft>
                <a:spcPct val="3000"/>
              </a:spcAft>
            </a:pPr>
            <a:r>
              <a:rPr lang="en-US" sz="3340" b="0" i="0" u="none" strike="noStrike" dirty="0">
                <a:solidFill>
                  <a:srgbClr val="111111"/>
                </a:solidFill>
                <a:latin typeface="Embedded Inter"/>
              </a:rPr>
              <a:t>reporting, causing real-world panic and</a:t>
            </a:r>
          </a:p>
          <a:p>
            <a:pPr marL="0" algn="l" fontAlgn="base">
              <a:lnSpc>
                <a:spcPct val="105000"/>
              </a:lnSpc>
              <a:spcBef>
                <a:spcPct val="0"/>
              </a:spcBef>
              <a:spcAft>
                <a:spcPct val="3000"/>
              </a:spcAft>
            </a:pPr>
            <a:r>
              <a:rPr lang="en-US" sz="3340" b="0" i="0" u="none" strike="noStrike" dirty="0">
                <a:solidFill>
                  <a:srgbClr val="111111"/>
                </a:solidFill>
                <a:latin typeface="Embedded Inter"/>
              </a:rPr>
              <a:t>unrest.</a:t>
            </a:r>
          </a:p>
          <a:p>
            <a:pPr marL="0" algn="l">
              <a:lnSpc>
                <a:spcPct val="110000"/>
              </a:lnSpc>
              <a:spcBef>
                <a:spcPct val="0"/>
              </a:spcBef>
              <a:spcAft>
                <a:spcPct val="0"/>
              </a:spcAft>
            </a:pPr>
            <a:r>
              <a:rPr lang="en-US" sz="100" dirty="0">
                <a:latin typeface="Embedded Inter"/>
              </a:rPr>
              <a:t> </a:t>
            </a:r>
          </a:p>
        </p:txBody>
      </p:sp>
      <p:sp>
        <p:nvSpPr>
          <p:cNvPr id="16" name="TextBox 16">
            <a:extLst>
              <a:ext uri="{FF2B5EF4-FFF2-40B4-BE49-F238E27FC236}">
                <a16:creationId xmlns:a16="http://schemas.microsoft.com/office/drawing/2014/main" id="{8B3EC1A7-25E1-9061-5A83-966AF4FE0E27}"/>
              </a:ext>
            </a:extLst>
          </p:cNvPr>
          <p:cNvSpPr txBox="1"/>
          <p:nvPr/>
        </p:nvSpPr>
        <p:spPr>
          <a:xfrm>
            <a:off x="2225524" y="9035144"/>
            <a:ext cx="9221409" cy="2515809"/>
          </a:xfrm>
          <a:prstGeom prst="rect">
            <a:avLst/>
          </a:prstGeom>
        </p:spPr>
        <p:txBody>
          <a:bodyPr wrap="square" lIns="0" tIns="0" rIns="0" bIns="0" rtlCol="0" anchor="t"/>
          <a:lstStyle/>
          <a:p>
            <a:pPr marL="0" algn="l">
              <a:lnSpc>
                <a:spcPct val="110000"/>
              </a:lnSpc>
              <a:spcBef>
                <a:spcPct val="0"/>
              </a:spcBef>
              <a:spcAft>
                <a:spcPct val="0"/>
              </a:spcAft>
            </a:pPr>
            <a:r>
              <a:rPr lang="en-US" sz="100">
                <a:latin typeface="Embedded Inter"/>
              </a:rPr>
              <a:t> </a:t>
            </a:r>
          </a:p>
          <a:p>
            <a:pPr marL="0" algn="l" fontAlgn="base">
              <a:lnSpc>
                <a:spcPct val="105000"/>
              </a:lnSpc>
              <a:spcBef>
                <a:spcPct val="0"/>
              </a:spcBef>
              <a:spcAft>
                <a:spcPct val="3000"/>
              </a:spcAft>
            </a:pPr>
            <a:r>
              <a:rPr lang="en-US" sz="3340" b="0" i="0" u="none" strike="noStrike">
                <a:solidFill>
                  <a:srgbClr val="111111"/>
                </a:solidFill>
                <a:latin typeface="Embedded Inter"/>
              </a:rPr>
              <a:t>Bangla is low-resource with few verified</a:t>
            </a:r>
          </a:p>
          <a:p>
            <a:pPr marL="0" algn="l" fontAlgn="base">
              <a:lnSpc>
                <a:spcPct val="105000"/>
              </a:lnSpc>
              <a:spcBef>
                <a:spcPct val="0"/>
              </a:spcBef>
              <a:spcAft>
                <a:spcPct val="3000"/>
              </a:spcAft>
            </a:pPr>
            <a:r>
              <a:rPr lang="en-US" sz="3340" b="0" i="0" u="none" strike="noStrike">
                <a:solidFill>
                  <a:srgbClr val="111111"/>
                </a:solidFill>
                <a:latin typeface="Embedded Inter"/>
              </a:rPr>
              <a:t>datasets. Standard news sites publish mixed</a:t>
            </a:r>
          </a:p>
          <a:p>
            <a:pPr marL="0" algn="l" fontAlgn="base">
              <a:lnSpc>
                <a:spcPct val="105000"/>
              </a:lnSpc>
              <a:spcBef>
                <a:spcPct val="0"/>
              </a:spcBef>
              <a:spcAft>
                <a:spcPct val="3000"/>
              </a:spcAft>
            </a:pPr>
            <a:r>
              <a:rPr lang="en-US" sz="3340" b="0" i="0" u="none" strike="noStrike">
                <a:solidFill>
                  <a:srgbClr val="111111"/>
                </a:solidFill>
                <a:latin typeface="Embedded Inter"/>
              </a:rPr>
              <a:t>content, so only certified fact-checkers</a:t>
            </a:r>
          </a:p>
          <a:p>
            <a:pPr marL="0" algn="l" fontAlgn="base">
              <a:lnSpc>
                <a:spcPct val="105000"/>
              </a:lnSpc>
              <a:spcBef>
                <a:spcPct val="0"/>
              </a:spcBef>
              <a:spcAft>
                <a:spcPct val="3000"/>
              </a:spcAft>
            </a:pPr>
            <a:r>
              <a:rPr lang="en-US" sz="3340" b="0" i="0" u="none" strike="noStrike">
                <a:solidFill>
                  <a:srgbClr val="111111"/>
                </a:solidFill>
                <a:latin typeface="Embedded Inter"/>
              </a:rPr>
              <a:t>confirm true fake claims.</a:t>
            </a:r>
          </a:p>
          <a:p>
            <a:pPr marL="0" algn="l">
              <a:lnSpc>
                <a:spcPct val="110000"/>
              </a:lnSpc>
              <a:spcBef>
                <a:spcPct val="0"/>
              </a:spcBef>
              <a:spcAft>
                <a:spcPct val="0"/>
              </a:spcAft>
            </a:pPr>
            <a:r>
              <a:rPr lang="en-US" sz="100">
                <a:latin typeface="Embedded Inter"/>
              </a:rPr>
              <a:t> </a:t>
            </a:r>
          </a:p>
        </p:txBody>
      </p:sp>
      <p:sp>
        <p:nvSpPr>
          <p:cNvPr id="17" name="TextBox 17">
            <a:extLst>
              <a:ext uri="{FF2B5EF4-FFF2-40B4-BE49-F238E27FC236}">
                <a16:creationId xmlns:a16="http://schemas.microsoft.com/office/drawing/2014/main" id="{D3A372B3-1109-F5FB-D9AA-81E27314EDDD}"/>
              </a:ext>
            </a:extLst>
          </p:cNvPr>
          <p:cNvSpPr txBox="1"/>
          <p:nvPr/>
        </p:nvSpPr>
        <p:spPr>
          <a:xfrm>
            <a:off x="13062857" y="9035144"/>
            <a:ext cx="9221409" cy="2515809"/>
          </a:xfrm>
          <a:prstGeom prst="rect">
            <a:avLst/>
          </a:prstGeom>
        </p:spPr>
        <p:txBody>
          <a:bodyPr wrap="square" lIns="0" tIns="0" rIns="0" bIns="0" rtlCol="0" anchor="t"/>
          <a:lstStyle/>
          <a:p>
            <a:pPr marL="0" algn="l">
              <a:lnSpc>
                <a:spcPct val="110000"/>
              </a:lnSpc>
              <a:spcBef>
                <a:spcPct val="0"/>
              </a:spcBef>
              <a:spcAft>
                <a:spcPct val="0"/>
              </a:spcAft>
            </a:pPr>
            <a:r>
              <a:rPr lang="en-US" sz="100">
                <a:latin typeface="Embedded Inter"/>
              </a:rPr>
              <a:t> </a:t>
            </a:r>
          </a:p>
          <a:p>
            <a:pPr marL="0" algn="l" fontAlgn="base">
              <a:lnSpc>
                <a:spcPct val="105000"/>
              </a:lnSpc>
              <a:spcBef>
                <a:spcPct val="0"/>
              </a:spcBef>
              <a:spcAft>
                <a:spcPct val="3000"/>
              </a:spcAft>
            </a:pPr>
            <a:r>
              <a:rPr lang="en-US" sz="3126" b="0" i="0" u="none" strike="noStrike">
                <a:solidFill>
                  <a:srgbClr val="111111"/>
                </a:solidFill>
                <a:latin typeface="Embedded Inter"/>
              </a:rPr>
              <a:t>Fake news operates simultaneously across</a:t>
            </a:r>
          </a:p>
          <a:p>
            <a:pPr marL="0" algn="l" fontAlgn="base">
              <a:lnSpc>
                <a:spcPct val="105000"/>
              </a:lnSpc>
              <a:spcBef>
                <a:spcPct val="0"/>
              </a:spcBef>
              <a:spcAft>
                <a:spcPct val="3000"/>
              </a:spcAft>
            </a:pPr>
            <a:r>
              <a:rPr lang="en-US" sz="3126" b="0" i="0" u="none" strike="noStrike">
                <a:solidFill>
                  <a:srgbClr val="111111"/>
                </a:solidFill>
                <a:latin typeface="Embedded Inter"/>
              </a:rPr>
              <a:t>Meaning (fabricated facts), Grammar (clickbait</a:t>
            </a:r>
          </a:p>
          <a:p>
            <a:pPr marL="0" algn="l" fontAlgn="base">
              <a:lnSpc>
                <a:spcPct val="105000"/>
              </a:lnSpc>
              <a:spcBef>
                <a:spcPct val="0"/>
              </a:spcBef>
              <a:spcAft>
                <a:spcPct val="3000"/>
              </a:spcAft>
            </a:pPr>
            <a:r>
              <a:rPr lang="en-US" sz="3126" b="0" i="0" u="none" strike="noStrike">
                <a:solidFill>
                  <a:srgbClr val="111111"/>
                </a:solidFill>
                <a:latin typeface="Embedded Inter"/>
              </a:rPr>
              <a:t>verbs), and Spelling (character repetition like</a:t>
            </a:r>
          </a:p>
          <a:p>
            <a:pPr marL="0" algn="l" fontAlgn="base">
              <a:lnSpc>
                <a:spcPct val="105000"/>
              </a:lnSpc>
              <a:spcBef>
                <a:spcPct val="0"/>
              </a:spcBef>
              <a:spcAft>
                <a:spcPct val="3000"/>
              </a:spcAft>
            </a:pPr>
            <a:r>
              <a:rPr lang="en-US" sz="3126" b="0" i="0" u="none" strike="noStrike">
                <a:solidFill>
                  <a:srgbClr val="111111"/>
                </a:solidFill>
                <a:latin typeface="Embedded Inter"/>
              </a:rPr>
              <a:t>"</a:t>
            </a:r>
            <a:r>
              <a:rPr lang="en-US" sz="3126" b="0" i="0" u="none" strike="noStrike">
                <a:solidFill>
                  <a:srgbClr val="111111"/>
                </a:solidFill>
                <a:cs typeface="Embedded Hind Siliguri"/>
              </a:rPr>
              <a:t>ভয়াবহ"</a:t>
            </a:r>
            <a:r>
              <a:rPr lang="en-US" sz="3126" b="0" i="0" u="none" strike="noStrike">
                <a:solidFill>
                  <a:srgbClr val="111111"/>
                </a:solidFill>
                <a:latin typeface="Embedded Hind Siliguri"/>
              </a:rPr>
              <a:t>).</a:t>
            </a:r>
          </a:p>
          <a:p>
            <a:pPr marL="0" algn="l">
              <a:lnSpc>
                <a:spcPct val="110000"/>
              </a:lnSpc>
              <a:spcBef>
                <a:spcPct val="0"/>
              </a:spcBef>
              <a:spcAft>
                <a:spcPct val="0"/>
              </a:spcAft>
            </a:pPr>
            <a:r>
              <a:rPr lang="en-US" sz="100">
                <a:latin typeface="Embedded Inter"/>
              </a:rPr>
              <a:t> </a:t>
            </a:r>
          </a:p>
        </p:txBody>
      </p:sp>
      <p:sp>
        <p:nvSpPr>
          <p:cNvPr id="18" name="TextBox 18">
            <a:extLst>
              <a:ext uri="{FF2B5EF4-FFF2-40B4-BE49-F238E27FC236}">
                <a16:creationId xmlns:a16="http://schemas.microsoft.com/office/drawing/2014/main" id="{5F4114EA-74DC-768C-F4CE-66658C119510}"/>
              </a:ext>
            </a:extLst>
          </p:cNvPr>
          <p:cNvSpPr txBox="1"/>
          <p:nvPr/>
        </p:nvSpPr>
        <p:spPr>
          <a:xfrm>
            <a:off x="1693334" y="1173238"/>
            <a:ext cx="16968229" cy="1064381"/>
          </a:xfrm>
          <a:prstGeom prst="rect">
            <a:avLst/>
          </a:prstGeom>
        </p:spPr>
        <p:txBody>
          <a:bodyPr wrap="none" lIns="0" tIns="0" rIns="0" bIns="0" rtlCol="0" anchor="t"/>
          <a:lstStyle/>
          <a:p>
            <a:pPr marL="0" algn="l">
              <a:lnSpc>
                <a:spcPct val="110000"/>
              </a:lnSpc>
              <a:spcBef>
                <a:spcPct val="0"/>
              </a:spcBef>
              <a:spcAft>
                <a:spcPct val="0"/>
              </a:spcAft>
            </a:pPr>
            <a:r>
              <a:rPr lang="en-US" sz="100">
                <a:latin typeface="Embedded Playfair Display"/>
              </a:rPr>
              <a:t> </a:t>
            </a:r>
          </a:p>
          <a:p>
            <a:pPr marL="0" algn="l" fontAlgn="base">
              <a:lnSpc>
                <a:spcPct val="100000"/>
              </a:lnSpc>
              <a:spcBef>
                <a:spcPct val="0"/>
              </a:spcBef>
              <a:spcAft>
                <a:spcPct val="0"/>
              </a:spcAft>
            </a:pPr>
            <a:r>
              <a:rPr lang="en-US" sz="6287" b="1" i="0" u="none" strike="noStrike">
                <a:solidFill>
                  <a:srgbClr val="111111"/>
                </a:solidFill>
                <a:latin typeface="Embedded Playfair Display"/>
              </a:rPr>
              <a:t>Introduction and Problem Statement</a:t>
            </a:r>
          </a:p>
          <a:p>
            <a:pPr marL="0" algn="l">
              <a:lnSpc>
                <a:spcPct val="110000"/>
              </a:lnSpc>
              <a:spcBef>
                <a:spcPct val="0"/>
              </a:spcBef>
              <a:spcAft>
                <a:spcPct val="0"/>
              </a:spcAft>
            </a:pPr>
            <a:r>
              <a:rPr lang="en-US" sz="100">
                <a:latin typeface="Embedded Playfair Display"/>
              </a:rPr>
              <a:t> </a:t>
            </a:r>
          </a:p>
        </p:txBody>
      </p:sp>
      <p:sp>
        <p:nvSpPr>
          <p:cNvPr id="19" name="TextBox 19">
            <a:extLst>
              <a:ext uri="{FF2B5EF4-FFF2-40B4-BE49-F238E27FC236}">
                <a16:creationId xmlns:a16="http://schemas.microsoft.com/office/drawing/2014/main" id="{453D0FC8-BAE7-4511-ECC2-B231795EF8C6}"/>
              </a:ext>
            </a:extLst>
          </p:cNvPr>
          <p:cNvSpPr txBox="1"/>
          <p:nvPr/>
        </p:nvSpPr>
        <p:spPr>
          <a:xfrm>
            <a:off x="2225524" y="4318000"/>
            <a:ext cx="9221409" cy="1886857"/>
          </a:xfrm>
          <a:prstGeom prst="rect">
            <a:avLst/>
          </a:prstGeom>
        </p:spPr>
        <p:txBody>
          <a:bodyPr wrap="square" lIns="0" tIns="0" rIns="0" bIns="0" rtlCol="0" anchor="t"/>
          <a:lstStyle/>
          <a:p>
            <a:pPr marL="0" algn="l">
              <a:lnSpc>
                <a:spcPct val="110000"/>
              </a:lnSpc>
              <a:spcBef>
                <a:spcPct val="0"/>
              </a:spcBef>
              <a:spcAft>
                <a:spcPct val="0"/>
              </a:spcAft>
            </a:pPr>
            <a:r>
              <a:rPr lang="en-US" sz="100">
                <a:latin typeface="Embedded Inter"/>
              </a:rPr>
              <a:t> </a:t>
            </a:r>
          </a:p>
          <a:p>
            <a:pPr marL="0" algn="l" fontAlgn="base">
              <a:lnSpc>
                <a:spcPct val="105000"/>
              </a:lnSpc>
              <a:spcBef>
                <a:spcPct val="0"/>
              </a:spcBef>
              <a:spcAft>
                <a:spcPct val="3000"/>
              </a:spcAft>
            </a:pPr>
            <a:r>
              <a:rPr lang="en-US" sz="3410" b="0" i="0" u="none" strike="noStrike">
                <a:solidFill>
                  <a:srgbClr val="111111"/>
                </a:solidFill>
                <a:latin typeface="Embedded Inter"/>
              </a:rPr>
              <a:t>Fabricated or distorted information created</a:t>
            </a:r>
          </a:p>
          <a:p>
            <a:pPr marL="0" algn="l" fontAlgn="base">
              <a:lnSpc>
                <a:spcPct val="105000"/>
              </a:lnSpc>
              <a:spcBef>
                <a:spcPct val="0"/>
              </a:spcBef>
              <a:spcAft>
                <a:spcPct val="3000"/>
              </a:spcAft>
            </a:pPr>
            <a:r>
              <a:rPr lang="en-US" sz="3410" b="0" i="0" u="none" strike="noStrike">
                <a:solidFill>
                  <a:srgbClr val="111111"/>
                </a:solidFill>
                <a:latin typeface="Embedded Inter"/>
              </a:rPr>
              <a:t>intentionally to deceive readers and</a:t>
            </a:r>
          </a:p>
          <a:p>
            <a:pPr marL="0" algn="l" fontAlgn="base">
              <a:lnSpc>
                <a:spcPct val="105000"/>
              </a:lnSpc>
              <a:spcBef>
                <a:spcPct val="0"/>
              </a:spcBef>
              <a:spcAft>
                <a:spcPct val="3000"/>
              </a:spcAft>
            </a:pPr>
            <a:r>
              <a:rPr lang="en-US" sz="3410" b="0" i="0" u="none" strike="noStrike">
                <a:solidFill>
                  <a:srgbClr val="111111"/>
                </a:solidFill>
                <a:latin typeface="Embedded Inter"/>
              </a:rPr>
              <a:t>manipulate public opinion.</a:t>
            </a:r>
          </a:p>
          <a:p>
            <a:pPr marL="0" algn="l">
              <a:lnSpc>
                <a:spcPct val="110000"/>
              </a:lnSpc>
              <a:spcBef>
                <a:spcPct val="0"/>
              </a:spcBef>
              <a:spcAft>
                <a:spcPct val="0"/>
              </a:spcAft>
            </a:pPr>
            <a:r>
              <a:rPr lang="en-US" sz="100">
                <a:latin typeface="Embedded Inter"/>
              </a:rPr>
              <a:t> </a:t>
            </a:r>
          </a:p>
        </p:txBody>
      </p:sp>
      <p:sp>
        <p:nvSpPr>
          <p:cNvPr id="20" name="TextBox 20">
            <a:extLst>
              <a:ext uri="{FF2B5EF4-FFF2-40B4-BE49-F238E27FC236}">
                <a16:creationId xmlns:a16="http://schemas.microsoft.com/office/drawing/2014/main" id="{B7B9825A-A620-DC10-075C-0DE2EEAF447A}"/>
              </a:ext>
            </a:extLst>
          </p:cNvPr>
          <p:cNvSpPr txBox="1"/>
          <p:nvPr/>
        </p:nvSpPr>
        <p:spPr>
          <a:xfrm>
            <a:off x="2225524" y="3350381"/>
            <a:ext cx="10604621" cy="774095"/>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Arial"/>
              </a:rPr>
              <a:t> </a:t>
            </a:r>
          </a:p>
          <a:p>
            <a:pPr marL="0" algn="l" fontAlgn="base">
              <a:lnSpc>
                <a:spcPct val="100000"/>
              </a:lnSpc>
              <a:spcBef>
                <a:spcPct val="0"/>
              </a:spcBef>
              <a:spcAft>
                <a:spcPct val="0"/>
              </a:spcAft>
            </a:pPr>
            <a:r>
              <a:rPr lang="en-US" sz="5333" b="1" i="0" u="none" strike="noStrike" dirty="0">
                <a:solidFill>
                  <a:srgbClr val="D94F3A"/>
                </a:solidFill>
                <a:latin typeface="Embedded Arial"/>
              </a:rPr>
              <a:t>What is Fake News?</a:t>
            </a:r>
          </a:p>
          <a:p>
            <a:pPr marL="0" algn="l">
              <a:lnSpc>
                <a:spcPct val="110000"/>
              </a:lnSpc>
              <a:spcBef>
                <a:spcPct val="0"/>
              </a:spcBef>
              <a:spcAft>
                <a:spcPct val="0"/>
              </a:spcAft>
            </a:pPr>
            <a:r>
              <a:rPr lang="en-US" sz="100" dirty="0">
                <a:latin typeface="Embedded Arial"/>
              </a:rPr>
              <a:t> </a:t>
            </a:r>
          </a:p>
        </p:txBody>
      </p:sp>
      <p:sp>
        <p:nvSpPr>
          <p:cNvPr id="21" name="TextBox 21">
            <a:extLst>
              <a:ext uri="{FF2B5EF4-FFF2-40B4-BE49-F238E27FC236}">
                <a16:creationId xmlns:a16="http://schemas.microsoft.com/office/drawing/2014/main" id="{D5CAAFF6-36A6-BF25-27FB-398D093C2942}"/>
              </a:ext>
            </a:extLst>
          </p:cNvPr>
          <p:cNvSpPr txBox="1"/>
          <p:nvPr/>
        </p:nvSpPr>
        <p:spPr>
          <a:xfrm>
            <a:off x="13062857" y="3350381"/>
            <a:ext cx="10604621" cy="774095"/>
          </a:xfrm>
          <a:prstGeom prst="rect">
            <a:avLst/>
          </a:prstGeom>
        </p:spPr>
        <p:txBody>
          <a:bodyPr wrap="none" lIns="0" tIns="0" rIns="0" bIns="0" rtlCol="0" anchor="t"/>
          <a:lstStyle/>
          <a:p>
            <a:pPr marL="0" algn="l">
              <a:lnSpc>
                <a:spcPct val="110000"/>
              </a:lnSpc>
              <a:spcBef>
                <a:spcPct val="0"/>
              </a:spcBef>
              <a:spcAft>
                <a:spcPct val="0"/>
              </a:spcAft>
            </a:pPr>
            <a:r>
              <a:rPr lang="en-US" sz="100">
                <a:latin typeface="Embedded Arial"/>
              </a:rPr>
              <a:t> </a:t>
            </a:r>
          </a:p>
          <a:p>
            <a:pPr marL="0" algn="l" fontAlgn="base">
              <a:lnSpc>
                <a:spcPct val="100000"/>
              </a:lnSpc>
              <a:spcBef>
                <a:spcPct val="0"/>
              </a:spcBef>
              <a:spcAft>
                <a:spcPct val="0"/>
              </a:spcAft>
            </a:pPr>
            <a:r>
              <a:rPr lang="en-US" sz="5333" b="1" i="0" u="none" strike="noStrike">
                <a:solidFill>
                  <a:srgbClr val="D94F3A"/>
                </a:solidFill>
                <a:latin typeface="Embedded Arial"/>
              </a:rPr>
              <a:t>Social Impact in Bangladesh</a:t>
            </a:r>
          </a:p>
          <a:p>
            <a:pPr marL="0" algn="l">
              <a:lnSpc>
                <a:spcPct val="110000"/>
              </a:lnSpc>
              <a:spcBef>
                <a:spcPct val="0"/>
              </a:spcBef>
              <a:spcAft>
                <a:spcPct val="0"/>
              </a:spcAft>
            </a:pPr>
            <a:r>
              <a:rPr lang="en-US" sz="100">
                <a:latin typeface="Embedded Arial"/>
              </a:rPr>
              <a:t> </a:t>
            </a:r>
          </a:p>
        </p:txBody>
      </p:sp>
      <p:sp>
        <p:nvSpPr>
          <p:cNvPr id="22" name="TextBox 22">
            <a:extLst>
              <a:ext uri="{FF2B5EF4-FFF2-40B4-BE49-F238E27FC236}">
                <a16:creationId xmlns:a16="http://schemas.microsoft.com/office/drawing/2014/main" id="{B5F91377-FBF5-B9D9-3F9B-CE1F3C972EDD}"/>
              </a:ext>
            </a:extLst>
          </p:cNvPr>
          <p:cNvSpPr txBox="1"/>
          <p:nvPr/>
        </p:nvSpPr>
        <p:spPr>
          <a:xfrm>
            <a:off x="2225524" y="8067524"/>
            <a:ext cx="10604621" cy="774095"/>
          </a:xfrm>
          <a:prstGeom prst="rect">
            <a:avLst/>
          </a:prstGeom>
        </p:spPr>
        <p:txBody>
          <a:bodyPr wrap="none" lIns="0" tIns="0" rIns="0" bIns="0" rtlCol="0" anchor="t"/>
          <a:lstStyle/>
          <a:p>
            <a:pPr marL="0" algn="l">
              <a:lnSpc>
                <a:spcPct val="110000"/>
              </a:lnSpc>
              <a:spcBef>
                <a:spcPct val="0"/>
              </a:spcBef>
              <a:spcAft>
                <a:spcPct val="0"/>
              </a:spcAft>
            </a:pPr>
            <a:r>
              <a:rPr lang="en-US" sz="100">
                <a:latin typeface="Embedded Arial"/>
              </a:rPr>
              <a:t> </a:t>
            </a:r>
          </a:p>
          <a:p>
            <a:pPr marL="0" algn="l" fontAlgn="base">
              <a:lnSpc>
                <a:spcPct val="100000"/>
              </a:lnSpc>
              <a:spcBef>
                <a:spcPct val="0"/>
              </a:spcBef>
              <a:spcAft>
                <a:spcPct val="0"/>
              </a:spcAft>
            </a:pPr>
            <a:r>
              <a:rPr lang="en-US" sz="5333" b="1" i="0" u="none" strike="noStrike">
                <a:solidFill>
                  <a:srgbClr val="D94F3A"/>
                </a:solidFill>
                <a:latin typeface="Embedded Arial"/>
              </a:rPr>
              <a:t>Dataset Scarcity</a:t>
            </a:r>
          </a:p>
          <a:p>
            <a:pPr marL="0" algn="l">
              <a:lnSpc>
                <a:spcPct val="110000"/>
              </a:lnSpc>
              <a:spcBef>
                <a:spcPct val="0"/>
              </a:spcBef>
              <a:spcAft>
                <a:spcPct val="0"/>
              </a:spcAft>
            </a:pPr>
            <a:r>
              <a:rPr lang="en-US" sz="100">
                <a:latin typeface="Embedded Arial"/>
              </a:rPr>
              <a:t> </a:t>
            </a:r>
          </a:p>
        </p:txBody>
      </p:sp>
      <p:sp>
        <p:nvSpPr>
          <p:cNvPr id="23" name="TextBox 23">
            <a:extLst>
              <a:ext uri="{FF2B5EF4-FFF2-40B4-BE49-F238E27FC236}">
                <a16:creationId xmlns:a16="http://schemas.microsoft.com/office/drawing/2014/main" id="{1B30B48A-5226-277D-DF51-5C98A9638555}"/>
              </a:ext>
            </a:extLst>
          </p:cNvPr>
          <p:cNvSpPr txBox="1"/>
          <p:nvPr/>
        </p:nvSpPr>
        <p:spPr>
          <a:xfrm>
            <a:off x="13062857" y="8067524"/>
            <a:ext cx="10604621" cy="657981"/>
          </a:xfrm>
          <a:prstGeom prst="rect">
            <a:avLst/>
          </a:prstGeom>
        </p:spPr>
        <p:txBody>
          <a:bodyPr wrap="none" lIns="0" tIns="0" rIns="0" bIns="0" rtlCol="0" anchor="t"/>
          <a:lstStyle/>
          <a:p>
            <a:pPr marL="0" algn="l">
              <a:lnSpc>
                <a:spcPct val="110000"/>
              </a:lnSpc>
              <a:spcBef>
                <a:spcPct val="0"/>
              </a:spcBef>
              <a:spcAft>
                <a:spcPct val="0"/>
              </a:spcAft>
            </a:pPr>
            <a:r>
              <a:rPr lang="en-US" sz="100">
                <a:latin typeface="Embedded Arial"/>
              </a:rPr>
              <a:t> </a:t>
            </a:r>
          </a:p>
          <a:p>
            <a:pPr marL="0" algn="l" fontAlgn="base">
              <a:lnSpc>
                <a:spcPct val="100000"/>
              </a:lnSpc>
              <a:spcBef>
                <a:spcPct val="0"/>
              </a:spcBef>
              <a:spcAft>
                <a:spcPct val="0"/>
              </a:spcAft>
            </a:pPr>
            <a:r>
              <a:rPr lang="en-US" sz="4571" b="1" i="0" u="none" strike="noStrike">
                <a:solidFill>
                  <a:srgbClr val="D94F3A"/>
                </a:solidFill>
                <a:latin typeface="Embedded Arial"/>
              </a:rPr>
              <a:t>Multi-Level Linguistic Deception</a:t>
            </a:r>
          </a:p>
          <a:p>
            <a:pPr marL="0" algn="l">
              <a:lnSpc>
                <a:spcPct val="110000"/>
              </a:lnSpc>
              <a:spcBef>
                <a:spcPct val="0"/>
              </a:spcBef>
              <a:spcAft>
                <a:spcPct val="0"/>
              </a:spcAft>
            </a:pPr>
            <a:r>
              <a:rPr lang="en-US" sz="100">
                <a:latin typeface="Embedded Arial"/>
              </a:rPr>
              <a:t> </a:t>
            </a:r>
          </a:p>
        </p:txBody>
      </p:sp>
      <p:pic>
        <p:nvPicPr>
          <p:cNvPr id="24" name="Picture 24">
            <a:extLst>
              <a:ext uri="{FF2B5EF4-FFF2-40B4-BE49-F238E27FC236}">
                <a16:creationId xmlns:a16="http://schemas.microsoft.com/office/drawing/2014/main" id="{A515FC63-90AE-86B8-CE8B-8454592CF2CC}"/>
              </a:ext>
            </a:extLst>
          </p:cNvPr>
          <p:cNvPicPr>
            <a:picLocks noChangeAspect="1"/>
          </p:cNvPicPr>
          <p:nvPr/>
        </p:nvPicPr>
        <p:blipFill>
          <a:blip r:embed="rId12"/>
          <a:stretch>
            <a:fillRect/>
          </a:stretch>
        </p:blipFill>
        <p:spPr>
          <a:xfrm>
            <a:off x="22158476" y="-1270000"/>
            <a:ext cx="3193143" cy="3193143"/>
          </a:xfrm>
          <a:prstGeom prst="rect">
            <a:avLst/>
          </a:prstGeom>
        </p:spPr>
      </p:pic>
      <p:sp>
        <p:nvSpPr>
          <p:cNvPr id="25" name="TextBox 25">
            <a:extLst>
              <a:ext uri="{FF2B5EF4-FFF2-40B4-BE49-F238E27FC236}">
                <a16:creationId xmlns:a16="http://schemas.microsoft.com/office/drawing/2014/main" id="{495B0F3F-E114-B0E6-C70E-4CE38D0C2561}"/>
              </a:ext>
            </a:extLst>
          </p:cNvPr>
          <p:cNvSpPr txBox="1"/>
          <p:nvPr/>
        </p:nvSpPr>
        <p:spPr>
          <a:xfrm>
            <a:off x="23121257" y="616857"/>
            <a:ext cx="339392"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777" dirty="0">
                <a:solidFill>
                  <a:srgbClr val="F2F0EC"/>
                </a:solidFill>
                <a:latin typeface="Embedded Inter"/>
              </a:rPr>
              <a:t>3</a:t>
            </a:r>
            <a:endParaRPr lang="en-US" sz="3777" b="0" i="0" u="none" strike="noStrike" dirty="0">
              <a:solidFill>
                <a:srgbClr val="F2F0EC"/>
              </a:solidFill>
              <a:latin typeface="Embedded Inter"/>
            </a:endParaRPr>
          </a:p>
          <a:p>
            <a:pPr marL="0" algn="l">
              <a:lnSpc>
                <a:spcPct val="110000"/>
              </a:lnSpc>
              <a:spcBef>
                <a:spcPct val="0"/>
              </a:spcBef>
              <a:spcAft>
                <a:spcPct val="0"/>
              </a:spcAft>
            </a:pPr>
            <a:r>
              <a:rPr lang="en-US" sz="100" dirty="0">
                <a:latin typeface="Embedded Inter"/>
              </a:rPr>
              <a:t> </a:t>
            </a:r>
          </a:p>
        </p:txBody>
      </p:sp>
    </p:spTree>
    <p:extLst>
      <p:ext uri="{BB962C8B-B14F-4D97-AF65-F5344CB8AC3E}">
        <p14:creationId xmlns:p14="http://schemas.microsoft.com/office/powerpoint/2010/main" val="26417079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1" y="478054"/>
            <a:ext cx="23222857" cy="12951209"/>
          </a:xfrm>
          <a:prstGeom prst="rect">
            <a:avLst/>
          </a:prstGeom>
        </p:spPr>
      </p:pic>
      <p:pic>
        <p:nvPicPr>
          <p:cNvPr id="12" name="Picture 12"/>
          <p:cNvPicPr>
            <a:picLocks noChangeAspect="1"/>
          </p:cNvPicPr>
          <p:nvPr/>
        </p:nvPicPr>
        <p:blipFill>
          <a:blip r:embed="rId5"/>
          <a:stretch>
            <a:fillRect/>
          </a:stretch>
        </p:blipFill>
        <p:spPr>
          <a:xfrm>
            <a:off x="13170808" y="5789387"/>
            <a:ext cx="3755269" cy="24190"/>
          </a:xfrm>
          <a:prstGeom prst="rect">
            <a:avLst/>
          </a:prstGeom>
        </p:spPr>
      </p:pic>
      <p:pic>
        <p:nvPicPr>
          <p:cNvPr id="13" name="Picture 13"/>
          <p:cNvPicPr>
            <a:picLocks noChangeAspect="1"/>
          </p:cNvPicPr>
          <p:nvPr/>
        </p:nvPicPr>
        <p:blipFill>
          <a:blip r:embed="rId5"/>
          <a:stretch>
            <a:fillRect/>
          </a:stretch>
        </p:blipFill>
        <p:spPr>
          <a:xfrm>
            <a:off x="13170808" y="8285842"/>
            <a:ext cx="3755269" cy="24190"/>
          </a:xfrm>
          <a:prstGeom prst="rect">
            <a:avLst/>
          </a:prstGeom>
        </p:spPr>
      </p:pic>
      <p:pic>
        <p:nvPicPr>
          <p:cNvPr id="14" name="Picture 14"/>
          <p:cNvPicPr>
            <a:picLocks noChangeAspect="1"/>
          </p:cNvPicPr>
          <p:nvPr/>
        </p:nvPicPr>
        <p:blipFill>
          <a:blip r:embed="rId5"/>
          <a:stretch>
            <a:fillRect/>
          </a:stretch>
        </p:blipFill>
        <p:spPr>
          <a:xfrm>
            <a:off x="13170808" y="10782301"/>
            <a:ext cx="3755269" cy="24190"/>
          </a:xfrm>
          <a:prstGeom prst="rect">
            <a:avLst/>
          </a:prstGeom>
        </p:spPr>
      </p:pic>
      <p:pic>
        <p:nvPicPr>
          <p:cNvPr id="15" name="Picture 15"/>
          <p:cNvPicPr>
            <a:picLocks noChangeAspect="1"/>
          </p:cNvPicPr>
          <p:nvPr/>
        </p:nvPicPr>
        <p:blipFill>
          <a:blip r:embed="rId5"/>
          <a:stretch>
            <a:fillRect/>
          </a:stretch>
        </p:blipFill>
        <p:spPr>
          <a:xfrm>
            <a:off x="13170808" y="13278757"/>
            <a:ext cx="3755269" cy="24190"/>
          </a:xfrm>
          <a:prstGeom prst="rect">
            <a:avLst/>
          </a:prstGeom>
        </p:spPr>
      </p:pic>
      <p:pic>
        <p:nvPicPr>
          <p:cNvPr id="16" name="Picture 16"/>
          <p:cNvPicPr>
            <a:picLocks noChangeAspect="1"/>
          </p:cNvPicPr>
          <p:nvPr/>
        </p:nvPicPr>
        <p:blipFill>
          <a:blip r:embed="rId5"/>
          <a:stretch>
            <a:fillRect/>
          </a:stretch>
        </p:blipFill>
        <p:spPr>
          <a:xfrm>
            <a:off x="13170808" y="13367657"/>
            <a:ext cx="3755269" cy="24190"/>
          </a:xfrm>
          <a:prstGeom prst="rect">
            <a:avLst/>
          </a:prstGeom>
        </p:spPr>
      </p:pic>
      <p:pic>
        <p:nvPicPr>
          <p:cNvPr id="17" name="Picture 17"/>
          <p:cNvPicPr>
            <a:picLocks noChangeAspect="1"/>
          </p:cNvPicPr>
          <p:nvPr/>
        </p:nvPicPr>
        <p:blipFill>
          <a:blip r:embed="rId6"/>
          <a:stretch>
            <a:fillRect/>
          </a:stretch>
        </p:blipFill>
        <p:spPr>
          <a:xfrm>
            <a:off x="1693334" y="5789387"/>
            <a:ext cx="3189817" cy="24190"/>
          </a:xfrm>
          <a:prstGeom prst="rect">
            <a:avLst/>
          </a:prstGeom>
        </p:spPr>
      </p:pic>
      <p:pic>
        <p:nvPicPr>
          <p:cNvPr id="18" name="Picture 18"/>
          <p:cNvPicPr>
            <a:picLocks noChangeAspect="1"/>
          </p:cNvPicPr>
          <p:nvPr/>
        </p:nvPicPr>
        <p:blipFill>
          <a:blip r:embed="rId7"/>
          <a:stretch>
            <a:fillRect/>
          </a:stretch>
        </p:blipFill>
        <p:spPr>
          <a:xfrm>
            <a:off x="4883150" y="5789387"/>
            <a:ext cx="3237290" cy="24190"/>
          </a:xfrm>
          <a:prstGeom prst="rect">
            <a:avLst/>
          </a:prstGeom>
        </p:spPr>
      </p:pic>
      <p:pic>
        <p:nvPicPr>
          <p:cNvPr id="19" name="Picture 19"/>
          <p:cNvPicPr>
            <a:picLocks noChangeAspect="1"/>
          </p:cNvPicPr>
          <p:nvPr/>
        </p:nvPicPr>
        <p:blipFill>
          <a:blip r:embed="rId7"/>
          <a:stretch>
            <a:fillRect/>
          </a:stretch>
        </p:blipFill>
        <p:spPr>
          <a:xfrm>
            <a:off x="4883150" y="8285842"/>
            <a:ext cx="3237290" cy="24190"/>
          </a:xfrm>
          <a:prstGeom prst="rect">
            <a:avLst/>
          </a:prstGeom>
        </p:spPr>
      </p:pic>
      <p:pic>
        <p:nvPicPr>
          <p:cNvPr id="20" name="Picture 20"/>
          <p:cNvPicPr>
            <a:picLocks noChangeAspect="1"/>
          </p:cNvPicPr>
          <p:nvPr/>
        </p:nvPicPr>
        <p:blipFill>
          <a:blip r:embed="rId7"/>
          <a:stretch>
            <a:fillRect/>
          </a:stretch>
        </p:blipFill>
        <p:spPr>
          <a:xfrm>
            <a:off x="4883150" y="10782301"/>
            <a:ext cx="3237290" cy="24190"/>
          </a:xfrm>
          <a:prstGeom prst="rect">
            <a:avLst/>
          </a:prstGeom>
        </p:spPr>
      </p:pic>
      <p:pic>
        <p:nvPicPr>
          <p:cNvPr id="21" name="Picture 21"/>
          <p:cNvPicPr>
            <a:picLocks noChangeAspect="1"/>
          </p:cNvPicPr>
          <p:nvPr/>
        </p:nvPicPr>
        <p:blipFill>
          <a:blip r:embed="rId8"/>
          <a:stretch>
            <a:fillRect/>
          </a:stretch>
        </p:blipFill>
        <p:spPr>
          <a:xfrm>
            <a:off x="8120441" y="5789387"/>
            <a:ext cx="2890460" cy="24190"/>
          </a:xfrm>
          <a:prstGeom prst="rect">
            <a:avLst/>
          </a:prstGeom>
        </p:spPr>
      </p:pic>
      <p:pic>
        <p:nvPicPr>
          <p:cNvPr id="22" name="Picture 22"/>
          <p:cNvPicPr>
            <a:picLocks noChangeAspect="1"/>
          </p:cNvPicPr>
          <p:nvPr/>
        </p:nvPicPr>
        <p:blipFill>
          <a:blip r:embed="rId6"/>
          <a:stretch>
            <a:fillRect/>
          </a:stretch>
        </p:blipFill>
        <p:spPr>
          <a:xfrm>
            <a:off x="1693334" y="8285842"/>
            <a:ext cx="3189817" cy="24190"/>
          </a:xfrm>
          <a:prstGeom prst="rect">
            <a:avLst/>
          </a:prstGeom>
        </p:spPr>
      </p:pic>
      <p:pic>
        <p:nvPicPr>
          <p:cNvPr id="23" name="Picture 23"/>
          <p:cNvPicPr>
            <a:picLocks noChangeAspect="1"/>
          </p:cNvPicPr>
          <p:nvPr/>
        </p:nvPicPr>
        <p:blipFill>
          <a:blip r:embed="rId8"/>
          <a:stretch>
            <a:fillRect/>
          </a:stretch>
        </p:blipFill>
        <p:spPr>
          <a:xfrm>
            <a:off x="8120441" y="8285842"/>
            <a:ext cx="2890460" cy="24190"/>
          </a:xfrm>
          <a:prstGeom prst="rect">
            <a:avLst/>
          </a:prstGeom>
        </p:spPr>
      </p:pic>
      <p:pic>
        <p:nvPicPr>
          <p:cNvPr id="24" name="Picture 24"/>
          <p:cNvPicPr>
            <a:picLocks noChangeAspect="1"/>
          </p:cNvPicPr>
          <p:nvPr/>
        </p:nvPicPr>
        <p:blipFill>
          <a:blip r:embed="rId6"/>
          <a:stretch>
            <a:fillRect/>
          </a:stretch>
        </p:blipFill>
        <p:spPr>
          <a:xfrm>
            <a:off x="1693334" y="10782301"/>
            <a:ext cx="3189817" cy="24190"/>
          </a:xfrm>
          <a:prstGeom prst="rect">
            <a:avLst/>
          </a:prstGeom>
        </p:spPr>
      </p:pic>
      <p:pic>
        <p:nvPicPr>
          <p:cNvPr id="25" name="Picture 25"/>
          <p:cNvPicPr>
            <a:picLocks noChangeAspect="1"/>
          </p:cNvPicPr>
          <p:nvPr/>
        </p:nvPicPr>
        <p:blipFill>
          <a:blip r:embed="rId8"/>
          <a:stretch>
            <a:fillRect/>
          </a:stretch>
        </p:blipFill>
        <p:spPr>
          <a:xfrm>
            <a:off x="8120441" y="10782301"/>
            <a:ext cx="2890460" cy="24190"/>
          </a:xfrm>
          <a:prstGeom prst="rect">
            <a:avLst/>
          </a:prstGeom>
        </p:spPr>
      </p:pic>
      <p:pic>
        <p:nvPicPr>
          <p:cNvPr id="26" name="Picture 26"/>
          <p:cNvPicPr>
            <a:picLocks noChangeAspect="1"/>
          </p:cNvPicPr>
          <p:nvPr/>
        </p:nvPicPr>
        <p:blipFill>
          <a:blip r:embed="rId6"/>
          <a:stretch>
            <a:fillRect/>
          </a:stretch>
        </p:blipFill>
        <p:spPr>
          <a:xfrm>
            <a:off x="1693334" y="13278757"/>
            <a:ext cx="3189817" cy="24190"/>
          </a:xfrm>
          <a:prstGeom prst="rect">
            <a:avLst/>
          </a:prstGeom>
        </p:spPr>
      </p:pic>
      <p:pic>
        <p:nvPicPr>
          <p:cNvPr id="27" name="Picture 27"/>
          <p:cNvPicPr>
            <a:picLocks noChangeAspect="1"/>
          </p:cNvPicPr>
          <p:nvPr/>
        </p:nvPicPr>
        <p:blipFill>
          <a:blip r:embed="rId7"/>
          <a:stretch>
            <a:fillRect/>
          </a:stretch>
        </p:blipFill>
        <p:spPr>
          <a:xfrm>
            <a:off x="4883150" y="13278757"/>
            <a:ext cx="3237290" cy="24190"/>
          </a:xfrm>
          <a:prstGeom prst="rect">
            <a:avLst/>
          </a:prstGeom>
        </p:spPr>
      </p:pic>
      <p:pic>
        <p:nvPicPr>
          <p:cNvPr id="28" name="Picture 28"/>
          <p:cNvPicPr>
            <a:picLocks noChangeAspect="1"/>
          </p:cNvPicPr>
          <p:nvPr/>
        </p:nvPicPr>
        <p:blipFill>
          <a:blip r:embed="rId8"/>
          <a:stretch>
            <a:fillRect/>
          </a:stretch>
        </p:blipFill>
        <p:spPr>
          <a:xfrm>
            <a:off x="8120441" y="13278757"/>
            <a:ext cx="2890460" cy="24190"/>
          </a:xfrm>
          <a:prstGeom prst="rect">
            <a:avLst/>
          </a:prstGeom>
        </p:spPr>
      </p:pic>
      <p:pic>
        <p:nvPicPr>
          <p:cNvPr id="29" name="Picture 29"/>
          <p:cNvPicPr>
            <a:picLocks noChangeAspect="1"/>
          </p:cNvPicPr>
          <p:nvPr/>
        </p:nvPicPr>
        <p:blipFill>
          <a:blip r:embed="rId6"/>
          <a:stretch>
            <a:fillRect/>
          </a:stretch>
        </p:blipFill>
        <p:spPr>
          <a:xfrm>
            <a:off x="1693334" y="13367657"/>
            <a:ext cx="3189817" cy="24190"/>
          </a:xfrm>
          <a:prstGeom prst="rect">
            <a:avLst/>
          </a:prstGeom>
        </p:spPr>
      </p:pic>
      <p:pic>
        <p:nvPicPr>
          <p:cNvPr id="30" name="Picture 30"/>
          <p:cNvPicPr>
            <a:picLocks noChangeAspect="1"/>
          </p:cNvPicPr>
          <p:nvPr/>
        </p:nvPicPr>
        <p:blipFill>
          <a:blip r:embed="rId7"/>
          <a:stretch>
            <a:fillRect/>
          </a:stretch>
        </p:blipFill>
        <p:spPr>
          <a:xfrm>
            <a:off x="4883150" y="13367657"/>
            <a:ext cx="3237290" cy="24190"/>
          </a:xfrm>
          <a:prstGeom prst="rect">
            <a:avLst/>
          </a:prstGeom>
        </p:spPr>
      </p:pic>
      <p:pic>
        <p:nvPicPr>
          <p:cNvPr id="31" name="Picture 31"/>
          <p:cNvPicPr>
            <a:picLocks noChangeAspect="1"/>
          </p:cNvPicPr>
          <p:nvPr/>
        </p:nvPicPr>
        <p:blipFill>
          <a:blip r:embed="rId8"/>
          <a:stretch>
            <a:fillRect/>
          </a:stretch>
        </p:blipFill>
        <p:spPr>
          <a:xfrm>
            <a:off x="8120441" y="13367657"/>
            <a:ext cx="2890460" cy="24190"/>
          </a:xfrm>
          <a:prstGeom prst="rect">
            <a:avLst/>
          </a:prstGeom>
        </p:spPr>
      </p:pic>
      <p:pic>
        <p:nvPicPr>
          <p:cNvPr id="32" name="Picture 32"/>
          <p:cNvPicPr>
            <a:picLocks noChangeAspect="1"/>
          </p:cNvPicPr>
          <p:nvPr/>
        </p:nvPicPr>
        <p:blipFill>
          <a:blip r:embed="rId9"/>
          <a:stretch>
            <a:fillRect/>
          </a:stretch>
        </p:blipFill>
        <p:spPr>
          <a:xfrm>
            <a:off x="11010901" y="5789387"/>
            <a:ext cx="2159907" cy="24190"/>
          </a:xfrm>
          <a:prstGeom prst="rect">
            <a:avLst/>
          </a:prstGeom>
        </p:spPr>
      </p:pic>
      <p:pic>
        <p:nvPicPr>
          <p:cNvPr id="33" name="Picture 33"/>
          <p:cNvPicPr>
            <a:picLocks noChangeAspect="1"/>
          </p:cNvPicPr>
          <p:nvPr/>
        </p:nvPicPr>
        <p:blipFill>
          <a:blip r:embed="rId9"/>
          <a:stretch>
            <a:fillRect/>
          </a:stretch>
        </p:blipFill>
        <p:spPr>
          <a:xfrm>
            <a:off x="11010901" y="8285842"/>
            <a:ext cx="2159907" cy="24190"/>
          </a:xfrm>
          <a:prstGeom prst="rect">
            <a:avLst/>
          </a:prstGeom>
        </p:spPr>
      </p:pic>
      <p:pic>
        <p:nvPicPr>
          <p:cNvPr id="34" name="Picture 34"/>
          <p:cNvPicPr>
            <a:picLocks noChangeAspect="1"/>
          </p:cNvPicPr>
          <p:nvPr/>
        </p:nvPicPr>
        <p:blipFill>
          <a:blip r:embed="rId9"/>
          <a:stretch>
            <a:fillRect/>
          </a:stretch>
        </p:blipFill>
        <p:spPr>
          <a:xfrm>
            <a:off x="11010901" y="10782301"/>
            <a:ext cx="2159907" cy="24190"/>
          </a:xfrm>
          <a:prstGeom prst="rect">
            <a:avLst/>
          </a:prstGeom>
        </p:spPr>
      </p:pic>
      <p:pic>
        <p:nvPicPr>
          <p:cNvPr id="35" name="Picture 35"/>
          <p:cNvPicPr>
            <a:picLocks noChangeAspect="1"/>
          </p:cNvPicPr>
          <p:nvPr/>
        </p:nvPicPr>
        <p:blipFill>
          <a:blip r:embed="rId9"/>
          <a:stretch>
            <a:fillRect/>
          </a:stretch>
        </p:blipFill>
        <p:spPr>
          <a:xfrm>
            <a:off x="11010901" y="13278757"/>
            <a:ext cx="2159907" cy="24190"/>
          </a:xfrm>
          <a:prstGeom prst="rect">
            <a:avLst/>
          </a:prstGeom>
        </p:spPr>
      </p:pic>
      <p:pic>
        <p:nvPicPr>
          <p:cNvPr id="36" name="Picture 36"/>
          <p:cNvPicPr>
            <a:picLocks noChangeAspect="1"/>
          </p:cNvPicPr>
          <p:nvPr/>
        </p:nvPicPr>
        <p:blipFill>
          <a:blip r:embed="rId9"/>
          <a:stretch>
            <a:fillRect/>
          </a:stretch>
        </p:blipFill>
        <p:spPr>
          <a:xfrm>
            <a:off x="11010901" y="13367657"/>
            <a:ext cx="2159907" cy="24190"/>
          </a:xfrm>
          <a:prstGeom prst="rect">
            <a:avLst/>
          </a:prstGeom>
        </p:spPr>
      </p:pic>
      <p:sp>
        <p:nvSpPr>
          <p:cNvPr id="37" name="TextBox 37"/>
          <p:cNvSpPr txBox="1"/>
          <p:nvPr/>
        </p:nvSpPr>
        <p:spPr>
          <a:xfrm>
            <a:off x="1676769" y="978213"/>
            <a:ext cx="25382099" cy="1083733"/>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Playfair Display"/>
              </a:rPr>
              <a:t> </a:t>
            </a:r>
          </a:p>
          <a:p>
            <a:pPr marL="0" algn="l" fontAlgn="base">
              <a:lnSpc>
                <a:spcPct val="100000"/>
              </a:lnSpc>
              <a:spcBef>
                <a:spcPct val="0"/>
              </a:spcBef>
              <a:spcAft>
                <a:spcPct val="0"/>
              </a:spcAft>
            </a:pPr>
            <a:r>
              <a:rPr lang="en-US" sz="6401" b="1" dirty="0">
                <a:solidFill>
                  <a:srgbClr val="111111"/>
                </a:solidFill>
                <a:latin typeface="Embedded Playfair Display"/>
              </a:rPr>
              <a:t>Literature Review</a:t>
            </a:r>
            <a:endParaRPr lang="en-US" sz="6401" b="1" i="0" u="none" strike="noStrike" dirty="0">
              <a:solidFill>
                <a:srgbClr val="111111"/>
              </a:solidFill>
              <a:latin typeface="Embedded Playfair Display"/>
            </a:endParaRPr>
          </a:p>
          <a:p>
            <a:pPr marL="0" algn="l">
              <a:lnSpc>
                <a:spcPct val="110000"/>
              </a:lnSpc>
              <a:spcBef>
                <a:spcPct val="0"/>
              </a:spcBef>
              <a:spcAft>
                <a:spcPct val="0"/>
              </a:spcAft>
            </a:pPr>
            <a:r>
              <a:rPr lang="en-US" sz="100" dirty="0">
                <a:latin typeface="Embedded Playfair Display"/>
              </a:rPr>
              <a:t> </a:t>
            </a:r>
          </a:p>
        </p:txBody>
      </p:sp>
      <p:sp>
        <p:nvSpPr>
          <p:cNvPr id="54" name="TextBox 54"/>
          <p:cNvSpPr txBox="1"/>
          <p:nvPr/>
        </p:nvSpPr>
        <p:spPr>
          <a:xfrm>
            <a:off x="10848908" y="3314701"/>
            <a:ext cx="2483893" cy="2496457"/>
          </a:xfrm>
          <a:prstGeom prst="rect">
            <a:avLst/>
          </a:prstGeom>
        </p:spPr>
        <p:txBody>
          <a:bodyPr wrap="none" lIns="0" tIns="0" rIns="0" bIns="0" rtlCol="0" anchor="ctr"/>
          <a:lstStyle/>
          <a:p>
            <a:pPr marL="0" algn="ctr" fontAlgn="base">
              <a:lnSpc>
                <a:spcPct val="100000"/>
              </a:lnSpc>
              <a:spcBef>
                <a:spcPct val="0"/>
              </a:spcBef>
              <a:spcAft>
                <a:spcPct val="0"/>
              </a:spcAft>
            </a:pPr>
            <a:endParaRPr lang="en-US" sz="4571" b="0" i="0" u="none" strike="noStrike" dirty="0">
              <a:solidFill>
                <a:srgbClr val="D94F3A"/>
              </a:solidFill>
              <a:latin typeface="Embedded Arial"/>
            </a:endParaRPr>
          </a:p>
        </p:txBody>
      </p:sp>
      <p:sp>
        <p:nvSpPr>
          <p:cNvPr id="60" name="TextBox 60"/>
          <p:cNvSpPr txBox="1"/>
          <p:nvPr/>
        </p:nvSpPr>
        <p:spPr>
          <a:xfrm>
            <a:off x="4640353" y="2665187"/>
            <a:ext cx="3722884" cy="649514"/>
          </a:xfrm>
          <a:prstGeom prst="rect">
            <a:avLst/>
          </a:prstGeom>
        </p:spPr>
        <p:txBody>
          <a:bodyPr wrap="none" lIns="0" tIns="0" rIns="0" bIns="0" rtlCol="0" anchor="ctr"/>
          <a:lstStyle/>
          <a:p>
            <a:pPr marL="0" algn="ctr" fontAlgn="base">
              <a:lnSpc>
                <a:spcPct val="100000"/>
              </a:lnSpc>
              <a:spcBef>
                <a:spcPct val="0"/>
              </a:spcBef>
              <a:spcAft>
                <a:spcPct val="0"/>
              </a:spcAft>
            </a:pPr>
            <a:r>
              <a:rPr lang="en-US" sz="3809" b="1" i="0" u="none" strike="noStrike" spc="190">
                <a:solidFill>
                  <a:srgbClr val="F2F0EC"/>
                </a:solidFill>
                <a:latin typeface="Embedded Arial"/>
              </a:rPr>
              <a:t>METHO</a:t>
            </a:r>
            <a:r>
              <a:rPr lang="en-US" sz="3809" b="1" i="0" u="none" strike="noStrike">
                <a:solidFill>
                  <a:srgbClr val="F2F0EC"/>
                </a:solidFill>
                <a:latin typeface="Embedded Arial"/>
              </a:rPr>
              <a:t>D</a:t>
            </a:r>
          </a:p>
        </p:txBody>
      </p:sp>
      <p:sp>
        <p:nvSpPr>
          <p:cNvPr id="61" name="TextBox 61"/>
          <p:cNvSpPr txBox="1"/>
          <p:nvPr/>
        </p:nvSpPr>
        <p:spPr>
          <a:xfrm>
            <a:off x="7903656" y="2665187"/>
            <a:ext cx="3324029" cy="649514"/>
          </a:xfrm>
          <a:prstGeom prst="rect">
            <a:avLst/>
          </a:prstGeom>
        </p:spPr>
        <p:txBody>
          <a:bodyPr wrap="none" lIns="0" tIns="0" rIns="0" bIns="0" rtlCol="0" anchor="ctr"/>
          <a:lstStyle/>
          <a:p>
            <a:pPr marL="0" algn="ctr" fontAlgn="base">
              <a:lnSpc>
                <a:spcPct val="100000"/>
              </a:lnSpc>
              <a:spcBef>
                <a:spcPct val="0"/>
              </a:spcBef>
              <a:spcAft>
                <a:spcPct val="0"/>
              </a:spcAft>
            </a:pPr>
            <a:r>
              <a:rPr lang="en-US" sz="3809" b="1" i="0" u="none" strike="noStrike" spc="190" dirty="0">
                <a:solidFill>
                  <a:srgbClr val="F2F0EC"/>
                </a:solidFill>
                <a:latin typeface="Embedded Arial"/>
              </a:rPr>
              <a:t>DATASE</a:t>
            </a:r>
            <a:r>
              <a:rPr lang="en-US" sz="3809" b="1" i="0" u="none" strike="noStrike" dirty="0">
                <a:solidFill>
                  <a:srgbClr val="F2F0EC"/>
                </a:solidFill>
                <a:latin typeface="Embedded Arial"/>
              </a:rPr>
              <a:t>T</a:t>
            </a:r>
          </a:p>
        </p:txBody>
      </p:sp>
      <p:pic>
        <p:nvPicPr>
          <p:cNvPr id="68" name="Picture 68"/>
          <p:cNvPicPr>
            <a:picLocks noChangeAspect="1"/>
          </p:cNvPicPr>
          <p:nvPr/>
        </p:nvPicPr>
        <p:blipFill>
          <a:blip r:embed="rId10"/>
          <a:stretch>
            <a:fillRect/>
          </a:stretch>
        </p:blipFill>
        <p:spPr>
          <a:xfrm>
            <a:off x="22158476" y="-1270000"/>
            <a:ext cx="3193143" cy="3193143"/>
          </a:xfrm>
          <a:prstGeom prst="rect">
            <a:avLst/>
          </a:prstGeom>
        </p:spPr>
      </p:pic>
      <p:sp>
        <p:nvSpPr>
          <p:cNvPr id="69" name="TextBox 69"/>
          <p:cNvSpPr txBox="1"/>
          <p:nvPr/>
        </p:nvSpPr>
        <p:spPr>
          <a:xfrm>
            <a:off x="23117325" y="616857"/>
            <a:ext cx="343913"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700" dirty="0">
                <a:solidFill>
                  <a:srgbClr val="F2F0EC"/>
                </a:solidFill>
                <a:latin typeface="Embedded Inter"/>
              </a:rPr>
              <a:t>4</a:t>
            </a:r>
            <a:endParaRPr lang="en-US" sz="3700" b="0" i="0" u="none" strike="noStrike" dirty="0">
              <a:solidFill>
                <a:srgbClr val="F2F0EC"/>
              </a:solidFill>
              <a:latin typeface="Embedded Inter"/>
            </a:endParaRPr>
          </a:p>
          <a:p>
            <a:pPr marL="0" algn="l">
              <a:lnSpc>
                <a:spcPct val="110000"/>
              </a:lnSpc>
              <a:spcBef>
                <a:spcPct val="0"/>
              </a:spcBef>
              <a:spcAft>
                <a:spcPct val="0"/>
              </a:spcAft>
            </a:pPr>
            <a:r>
              <a:rPr lang="en-US" sz="100" dirty="0">
                <a:latin typeface="Embedded Inter"/>
              </a:rPr>
              <a:t> </a:t>
            </a:r>
          </a:p>
        </p:txBody>
      </p:sp>
      <p:graphicFrame>
        <p:nvGraphicFramePr>
          <p:cNvPr id="73" name="Table 72">
            <a:extLst>
              <a:ext uri="{FF2B5EF4-FFF2-40B4-BE49-F238E27FC236}">
                <a16:creationId xmlns:a16="http://schemas.microsoft.com/office/drawing/2014/main" id="{200CEB55-BB91-CA0E-DC10-5041F54BC888}"/>
              </a:ext>
            </a:extLst>
          </p:cNvPr>
          <p:cNvGraphicFramePr>
            <a:graphicFrameLocks noGrp="1"/>
          </p:cNvGraphicFramePr>
          <p:nvPr>
            <p:extLst>
              <p:ext uri="{D42A27DB-BD31-4B8C-83A1-F6EECF244321}">
                <p14:modId xmlns:p14="http://schemas.microsoft.com/office/powerpoint/2010/main" val="4083452524"/>
              </p:ext>
            </p:extLst>
          </p:nvPr>
        </p:nvGraphicFramePr>
        <p:xfrm>
          <a:off x="1693334" y="2715378"/>
          <a:ext cx="20997332" cy="9355667"/>
        </p:xfrm>
        <a:graphic>
          <a:graphicData uri="http://schemas.openxmlformats.org/drawingml/2006/table">
            <a:tbl>
              <a:tblPr>
                <a:tableStyleId>{5C22544A-7EE6-4342-B048-85BDC9FD1C3A}</a:tableStyleId>
              </a:tblPr>
              <a:tblGrid>
                <a:gridCol w="3013285">
                  <a:extLst>
                    <a:ext uri="{9D8B030D-6E8A-4147-A177-3AD203B41FA5}">
                      <a16:colId xmlns:a16="http://schemas.microsoft.com/office/drawing/2014/main" val="3818243778"/>
                    </a:ext>
                  </a:extLst>
                </a:gridCol>
                <a:gridCol w="4436587">
                  <a:extLst>
                    <a:ext uri="{9D8B030D-6E8A-4147-A177-3AD203B41FA5}">
                      <a16:colId xmlns:a16="http://schemas.microsoft.com/office/drawing/2014/main" val="4008191202"/>
                    </a:ext>
                  </a:extLst>
                </a:gridCol>
                <a:gridCol w="2925859">
                  <a:extLst>
                    <a:ext uri="{9D8B030D-6E8A-4147-A177-3AD203B41FA5}">
                      <a16:colId xmlns:a16="http://schemas.microsoft.com/office/drawing/2014/main" val="3015769828"/>
                    </a:ext>
                  </a:extLst>
                </a:gridCol>
                <a:gridCol w="4646951">
                  <a:extLst>
                    <a:ext uri="{9D8B030D-6E8A-4147-A177-3AD203B41FA5}">
                      <a16:colId xmlns:a16="http://schemas.microsoft.com/office/drawing/2014/main" val="2194635614"/>
                    </a:ext>
                  </a:extLst>
                </a:gridCol>
                <a:gridCol w="5974650">
                  <a:extLst>
                    <a:ext uri="{9D8B030D-6E8A-4147-A177-3AD203B41FA5}">
                      <a16:colId xmlns:a16="http://schemas.microsoft.com/office/drawing/2014/main" val="458055272"/>
                    </a:ext>
                  </a:extLst>
                </a:gridCol>
              </a:tblGrid>
              <a:tr h="1120821">
                <a:tc>
                  <a:txBody>
                    <a:bodyPr/>
                    <a:lstStyle/>
                    <a:p>
                      <a:pPr algn="ctr" fontAlgn="ctr">
                        <a:buNone/>
                      </a:pPr>
                      <a:r>
                        <a:rPr lang="en-US" sz="3200" b="1" u="none" strike="noStrike" dirty="0">
                          <a:solidFill>
                            <a:schemeClr val="tx2">
                              <a:lumMod val="50000"/>
                            </a:schemeClr>
                          </a:solidFill>
                          <a:effectLst/>
                          <a:latin typeface="Arial" panose="020B0604020202020204" pitchFamily="34" charset="0"/>
                          <a:cs typeface="Arial" panose="020B0604020202020204" pitchFamily="34" charset="0"/>
                        </a:rPr>
                        <a:t>Authors</a:t>
                      </a:r>
                      <a:endParaRPr lang="en-US" sz="3200" b="1" i="0" u="none" strike="noStrike" dirty="0">
                        <a:solidFill>
                          <a:schemeClr val="tx2">
                            <a:lumMod val="50000"/>
                          </a:schemeClr>
                        </a:solidFill>
                        <a:effectLst/>
                        <a:latin typeface="Arial" panose="020B0604020202020204" pitchFamily="34" charset="0"/>
                        <a:cs typeface="Arial" panose="020B0604020202020204" pitchFamily="34" charset="0"/>
                      </a:endParaRPr>
                    </a:p>
                  </a:txBody>
                  <a:tcPr marL="5782" marR="5782" marT="5782" marB="0" anchor="ctr">
                    <a:solidFill>
                      <a:schemeClr val="accent3">
                        <a:lumMod val="60000"/>
                        <a:lumOff val="40000"/>
                      </a:schemeClr>
                    </a:solidFill>
                  </a:tcPr>
                </a:tc>
                <a:tc>
                  <a:txBody>
                    <a:bodyPr/>
                    <a:lstStyle/>
                    <a:p>
                      <a:pPr algn="ctr" fontAlgn="ctr">
                        <a:buNone/>
                      </a:pPr>
                      <a:r>
                        <a:rPr lang="en-US" sz="3200" b="1" u="none" strike="noStrike" dirty="0">
                          <a:solidFill>
                            <a:schemeClr val="tx2">
                              <a:lumMod val="50000"/>
                            </a:schemeClr>
                          </a:solidFill>
                          <a:effectLst/>
                          <a:latin typeface="Arial" panose="020B0604020202020204" pitchFamily="34" charset="0"/>
                          <a:cs typeface="Arial" panose="020B0604020202020204" pitchFamily="34" charset="0"/>
                        </a:rPr>
                        <a:t>Method</a:t>
                      </a:r>
                      <a:endParaRPr lang="en-US" sz="3200" b="1" i="0" u="none" strike="noStrike" dirty="0">
                        <a:solidFill>
                          <a:schemeClr val="tx2">
                            <a:lumMod val="50000"/>
                          </a:schemeClr>
                        </a:solidFill>
                        <a:effectLst/>
                        <a:latin typeface="Arial" panose="020B0604020202020204" pitchFamily="34" charset="0"/>
                        <a:cs typeface="Arial" panose="020B0604020202020204" pitchFamily="34" charset="0"/>
                      </a:endParaRPr>
                    </a:p>
                  </a:txBody>
                  <a:tcPr marL="5782" marR="5782" marT="5782" marB="0" anchor="ctr">
                    <a:solidFill>
                      <a:schemeClr val="accent3">
                        <a:lumMod val="60000"/>
                        <a:lumOff val="40000"/>
                      </a:schemeClr>
                    </a:solidFill>
                  </a:tcPr>
                </a:tc>
                <a:tc>
                  <a:txBody>
                    <a:bodyPr/>
                    <a:lstStyle/>
                    <a:p>
                      <a:pPr algn="ctr" fontAlgn="ctr">
                        <a:buNone/>
                      </a:pPr>
                      <a:r>
                        <a:rPr lang="en-US" sz="3200" b="1" u="none" strike="noStrike" dirty="0">
                          <a:solidFill>
                            <a:schemeClr val="tx2">
                              <a:lumMod val="50000"/>
                            </a:schemeClr>
                          </a:solidFill>
                          <a:effectLst/>
                          <a:latin typeface="Arial" panose="020B0604020202020204" pitchFamily="34" charset="0"/>
                          <a:cs typeface="Arial" panose="020B0604020202020204" pitchFamily="34" charset="0"/>
                        </a:rPr>
                        <a:t>Dataset</a:t>
                      </a:r>
                      <a:endParaRPr lang="en-US" sz="3200" b="1" i="0" u="none" strike="noStrike" dirty="0">
                        <a:solidFill>
                          <a:schemeClr val="tx2">
                            <a:lumMod val="50000"/>
                          </a:schemeClr>
                        </a:solidFill>
                        <a:effectLst/>
                        <a:latin typeface="Arial" panose="020B0604020202020204" pitchFamily="34" charset="0"/>
                        <a:cs typeface="Arial" panose="020B0604020202020204" pitchFamily="34" charset="0"/>
                      </a:endParaRPr>
                    </a:p>
                  </a:txBody>
                  <a:tcPr marL="5782" marR="5782" marT="5782" marB="0" anchor="ctr">
                    <a:solidFill>
                      <a:schemeClr val="accent3">
                        <a:lumMod val="60000"/>
                        <a:lumOff val="40000"/>
                      </a:schemeClr>
                    </a:solidFill>
                  </a:tcPr>
                </a:tc>
                <a:tc>
                  <a:txBody>
                    <a:bodyPr/>
                    <a:lstStyle/>
                    <a:p>
                      <a:pPr algn="ctr" fontAlgn="ctr">
                        <a:buNone/>
                      </a:pPr>
                      <a:r>
                        <a:rPr lang="en-US" sz="3200" b="1" u="none" strike="noStrike" dirty="0">
                          <a:solidFill>
                            <a:schemeClr val="tx2">
                              <a:lumMod val="50000"/>
                            </a:schemeClr>
                          </a:solidFill>
                          <a:effectLst/>
                          <a:latin typeface="Arial" panose="020B0604020202020204" pitchFamily="34" charset="0"/>
                          <a:cs typeface="Arial" panose="020B0604020202020204" pitchFamily="34" charset="0"/>
                        </a:rPr>
                        <a:t>Key Results</a:t>
                      </a:r>
                      <a:endParaRPr lang="en-US" sz="3200" b="1" i="0" u="none" strike="noStrike" dirty="0">
                        <a:solidFill>
                          <a:schemeClr val="tx2">
                            <a:lumMod val="50000"/>
                          </a:schemeClr>
                        </a:solidFill>
                        <a:effectLst/>
                        <a:latin typeface="Arial" panose="020B0604020202020204" pitchFamily="34" charset="0"/>
                        <a:cs typeface="Arial" panose="020B0604020202020204" pitchFamily="34" charset="0"/>
                      </a:endParaRPr>
                    </a:p>
                  </a:txBody>
                  <a:tcPr marL="5782" marR="5782" marT="5782" marB="0" anchor="ctr">
                    <a:solidFill>
                      <a:schemeClr val="accent3">
                        <a:lumMod val="60000"/>
                        <a:lumOff val="40000"/>
                      </a:schemeClr>
                    </a:solidFill>
                  </a:tcPr>
                </a:tc>
                <a:tc>
                  <a:txBody>
                    <a:bodyPr/>
                    <a:lstStyle/>
                    <a:p>
                      <a:pPr algn="ctr" fontAlgn="ctr">
                        <a:buNone/>
                      </a:pPr>
                      <a:r>
                        <a:rPr lang="en-US" sz="3200" b="1" u="none" strike="noStrike" dirty="0">
                          <a:solidFill>
                            <a:schemeClr val="tx2">
                              <a:lumMod val="50000"/>
                            </a:schemeClr>
                          </a:solidFill>
                          <a:effectLst/>
                          <a:latin typeface="Arial" panose="020B0604020202020204" pitchFamily="34" charset="0"/>
                          <a:cs typeface="Arial" panose="020B0604020202020204" pitchFamily="34" charset="0"/>
                        </a:rPr>
                        <a:t>Limitation</a:t>
                      </a:r>
                      <a:endParaRPr lang="en-US" sz="3200" b="1" i="0" u="none" strike="noStrike" dirty="0">
                        <a:solidFill>
                          <a:schemeClr val="tx2">
                            <a:lumMod val="50000"/>
                          </a:schemeClr>
                        </a:solidFill>
                        <a:effectLst/>
                        <a:latin typeface="Arial" panose="020B0604020202020204" pitchFamily="34" charset="0"/>
                        <a:cs typeface="Arial" panose="020B0604020202020204" pitchFamily="34" charset="0"/>
                      </a:endParaRPr>
                    </a:p>
                  </a:txBody>
                  <a:tcPr marL="5782" marR="5782" marT="5782" marB="0" anchor="ctr">
                    <a:solidFill>
                      <a:schemeClr val="accent3">
                        <a:lumMod val="60000"/>
                        <a:lumOff val="40000"/>
                      </a:schemeClr>
                    </a:solidFill>
                  </a:tcPr>
                </a:tc>
                <a:extLst>
                  <a:ext uri="{0D108BD9-81ED-4DB2-BD59-A6C34878D82A}">
                    <a16:rowId xmlns:a16="http://schemas.microsoft.com/office/drawing/2014/main" val="1960828628"/>
                  </a:ext>
                </a:extLst>
              </a:tr>
              <a:tr h="1255055">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Hossain et al. [2020]</a:t>
                      </a:r>
                      <a:endParaRPr lang="en-US" sz="2800" b="1" i="0" u="none" strike="noStrike" dirty="0">
                        <a:solidFill>
                          <a:srgbClr val="1E3A8A"/>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SVM, Random Forest, CNN, LSTM</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BanFakeNews (50k)</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0.88 F1 baseline benchmark</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Severe class imbalance (97% real); no transformer models</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5782" marR="5782" marT="5782" marB="0" anchor="ctr"/>
                </a:tc>
                <a:extLst>
                  <a:ext uri="{0D108BD9-81ED-4DB2-BD59-A6C34878D82A}">
                    <a16:rowId xmlns:a16="http://schemas.microsoft.com/office/drawing/2014/main" val="2723534948"/>
                  </a:ext>
                </a:extLst>
              </a:tr>
              <a:tr h="1255055">
                <a:tc>
                  <a:txBody>
                    <a:bodyPr/>
                    <a:lstStyle/>
                    <a:p>
                      <a:pPr algn="ctr" fontAlgn="ctr">
                        <a:buNone/>
                      </a:pPr>
                      <a:r>
                        <a:rPr lang="en-US" sz="2800" u="none" strike="noStrike">
                          <a:effectLst/>
                          <a:latin typeface="Arial" panose="020B0604020202020204" pitchFamily="34" charset="0"/>
                          <a:cs typeface="Arial" panose="020B0604020202020204" pitchFamily="34" charset="0"/>
                        </a:rPr>
                        <a:t>Nasir et al. [2021]</a:t>
                      </a:r>
                      <a:endParaRPr lang="en-US" sz="2800" b="1" i="0" u="none" strike="noStrike">
                        <a:solidFill>
                          <a:srgbClr val="1E3A8A"/>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Hybrid CNN LSTM Network</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Small Custom Dataset</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0.91 F1 score on sequential patterns</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Small dataset size limits broad domain generalization</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extLst>
                  <a:ext uri="{0D108BD9-81ED-4DB2-BD59-A6C34878D82A}">
                    <a16:rowId xmlns:a16="http://schemas.microsoft.com/office/drawing/2014/main" val="2388159859"/>
                  </a:ext>
                </a:extLst>
              </a:tr>
              <a:tr h="1959571">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Kibria et al. [2023]</a:t>
                      </a:r>
                      <a:endParaRPr lang="en-US" sz="2800" b="1" i="0" u="none" strike="noStrike" dirty="0">
                        <a:solidFill>
                          <a:srgbClr val="1E3A8A"/>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dirty="0" err="1">
                          <a:effectLst/>
                          <a:latin typeface="Arial" panose="020B0604020202020204" pitchFamily="34" charset="0"/>
                          <a:cs typeface="Arial" panose="020B0604020202020204" pitchFamily="34" charset="0"/>
                        </a:rPr>
                        <a:t>BanglaBERT</a:t>
                      </a:r>
                      <a:r>
                        <a:rPr lang="en-US" sz="2800" u="none" strike="noStrike" dirty="0">
                          <a:effectLst/>
                          <a:latin typeface="Arial" panose="020B0604020202020204" pitchFamily="34" charset="0"/>
                          <a:cs typeface="Arial" panose="020B0604020202020204" pitchFamily="34" charset="0"/>
                        </a:rPr>
                        <a:t> Fine Tuning</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dirty="0" err="1">
                          <a:effectLst/>
                          <a:latin typeface="Arial" panose="020B0604020202020204" pitchFamily="34" charset="0"/>
                          <a:cs typeface="Arial" panose="020B0604020202020204" pitchFamily="34" charset="0"/>
                        </a:rPr>
                        <a:t>BanFakeNews</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0.96 F1 score on contextual semantics</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Single stream approach; misses syntactic and character cues</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extLst>
                  <a:ext uri="{0D108BD9-81ED-4DB2-BD59-A6C34878D82A}">
                    <a16:rowId xmlns:a16="http://schemas.microsoft.com/office/drawing/2014/main" val="2998603481"/>
                  </a:ext>
                </a:extLst>
              </a:tr>
              <a:tr h="1255055">
                <a:tc>
                  <a:txBody>
                    <a:bodyPr/>
                    <a:lstStyle/>
                    <a:p>
                      <a:pPr algn="ctr" fontAlgn="ctr">
                        <a:buNone/>
                      </a:pPr>
                      <a:r>
                        <a:rPr lang="en-US" sz="2800" u="none" strike="noStrike">
                          <a:effectLst/>
                          <a:latin typeface="Arial" panose="020B0604020202020204" pitchFamily="34" charset="0"/>
                          <a:cs typeface="Arial" panose="020B0604020202020204" pitchFamily="34" charset="0"/>
                        </a:rPr>
                        <a:t>Apurba et al. [2022]</a:t>
                      </a:r>
                      <a:endParaRPr lang="en-US" sz="2800" b="1" i="0" u="none" strike="noStrike">
                        <a:solidFill>
                          <a:srgbClr val="1E3A8A"/>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Multilingual XLM RoBERTa</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BanFakeNews</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0.92 F1 cross lingual transfer</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Multilingual models underperform on Bengali specific tasks</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extLst>
                  <a:ext uri="{0D108BD9-81ED-4DB2-BD59-A6C34878D82A}">
                    <a16:rowId xmlns:a16="http://schemas.microsoft.com/office/drawing/2014/main" val="260060930"/>
                  </a:ext>
                </a:extLst>
              </a:tr>
              <a:tr h="1255055">
                <a:tc>
                  <a:txBody>
                    <a:bodyPr/>
                    <a:lstStyle/>
                    <a:p>
                      <a:pPr algn="ctr" fontAlgn="ctr">
                        <a:buNone/>
                      </a:pPr>
                      <a:r>
                        <a:rPr lang="en-US" sz="2800" u="none" strike="noStrike">
                          <a:effectLst/>
                          <a:latin typeface="Arial" panose="020B0604020202020204" pitchFamily="34" charset="0"/>
                          <a:cs typeface="Arial" panose="020B0604020202020204" pitchFamily="34" charset="0"/>
                        </a:rPr>
                        <a:t>Khandakar et al. [2023]</a:t>
                      </a:r>
                      <a:endParaRPr lang="en-US" sz="2800" b="1" i="0" u="none" strike="noStrike">
                        <a:solidFill>
                          <a:srgbClr val="1E3A8A"/>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CNN + BiLSTM Ensemble</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40k Custom Dataset</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0.93 F1 score on local n grams</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Lacks dynamic cross attention between semantics and grammar</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extLst>
                  <a:ext uri="{0D108BD9-81ED-4DB2-BD59-A6C34878D82A}">
                    <a16:rowId xmlns:a16="http://schemas.microsoft.com/office/drawing/2014/main" val="662117757"/>
                  </a:ext>
                </a:extLst>
              </a:tr>
              <a:tr h="1255055">
                <a:tc>
                  <a:txBody>
                    <a:bodyPr/>
                    <a:lstStyle/>
                    <a:p>
                      <a:pPr algn="ctr" fontAlgn="ctr">
                        <a:buNone/>
                      </a:pPr>
                      <a:r>
                        <a:rPr lang="en-US" sz="2800" u="none" strike="noStrike">
                          <a:effectLst/>
                          <a:latin typeface="Arial" panose="020B0604020202020204" pitchFamily="34" charset="0"/>
                          <a:cs typeface="Arial" panose="020B0604020202020204" pitchFamily="34" charset="0"/>
                        </a:rPr>
                        <a:t>Rahman et al. [2021]</a:t>
                      </a:r>
                      <a:endParaRPr lang="en-US" sz="2800" b="1" i="0" u="none" strike="noStrike">
                        <a:solidFill>
                          <a:srgbClr val="1E3A8A"/>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Traditional ML (SVM, LR, NB)</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5k Custom Dataset</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0.86 F1 with handcrafted features</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5782" marR="5782" marT="5782" marB="0" anchor="ct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Relies on sparse n grams; fails on out of vocabulary words</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5782" marR="5782" marT="5782" marB="0" anchor="ctr"/>
                </a:tc>
                <a:extLst>
                  <a:ext uri="{0D108BD9-81ED-4DB2-BD59-A6C34878D82A}">
                    <a16:rowId xmlns:a16="http://schemas.microsoft.com/office/drawing/2014/main" val="3743946933"/>
                  </a:ext>
                </a:extLst>
              </a:tr>
            </a:tbl>
          </a:graphicData>
        </a:graphic>
      </p:graphicFrame>
      <p:pic>
        <p:nvPicPr>
          <p:cNvPr id="75" name="Picture 19">
            <a:extLst>
              <a:ext uri="{FF2B5EF4-FFF2-40B4-BE49-F238E27FC236}">
                <a16:creationId xmlns:a16="http://schemas.microsoft.com/office/drawing/2014/main" id="{06E1A8F7-4AB3-017B-43D4-E997C029BF3F}"/>
              </a:ext>
            </a:extLst>
          </p:cNvPr>
          <p:cNvPicPr>
            <a:picLocks noChangeAspect="1"/>
          </p:cNvPicPr>
          <p:nvPr/>
        </p:nvPicPr>
        <p:blipFill>
          <a:blip r:embed="rId11"/>
          <a:stretch>
            <a:fillRect/>
          </a:stretch>
        </p:blipFill>
        <p:spPr>
          <a:xfrm flipV="1">
            <a:off x="1693335" y="2052141"/>
            <a:ext cx="6669902" cy="54847"/>
          </a:xfrm>
          <a:prstGeom prst="rect">
            <a:avLst/>
          </a:prstGeom>
        </p:spPr>
      </p:pic>
    </p:spTree>
  </p:cSld>
  <p:clrMapOvr>
    <a:masterClrMapping/>
  </p:clrMapOvr>
  <p:transition spd="slow">
    <p:wheel spokes="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26572"/>
            <a:ext cx="23222857" cy="13062857"/>
          </a:xfrm>
          <a:prstGeom prst="rect">
            <a:avLst/>
          </a:prstGeom>
        </p:spPr>
      </p:pic>
      <p:pic>
        <p:nvPicPr>
          <p:cNvPr id="6" name="Picture 6"/>
          <p:cNvPicPr>
            <a:picLocks noChangeAspect="1"/>
          </p:cNvPicPr>
          <p:nvPr/>
        </p:nvPicPr>
        <p:blipFill>
          <a:blip r:embed="rId7"/>
          <a:stretch>
            <a:fillRect/>
          </a:stretch>
        </p:blipFill>
        <p:spPr>
          <a:xfrm>
            <a:off x="580571" y="326571"/>
            <a:ext cx="23184154" cy="13024154"/>
          </a:xfrm>
          <a:prstGeom prst="rect">
            <a:avLst/>
          </a:prstGeom>
        </p:spPr>
      </p:pic>
      <p:pic>
        <p:nvPicPr>
          <p:cNvPr id="7" name="Picture 7"/>
          <p:cNvPicPr>
            <a:picLocks noChangeAspect="1"/>
          </p:cNvPicPr>
          <p:nvPr/>
        </p:nvPicPr>
        <p:blipFill>
          <a:blip r:embed="rId8"/>
          <a:stretch>
            <a:fillRect/>
          </a:stretch>
        </p:blipFill>
        <p:spPr>
          <a:xfrm>
            <a:off x="580571" y="304800"/>
            <a:ext cx="23184154" cy="5660572"/>
          </a:xfrm>
          <a:prstGeom prst="rect">
            <a:avLst/>
          </a:prstGeom>
        </p:spPr>
      </p:pic>
      <p:pic>
        <p:nvPicPr>
          <p:cNvPr id="8" name="Picture 8"/>
          <p:cNvPicPr>
            <a:picLocks noChangeAspect="1"/>
          </p:cNvPicPr>
          <p:nvPr/>
        </p:nvPicPr>
        <p:blipFill>
          <a:blip r:embed="rId9"/>
          <a:stretch>
            <a:fillRect/>
          </a:stretch>
        </p:blipFill>
        <p:spPr>
          <a:xfrm>
            <a:off x="13328952" y="10438191"/>
            <a:ext cx="10432748" cy="2902857"/>
          </a:xfrm>
          <a:prstGeom prst="rect">
            <a:avLst/>
          </a:prstGeom>
        </p:spPr>
      </p:pic>
      <p:pic>
        <p:nvPicPr>
          <p:cNvPr id="9" name="Picture 9"/>
          <p:cNvPicPr>
            <a:picLocks noChangeAspect="1"/>
          </p:cNvPicPr>
          <p:nvPr/>
        </p:nvPicPr>
        <p:blipFill>
          <a:blip r:embed="rId10"/>
          <a:stretch>
            <a:fillRect/>
          </a:stretch>
        </p:blipFill>
        <p:spPr>
          <a:xfrm>
            <a:off x="12825548" y="3476730"/>
            <a:ext cx="4601031" cy="1107364"/>
          </a:xfrm>
          <a:prstGeom prst="rect">
            <a:avLst/>
          </a:prstGeom>
        </p:spPr>
      </p:pic>
      <p:pic>
        <p:nvPicPr>
          <p:cNvPr id="10" name="Picture 10"/>
          <p:cNvPicPr>
            <a:picLocks noChangeAspect="1"/>
          </p:cNvPicPr>
          <p:nvPr/>
        </p:nvPicPr>
        <p:blipFill>
          <a:blip r:embed="rId11"/>
          <a:stretch>
            <a:fillRect/>
          </a:stretch>
        </p:blipFill>
        <p:spPr>
          <a:xfrm>
            <a:off x="1811235" y="3430906"/>
            <a:ext cx="3704106" cy="1067035"/>
          </a:xfrm>
          <a:prstGeom prst="rect">
            <a:avLst/>
          </a:prstGeom>
        </p:spPr>
      </p:pic>
      <p:pic>
        <p:nvPicPr>
          <p:cNvPr id="11" name="Picture 11"/>
          <p:cNvPicPr>
            <a:picLocks noChangeAspect="1"/>
          </p:cNvPicPr>
          <p:nvPr/>
        </p:nvPicPr>
        <p:blipFill>
          <a:blip r:embed="rId12"/>
          <a:stretch>
            <a:fillRect/>
          </a:stretch>
        </p:blipFill>
        <p:spPr>
          <a:xfrm>
            <a:off x="1781021" y="5400779"/>
            <a:ext cx="1165744" cy="1165744"/>
          </a:xfrm>
          <a:prstGeom prst="rect">
            <a:avLst/>
          </a:prstGeom>
          <a:effectLst>
            <a:outerShdw blurRad="725714" dist="96761" dir="5400000" algn="ctr">
              <a:srgbClr val="D94F3A">
                <a:alpha val="20000"/>
              </a:srgbClr>
            </a:outerShdw>
          </a:effectLst>
        </p:spPr>
      </p:pic>
      <p:pic>
        <p:nvPicPr>
          <p:cNvPr id="12" name="Picture 12"/>
          <p:cNvPicPr>
            <a:picLocks noChangeAspect="1"/>
          </p:cNvPicPr>
          <p:nvPr/>
        </p:nvPicPr>
        <p:blipFill>
          <a:blip r:embed="rId12"/>
          <a:stretch>
            <a:fillRect/>
          </a:stretch>
        </p:blipFill>
        <p:spPr>
          <a:xfrm>
            <a:off x="1804467" y="7583529"/>
            <a:ext cx="1153403" cy="1153403"/>
          </a:xfrm>
          <a:prstGeom prst="rect">
            <a:avLst/>
          </a:prstGeom>
          <a:effectLst>
            <a:outerShdw blurRad="725714" dist="96761" dir="5400000" algn="ctr">
              <a:srgbClr val="D94F3A">
                <a:alpha val="20000"/>
              </a:srgbClr>
            </a:outerShdw>
          </a:effectLst>
        </p:spPr>
      </p:pic>
      <p:pic>
        <p:nvPicPr>
          <p:cNvPr id="13" name="Picture 13"/>
          <p:cNvPicPr>
            <a:picLocks noChangeAspect="1"/>
          </p:cNvPicPr>
          <p:nvPr/>
        </p:nvPicPr>
        <p:blipFill>
          <a:blip r:embed="rId12"/>
          <a:stretch>
            <a:fillRect/>
          </a:stretch>
        </p:blipFill>
        <p:spPr>
          <a:xfrm>
            <a:off x="1772799" y="9510000"/>
            <a:ext cx="1127275" cy="1127275"/>
          </a:xfrm>
          <a:prstGeom prst="rect">
            <a:avLst/>
          </a:prstGeom>
          <a:effectLst>
            <a:outerShdw blurRad="725714" dist="96761" dir="5400000" algn="ctr">
              <a:srgbClr val="D94F3A">
                <a:alpha val="20000"/>
              </a:srgbClr>
            </a:outerShdw>
          </a:effectLst>
        </p:spPr>
      </p:pic>
      <p:pic>
        <p:nvPicPr>
          <p:cNvPr id="14" name="Picture 14"/>
          <p:cNvPicPr>
            <a:picLocks noChangeAspect="1"/>
          </p:cNvPicPr>
          <p:nvPr/>
        </p:nvPicPr>
        <p:blipFill>
          <a:blip r:embed="rId12"/>
          <a:stretch>
            <a:fillRect/>
          </a:stretch>
        </p:blipFill>
        <p:spPr>
          <a:xfrm>
            <a:off x="1811235" y="11304374"/>
            <a:ext cx="1205802" cy="1205802"/>
          </a:xfrm>
          <a:prstGeom prst="rect">
            <a:avLst/>
          </a:prstGeom>
          <a:effectLst>
            <a:outerShdw blurRad="725714" dist="96761" dir="5400000" algn="ctr">
              <a:srgbClr val="D94F3A">
                <a:alpha val="20000"/>
              </a:srgbClr>
            </a:outerShdw>
          </a:effectLst>
        </p:spPr>
      </p:pic>
      <p:pic>
        <p:nvPicPr>
          <p:cNvPr id="15" name="Picture 15"/>
          <p:cNvPicPr>
            <a:picLocks noChangeAspect="1"/>
          </p:cNvPicPr>
          <p:nvPr/>
        </p:nvPicPr>
        <p:blipFill>
          <a:blip r:embed="rId13"/>
          <a:stretch>
            <a:fillRect/>
          </a:stretch>
        </p:blipFill>
        <p:spPr>
          <a:xfrm>
            <a:off x="12772571" y="5334000"/>
            <a:ext cx="1306286" cy="1306286"/>
          </a:xfrm>
          <a:prstGeom prst="rect">
            <a:avLst/>
          </a:prstGeom>
          <a:effectLst>
            <a:outerShdw blurRad="725714" dist="96761" dir="5400000" algn="ctr">
              <a:srgbClr val="2C5E8A">
                <a:alpha val="20000"/>
              </a:srgbClr>
            </a:outerShdw>
          </a:effectLst>
        </p:spPr>
      </p:pic>
      <p:pic>
        <p:nvPicPr>
          <p:cNvPr id="16" name="Picture 16"/>
          <p:cNvPicPr>
            <a:picLocks noChangeAspect="1"/>
          </p:cNvPicPr>
          <p:nvPr/>
        </p:nvPicPr>
        <p:blipFill>
          <a:blip r:embed="rId13"/>
          <a:stretch>
            <a:fillRect/>
          </a:stretch>
        </p:blipFill>
        <p:spPr>
          <a:xfrm>
            <a:off x="12772571" y="7607905"/>
            <a:ext cx="1306286" cy="1306286"/>
          </a:xfrm>
          <a:prstGeom prst="rect">
            <a:avLst/>
          </a:prstGeom>
          <a:effectLst>
            <a:outerShdw blurRad="725714" dist="96761" dir="5400000" algn="ctr">
              <a:srgbClr val="2C5E8A">
                <a:alpha val="20000"/>
              </a:srgbClr>
            </a:outerShdw>
          </a:effectLst>
        </p:spPr>
      </p:pic>
      <p:pic>
        <p:nvPicPr>
          <p:cNvPr id="17" name="Picture 17"/>
          <p:cNvPicPr>
            <a:picLocks noChangeAspect="1"/>
          </p:cNvPicPr>
          <p:nvPr/>
        </p:nvPicPr>
        <p:blipFill>
          <a:blip r:embed="rId13"/>
          <a:stretch>
            <a:fillRect/>
          </a:stretch>
        </p:blipFill>
        <p:spPr>
          <a:xfrm>
            <a:off x="12825548" y="9593874"/>
            <a:ext cx="1306286" cy="1306286"/>
          </a:xfrm>
          <a:prstGeom prst="rect">
            <a:avLst/>
          </a:prstGeom>
          <a:effectLst>
            <a:outerShdw blurRad="725714" dist="96761" dir="5400000" algn="ctr">
              <a:srgbClr val="2C5E8A">
                <a:alpha val="20000"/>
              </a:srgbClr>
            </a:outerShdw>
          </a:effectLst>
        </p:spPr>
      </p:pic>
      <p:pic>
        <p:nvPicPr>
          <p:cNvPr id="18" name="Picture 18"/>
          <p:cNvPicPr>
            <a:picLocks noChangeAspect="1"/>
          </p:cNvPicPr>
          <p:nvPr/>
        </p:nvPicPr>
        <p:blipFill>
          <a:blip r:embed="rId13"/>
          <a:stretch>
            <a:fillRect/>
          </a:stretch>
        </p:blipFill>
        <p:spPr>
          <a:xfrm>
            <a:off x="12870543" y="11342171"/>
            <a:ext cx="1306286" cy="1306286"/>
          </a:xfrm>
          <a:prstGeom prst="rect">
            <a:avLst/>
          </a:prstGeom>
          <a:effectLst>
            <a:outerShdw blurRad="725714" dist="96761" dir="5400000" algn="ctr">
              <a:srgbClr val="2C5E8A">
                <a:alpha val="20000"/>
              </a:srgbClr>
            </a:outerShdw>
          </a:effectLst>
        </p:spPr>
      </p:pic>
      <p:pic>
        <p:nvPicPr>
          <p:cNvPr id="19" name="Picture 19"/>
          <p:cNvPicPr>
            <a:picLocks noChangeAspect="1"/>
          </p:cNvPicPr>
          <p:nvPr/>
        </p:nvPicPr>
        <p:blipFill>
          <a:blip r:embed="rId14"/>
          <a:stretch>
            <a:fillRect/>
          </a:stretch>
        </p:blipFill>
        <p:spPr>
          <a:xfrm flipV="1">
            <a:off x="1693334" y="2061270"/>
            <a:ext cx="12632265" cy="45719"/>
          </a:xfrm>
          <a:prstGeom prst="rect">
            <a:avLst/>
          </a:prstGeom>
        </p:spPr>
      </p:pic>
      <p:sp>
        <p:nvSpPr>
          <p:cNvPr id="20" name="TextBox 20"/>
          <p:cNvSpPr txBox="1"/>
          <p:nvPr/>
        </p:nvSpPr>
        <p:spPr>
          <a:xfrm>
            <a:off x="1693333" y="882952"/>
            <a:ext cx="13532228" cy="1054705"/>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7200" b="1" i="0" u="none" strike="noStrike" dirty="0">
                <a:solidFill>
                  <a:srgbClr val="111111"/>
                </a:solidFill>
                <a:latin typeface="Arial" panose="020B0604020202020204" pitchFamily="34" charset="0"/>
                <a:cs typeface="Arial" panose="020B0604020202020204" pitchFamily="34" charset="0"/>
              </a:rPr>
              <a:t>Objectives and Contributions</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21" name="TextBox 21"/>
          <p:cNvSpPr txBox="1"/>
          <p:nvPr/>
        </p:nvSpPr>
        <p:spPr>
          <a:xfrm>
            <a:off x="3460188" y="5703903"/>
            <a:ext cx="9297125" cy="13933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4283" b="0" i="0" u="none" strike="noStrike" dirty="0">
                <a:solidFill>
                  <a:srgbClr val="111111"/>
                </a:solidFill>
                <a:latin typeface="Arial" panose="020B0604020202020204" pitchFamily="34" charset="0"/>
                <a:cs typeface="Arial" panose="020B0604020202020204" pitchFamily="34" charset="0"/>
              </a:rPr>
              <a:t>Build Clean Benchmark Dataset</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22" name="TextBox 22"/>
          <p:cNvSpPr txBox="1"/>
          <p:nvPr/>
        </p:nvSpPr>
        <p:spPr>
          <a:xfrm>
            <a:off x="3483428" y="7869161"/>
            <a:ext cx="9297125" cy="13933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4120" b="0" i="0" u="none" strike="noStrike" dirty="0">
                <a:solidFill>
                  <a:srgbClr val="111111"/>
                </a:solidFill>
                <a:latin typeface="Arial" panose="020B0604020202020204" pitchFamily="34" charset="0"/>
                <a:cs typeface="Arial" panose="020B0604020202020204" pitchFamily="34" charset="0"/>
              </a:rPr>
              <a:t>Multi-Stream Linguistic Modeling</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23" name="TextBox 23"/>
          <p:cNvSpPr txBox="1"/>
          <p:nvPr/>
        </p:nvSpPr>
        <p:spPr>
          <a:xfrm>
            <a:off x="3483428" y="9639904"/>
            <a:ext cx="9297125" cy="13933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4180" b="0" i="0" u="none" strike="noStrike" dirty="0">
                <a:solidFill>
                  <a:srgbClr val="111111"/>
                </a:solidFill>
                <a:latin typeface="Embedded Inter"/>
              </a:rPr>
              <a:t>Dynamic Cross-Attention Fusion</a:t>
            </a:r>
          </a:p>
          <a:p>
            <a:pPr marL="0" algn="l">
              <a:lnSpc>
                <a:spcPct val="110000"/>
              </a:lnSpc>
              <a:spcBef>
                <a:spcPct val="0"/>
              </a:spcBef>
              <a:spcAft>
                <a:spcPct val="0"/>
              </a:spcAft>
            </a:pPr>
            <a:r>
              <a:rPr lang="en-US" sz="100" dirty="0">
                <a:latin typeface="Embedded Inter"/>
              </a:rPr>
              <a:t> </a:t>
            </a:r>
          </a:p>
        </p:txBody>
      </p:sp>
      <p:sp>
        <p:nvSpPr>
          <p:cNvPr id="24" name="TextBox 24"/>
          <p:cNvSpPr txBox="1"/>
          <p:nvPr/>
        </p:nvSpPr>
        <p:spPr>
          <a:xfrm>
            <a:off x="14555290" y="5459580"/>
            <a:ext cx="9297125" cy="1393371"/>
          </a:xfrm>
          <a:prstGeom prst="rect">
            <a:avLst/>
          </a:prstGeom>
        </p:spPr>
        <p:txBody>
          <a:bodyPr wrap="none" lIns="0" tIns="0" rIns="0" bIns="0" rtlCol="0" anchor="t"/>
          <a:lstStyle/>
          <a:p>
            <a:pPr marL="0" algn="l">
              <a:lnSpc>
                <a:spcPct val="110000"/>
              </a:lnSpc>
              <a:spcBef>
                <a:spcPct val="0"/>
              </a:spcBef>
              <a:spcAft>
                <a:spcPct val="0"/>
              </a:spcAft>
            </a:pPr>
            <a:r>
              <a:rPr lang="en-US" sz="4120" dirty="0">
                <a:latin typeface="Arial" panose="020B0604020202020204" pitchFamily="34" charset="0"/>
                <a:cs typeface="Arial" panose="020B0604020202020204" pitchFamily="34" charset="0"/>
              </a:rPr>
              <a:t> </a:t>
            </a:r>
            <a:r>
              <a:rPr lang="en-US" sz="4120" dirty="0">
                <a:solidFill>
                  <a:srgbClr val="111111"/>
                </a:solidFill>
                <a:latin typeface="Arial" panose="020B0604020202020204" pitchFamily="34" charset="0"/>
                <a:cs typeface="Arial" panose="020B0604020202020204" pitchFamily="34" charset="0"/>
              </a:rPr>
              <a:t>~</a:t>
            </a:r>
            <a:r>
              <a:rPr lang="en-US" sz="4120" b="0" i="0" u="none" strike="noStrike" dirty="0">
                <a:solidFill>
                  <a:srgbClr val="111111"/>
                </a:solidFill>
                <a:latin typeface="Arial" panose="020B0604020202020204" pitchFamily="34" charset="0"/>
                <a:cs typeface="Arial" panose="020B0604020202020204" pitchFamily="34" charset="0"/>
              </a:rPr>
              <a:t>44.5K Clean news</a:t>
            </a:r>
            <a:r>
              <a:rPr lang="en-US" sz="4120" dirty="0">
                <a:solidFill>
                  <a:srgbClr val="111111"/>
                </a:solidFill>
                <a:latin typeface="Arial" panose="020B0604020202020204" pitchFamily="34" charset="0"/>
                <a:cs typeface="Arial" panose="020B0604020202020204" pitchFamily="34" charset="0"/>
              </a:rPr>
              <a:t> </a:t>
            </a:r>
            <a:r>
              <a:rPr lang="en-US" sz="4120" b="0" i="0" u="none" strike="noStrike" dirty="0">
                <a:solidFill>
                  <a:srgbClr val="111111"/>
                </a:solidFill>
                <a:latin typeface="Arial" panose="020B0604020202020204" pitchFamily="34" charset="0"/>
                <a:cs typeface="Arial" panose="020B0604020202020204" pitchFamily="34" charset="0"/>
              </a:rPr>
              <a:t>Samples </a:t>
            </a:r>
            <a:r>
              <a:rPr lang="en-US" sz="4120" dirty="0">
                <a:latin typeface="Arial" panose="020B0604020202020204" pitchFamily="34" charset="0"/>
                <a:cs typeface="Arial" panose="020B0604020202020204" pitchFamily="34" charset="0"/>
              </a:rPr>
              <a:t>across</a:t>
            </a:r>
          </a:p>
          <a:p>
            <a:pPr marL="0" algn="l">
              <a:lnSpc>
                <a:spcPct val="110000"/>
              </a:lnSpc>
              <a:spcBef>
                <a:spcPct val="0"/>
              </a:spcBef>
              <a:spcAft>
                <a:spcPct val="0"/>
              </a:spcAft>
            </a:pPr>
            <a:r>
              <a:rPr lang="en-US" sz="4120" dirty="0">
                <a:latin typeface="Arial" panose="020B0604020202020204" pitchFamily="34" charset="0"/>
                <a:cs typeface="Arial" panose="020B0604020202020204" pitchFamily="34" charset="0"/>
              </a:rPr>
              <a:t> 16 news categories.</a:t>
            </a:r>
            <a:endParaRPr lang="en-US" sz="4120" b="0" i="0" u="none" strike="noStrike" dirty="0">
              <a:solidFill>
                <a:srgbClr val="111111"/>
              </a:solidFill>
              <a:latin typeface="Arial" panose="020B0604020202020204" pitchFamily="34" charset="0"/>
              <a:cs typeface="Arial" panose="020B0604020202020204" pitchFamily="34" charset="0"/>
            </a:endParaRPr>
          </a:p>
          <a:p>
            <a:pPr marL="0" algn="l">
              <a:lnSpc>
                <a:spcPct val="110000"/>
              </a:lnSpc>
              <a:spcBef>
                <a:spcPct val="0"/>
              </a:spcBef>
              <a:spcAft>
                <a:spcPct val="0"/>
              </a:spcAft>
            </a:pPr>
            <a:r>
              <a:rPr lang="en-US" sz="4120" dirty="0">
                <a:latin typeface="Arial" panose="020B0604020202020204" pitchFamily="34" charset="0"/>
                <a:cs typeface="Arial" panose="020B0604020202020204" pitchFamily="34" charset="0"/>
              </a:rPr>
              <a:t> </a:t>
            </a:r>
          </a:p>
        </p:txBody>
      </p:sp>
      <p:sp>
        <p:nvSpPr>
          <p:cNvPr id="25" name="TextBox 25"/>
          <p:cNvSpPr txBox="1"/>
          <p:nvPr/>
        </p:nvSpPr>
        <p:spPr>
          <a:xfrm>
            <a:off x="14516586" y="7900424"/>
            <a:ext cx="9297125" cy="13933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4162" b="0" i="0" u="none" strike="noStrike" dirty="0">
                <a:solidFill>
                  <a:srgbClr val="111111"/>
                </a:solidFill>
                <a:latin typeface="Arial" panose="020B0604020202020204" pitchFamily="34" charset="0"/>
                <a:cs typeface="Arial" panose="020B0604020202020204" pitchFamily="34" charset="0"/>
              </a:rPr>
              <a:t>Novel DG-</a:t>
            </a:r>
            <a:r>
              <a:rPr lang="en-US" sz="4162" b="0" i="0" u="none" strike="noStrike" dirty="0" err="1">
                <a:solidFill>
                  <a:srgbClr val="111111"/>
                </a:solidFill>
                <a:latin typeface="Arial" panose="020B0604020202020204" pitchFamily="34" charset="0"/>
                <a:cs typeface="Arial" panose="020B0604020202020204" pitchFamily="34" charset="0"/>
              </a:rPr>
              <a:t>SSOFNet</a:t>
            </a:r>
            <a:r>
              <a:rPr lang="en-US" sz="4162" b="0" i="0" u="none" strike="noStrike" dirty="0">
                <a:solidFill>
                  <a:srgbClr val="111111"/>
                </a:solidFill>
                <a:latin typeface="Arial" panose="020B0604020202020204" pitchFamily="34" charset="0"/>
                <a:cs typeface="Arial" panose="020B0604020202020204" pitchFamily="34" charset="0"/>
              </a:rPr>
              <a:t> Architecture</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26" name="TextBox 26"/>
          <p:cNvSpPr txBox="1"/>
          <p:nvPr/>
        </p:nvSpPr>
        <p:spPr>
          <a:xfrm>
            <a:off x="14565571" y="11571004"/>
            <a:ext cx="9297125" cy="13933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4120" b="0" i="0" u="none" strike="noStrike" dirty="0">
                <a:solidFill>
                  <a:srgbClr val="111111"/>
                </a:solidFill>
                <a:latin typeface="Arial" panose="020B0604020202020204" pitchFamily="34" charset="0"/>
                <a:cs typeface="Arial" panose="020B0604020202020204" pitchFamily="34" charset="0"/>
              </a:rPr>
              <a:t>Minimal ECE (0.0052) &amp; Typo</a:t>
            </a:r>
          </a:p>
          <a:p>
            <a:pPr marL="0" algn="l" fontAlgn="base">
              <a:lnSpc>
                <a:spcPct val="100000"/>
              </a:lnSpc>
              <a:spcBef>
                <a:spcPct val="0"/>
              </a:spcBef>
              <a:spcAft>
                <a:spcPct val="0"/>
              </a:spcAft>
            </a:pPr>
            <a:r>
              <a:rPr lang="en-US" sz="4120" b="0" i="0" u="none" strike="noStrike" dirty="0">
                <a:solidFill>
                  <a:srgbClr val="111111"/>
                </a:solidFill>
                <a:latin typeface="Arial" panose="020B0604020202020204" pitchFamily="34" charset="0"/>
                <a:cs typeface="Arial" panose="020B0604020202020204" pitchFamily="34" charset="0"/>
              </a:rPr>
              <a:t>Robustness</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27" name="TextBox 27"/>
          <p:cNvSpPr txBox="1"/>
          <p:nvPr/>
        </p:nvSpPr>
        <p:spPr>
          <a:xfrm>
            <a:off x="12780553" y="3476731"/>
            <a:ext cx="3907247" cy="962222"/>
          </a:xfrm>
          <a:prstGeom prst="rect">
            <a:avLst/>
          </a:prstGeom>
        </p:spPr>
        <p:txBody>
          <a:bodyPr wrap="none" lIns="0" tIns="0" rIns="0" bIns="0" rtlCol="0" anchor="ctr"/>
          <a:lstStyle/>
          <a:p>
            <a:pPr marL="0" algn="l">
              <a:lnSpc>
                <a:spcPct val="110000"/>
              </a:lnSpc>
              <a:spcBef>
                <a:spcPct val="0"/>
              </a:spcBef>
              <a:spcAft>
                <a:spcPct val="0"/>
              </a:spcAft>
            </a:pPr>
            <a:r>
              <a:rPr lang="en-US" sz="56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5600" b="0" i="0" u="none" strike="noStrike" dirty="0">
                <a:solidFill>
                  <a:srgbClr val="F2F0EC"/>
                </a:solidFill>
                <a:latin typeface="Arial" panose="020B0604020202020204" pitchFamily="34" charset="0"/>
                <a:cs typeface="Arial" panose="020B0604020202020204" pitchFamily="34" charset="0"/>
              </a:rPr>
              <a:t> Contributions</a:t>
            </a:r>
          </a:p>
          <a:p>
            <a:pPr marL="0" algn="l">
              <a:lnSpc>
                <a:spcPct val="110000"/>
              </a:lnSpc>
              <a:spcBef>
                <a:spcPct val="0"/>
              </a:spcBef>
              <a:spcAft>
                <a:spcPct val="0"/>
              </a:spcAft>
            </a:pPr>
            <a:r>
              <a:rPr lang="en-US" sz="5600" dirty="0">
                <a:latin typeface="Arial" panose="020B0604020202020204" pitchFamily="34" charset="0"/>
                <a:cs typeface="Arial" panose="020B0604020202020204" pitchFamily="34" charset="0"/>
              </a:rPr>
              <a:t> </a:t>
            </a:r>
          </a:p>
        </p:txBody>
      </p:sp>
      <p:sp>
        <p:nvSpPr>
          <p:cNvPr id="28" name="TextBox 28"/>
          <p:cNvSpPr txBox="1"/>
          <p:nvPr/>
        </p:nvSpPr>
        <p:spPr>
          <a:xfrm>
            <a:off x="1981200" y="3376989"/>
            <a:ext cx="3534142" cy="1061964"/>
          </a:xfrm>
          <a:prstGeom prst="rect">
            <a:avLst/>
          </a:prstGeom>
        </p:spPr>
        <p:txBody>
          <a:bodyPr wrap="none" lIns="0" tIns="0" rIns="0" bIns="0" rtlCol="0" anchor="ctr"/>
          <a:lstStyle/>
          <a:p>
            <a:pPr marL="0" algn="l">
              <a:lnSpc>
                <a:spcPct val="110000"/>
              </a:lnSpc>
              <a:spcBef>
                <a:spcPct val="0"/>
              </a:spcBef>
              <a:spcAft>
                <a:spcPct val="0"/>
              </a:spcAft>
            </a:pPr>
            <a:r>
              <a:rPr lang="en-US" sz="56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5600" b="0" i="0" u="none" strike="noStrike" dirty="0">
                <a:solidFill>
                  <a:srgbClr val="F2F0EC"/>
                </a:solidFill>
                <a:latin typeface="Arial" panose="020B0604020202020204" pitchFamily="34" charset="0"/>
                <a:cs typeface="Arial" panose="020B0604020202020204" pitchFamily="34" charset="0"/>
              </a:rPr>
              <a:t>Objectives</a:t>
            </a:r>
          </a:p>
          <a:p>
            <a:pPr marL="0" algn="l">
              <a:lnSpc>
                <a:spcPct val="110000"/>
              </a:lnSpc>
              <a:spcBef>
                <a:spcPct val="0"/>
              </a:spcBef>
              <a:spcAft>
                <a:spcPct val="0"/>
              </a:spcAft>
            </a:pPr>
            <a:r>
              <a:rPr lang="en-US" sz="5600" dirty="0">
                <a:latin typeface="Arial" panose="020B0604020202020204" pitchFamily="34" charset="0"/>
                <a:cs typeface="Arial" panose="020B0604020202020204" pitchFamily="34" charset="0"/>
              </a:rPr>
              <a:t> </a:t>
            </a:r>
          </a:p>
        </p:txBody>
      </p:sp>
      <p:sp>
        <p:nvSpPr>
          <p:cNvPr id="29" name="TextBox 29"/>
          <p:cNvSpPr txBox="1"/>
          <p:nvPr/>
        </p:nvSpPr>
        <p:spPr>
          <a:xfrm>
            <a:off x="3573418" y="11422697"/>
            <a:ext cx="9297125" cy="696686"/>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4532" b="0" i="0" u="none" strike="noStrike" dirty="0">
                <a:solidFill>
                  <a:srgbClr val="111111"/>
                </a:solidFill>
                <a:latin typeface="Arial" panose="020B0604020202020204" pitchFamily="34" charset="0"/>
                <a:cs typeface="Arial" panose="020B0604020202020204" pitchFamily="34" charset="0"/>
              </a:rPr>
              <a:t>Optimized Feature Clustering</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30" name="TextBox 30"/>
          <p:cNvSpPr txBox="1"/>
          <p:nvPr/>
        </p:nvSpPr>
        <p:spPr>
          <a:xfrm>
            <a:off x="14591667" y="9837057"/>
            <a:ext cx="8902095" cy="638629"/>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4155" b="0" i="0" u="none" strike="noStrike" dirty="0">
                <a:solidFill>
                  <a:srgbClr val="2C5E8A"/>
                </a:solidFill>
                <a:latin typeface="Arial" panose="020B0604020202020204" pitchFamily="34" charset="0"/>
                <a:cs typeface="Arial" panose="020B0604020202020204" pitchFamily="34" charset="0"/>
              </a:rPr>
              <a:t>97.11% SOTA Accuracy</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31" name="TextBox 31"/>
          <p:cNvSpPr txBox="1"/>
          <p:nvPr/>
        </p:nvSpPr>
        <p:spPr>
          <a:xfrm>
            <a:off x="1595362" y="5334000"/>
            <a:ext cx="1502229" cy="1306286"/>
          </a:xfrm>
          <a:prstGeom prst="rect">
            <a:avLst/>
          </a:prstGeom>
        </p:spPr>
        <p:txBody>
          <a:bodyPr wrap="none" lIns="0" tIns="0" rIns="0" bIns="0" rtlCol="0" anchor="ctr"/>
          <a:lstStyle/>
          <a:p>
            <a:pPr marL="0" algn="ctr" fontAlgn="base">
              <a:lnSpc>
                <a:spcPct val="100000"/>
              </a:lnSpc>
              <a:spcBef>
                <a:spcPct val="0"/>
              </a:spcBef>
              <a:spcAft>
                <a:spcPct val="0"/>
              </a:spcAft>
            </a:pPr>
            <a:r>
              <a:rPr lang="en-US" sz="5333" b="0" i="0" u="none" strike="noStrike" dirty="0">
                <a:solidFill>
                  <a:srgbClr val="FFFFFF"/>
                </a:solidFill>
                <a:latin typeface="Embedded Inter"/>
              </a:rPr>
              <a:t>1</a:t>
            </a:r>
          </a:p>
        </p:txBody>
      </p:sp>
      <p:sp>
        <p:nvSpPr>
          <p:cNvPr id="32" name="TextBox 32"/>
          <p:cNvSpPr txBox="1"/>
          <p:nvPr/>
        </p:nvSpPr>
        <p:spPr>
          <a:xfrm>
            <a:off x="1595363" y="7665963"/>
            <a:ext cx="1421674" cy="944637"/>
          </a:xfrm>
          <a:prstGeom prst="rect">
            <a:avLst/>
          </a:prstGeom>
        </p:spPr>
        <p:txBody>
          <a:bodyPr wrap="none" lIns="0" tIns="0" rIns="0" bIns="0" rtlCol="0" anchor="ctr"/>
          <a:lstStyle/>
          <a:p>
            <a:pPr marL="0" algn="ctr" fontAlgn="base">
              <a:lnSpc>
                <a:spcPct val="100000"/>
              </a:lnSpc>
              <a:spcBef>
                <a:spcPct val="0"/>
              </a:spcBef>
              <a:spcAft>
                <a:spcPct val="0"/>
              </a:spcAft>
            </a:pPr>
            <a:r>
              <a:rPr lang="en-US" sz="6095" b="0" i="0" u="none" strike="noStrike" dirty="0">
                <a:solidFill>
                  <a:srgbClr val="FFFFFF"/>
                </a:solidFill>
                <a:latin typeface="Embedded Inter"/>
              </a:rPr>
              <a:t>2</a:t>
            </a:r>
          </a:p>
        </p:txBody>
      </p:sp>
      <p:sp>
        <p:nvSpPr>
          <p:cNvPr id="33" name="TextBox 33"/>
          <p:cNvSpPr txBox="1"/>
          <p:nvPr/>
        </p:nvSpPr>
        <p:spPr>
          <a:xfrm>
            <a:off x="1654023" y="9457871"/>
            <a:ext cx="1502229" cy="1306286"/>
          </a:xfrm>
          <a:prstGeom prst="rect">
            <a:avLst/>
          </a:prstGeom>
        </p:spPr>
        <p:txBody>
          <a:bodyPr wrap="none" lIns="0" tIns="0" rIns="0" bIns="0" rtlCol="0" anchor="ctr"/>
          <a:lstStyle/>
          <a:p>
            <a:pPr marL="0" algn="ctr" fontAlgn="base">
              <a:lnSpc>
                <a:spcPct val="100000"/>
              </a:lnSpc>
              <a:spcBef>
                <a:spcPct val="0"/>
              </a:spcBef>
              <a:spcAft>
                <a:spcPct val="0"/>
              </a:spcAft>
            </a:pPr>
            <a:r>
              <a:rPr lang="en-US" sz="6095" b="0" i="0" u="none" strike="noStrike" dirty="0">
                <a:solidFill>
                  <a:srgbClr val="FFFFFF"/>
                </a:solidFill>
                <a:latin typeface="Embedded Inter"/>
              </a:rPr>
              <a:t>3</a:t>
            </a:r>
          </a:p>
        </p:txBody>
      </p:sp>
      <p:sp>
        <p:nvSpPr>
          <p:cNvPr id="34" name="TextBox 34"/>
          <p:cNvSpPr txBox="1"/>
          <p:nvPr/>
        </p:nvSpPr>
        <p:spPr>
          <a:xfrm>
            <a:off x="1654023" y="11217129"/>
            <a:ext cx="1502229" cy="1306286"/>
          </a:xfrm>
          <a:prstGeom prst="rect">
            <a:avLst/>
          </a:prstGeom>
        </p:spPr>
        <p:txBody>
          <a:bodyPr wrap="none" lIns="0" tIns="0" rIns="0" bIns="0" rtlCol="0" anchor="ctr"/>
          <a:lstStyle/>
          <a:p>
            <a:pPr marL="0" algn="ctr" fontAlgn="base">
              <a:lnSpc>
                <a:spcPct val="100000"/>
              </a:lnSpc>
              <a:spcBef>
                <a:spcPct val="0"/>
              </a:spcBef>
              <a:spcAft>
                <a:spcPct val="0"/>
              </a:spcAft>
            </a:pPr>
            <a:r>
              <a:rPr lang="en-US" sz="6095" b="0" i="0" u="none" strike="noStrike" dirty="0">
                <a:solidFill>
                  <a:srgbClr val="FFFFFF"/>
                </a:solidFill>
                <a:latin typeface="Embedded Inter"/>
              </a:rPr>
              <a:t>4</a:t>
            </a:r>
          </a:p>
        </p:txBody>
      </p:sp>
      <p:sp>
        <p:nvSpPr>
          <p:cNvPr id="35" name="TextBox 35"/>
          <p:cNvSpPr txBox="1"/>
          <p:nvPr/>
        </p:nvSpPr>
        <p:spPr>
          <a:xfrm>
            <a:off x="12674600" y="5334000"/>
            <a:ext cx="1502229" cy="1306286"/>
          </a:xfrm>
          <a:prstGeom prst="rect">
            <a:avLst/>
          </a:prstGeom>
        </p:spPr>
        <p:txBody>
          <a:bodyPr wrap="none" lIns="0" tIns="0" rIns="0" bIns="0" rtlCol="0" anchor="ctr"/>
          <a:lstStyle/>
          <a:p>
            <a:pPr marL="0" algn="ctr" fontAlgn="base">
              <a:lnSpc>
                <a:spcPct val="100000"/>
              </a:lnSpc>
              <a:spcBef>
                <a:spcPct val="0"/>
              </a:spcBef>
              <a:spcAft>
                <a:spcPct val="0"/>
              </a:spcAft>
            </a:pPr>
            <a:r>
              <a:rPr lang="en-US" sz="6095" b="0" i="0" u="none" strike="noStrike">
                <a:solidFill>
                  <a:srgbClr val="FFFFFF"/>
                </a:solidFill>
                <a:latin typeface="Embedded Inter"/>
              </a:rPr>
              <a:t>1</a:t>
            </a:r>
          </a:p>
        </p:txBody>
      </p:sp>
      <p:sp>
        <p:nvSpPr>
          <p:cNvPr id="36" name="TextBox 36"/>
          <p:cNvSpPr txBox="1"/>
          <p:nvPr/>
        </p:nvSpPr>
        <p:spPr>
          <a:xfrm>
            <a:off x="12674600" y="7665963"/>
            <a:ext cx="1502229" cy="1248228"/>
          </a:xfrm>
          <a:prstGeom prst="rect">
            <a:avLst/>
          </a:prstGeom>
        </p:spPr>
        <p:txBody>
          <a:bodyPr wrap="none" lIns="0" tIns="0" rIns="0" bIns="0" rtlCol="0" anchor="ctr"/>
          <a:lstStyle/>
          <a:p>
            <a:pPr marL="0" algn="ctr" fontAlgn="base">
              <a:lnSpc>
                <a:spcPct val="100000"/>
              </a:lnSpc>
              <a:spcBef>
                <a:spcPct val="0"/>
              </a:spcBef>
              <a:spcAft>
                <a:spcPct val="0"/>
              </a:spcAft>
            </a:pPr>
            <a:r>
              <a:rPr lang="en-US" sz="6095" b="0" i="0" u="none" strike="noStrike" dirty="0">
                <a:solidFill>
                  <a:srgbClr val="FFFFFF"/>
                </a:solidFill>
                <a:latin typeface="Embedded Inter"/>
              </a:rPr>
              <a:t>2</a:t>
            </a:r>
          </a:p>
        </p:txBody>
      </p:sp>
      <p:sp>
        <p:nvSpPr>
          <p:cNvPr id="37" name="TextBox 37"/>
          <p:cNvSpPr txBox="1"/>
          <p:nvPr/>
        </p:nvSpPr>
        <p:spPr>
          <a:xfrm>
            <a:off x="12674600" y="9639906"/>
            <a:ext cx="1502229" cy="1306286"/>
          </a:xfrm>
          <a:prstGeom prst="rect">
            <a:avLst/>
          </a:prstGeom>
        </p:spPr>
        <p:txBody>
          <a:bodyPr wrap="none" lIns="0" tIns="0" rIns="0" bIns="0" rtlCol="0" anchor="ctr"/>
          <a:lstStyle/>
          <a:p>
            <a:pPr marL="0" algn="ctr" fontAlgn="base">
              <a:lnSpc>
                <a:spcPct val="100000"/>
              </a:lnSpc>
              <a:spcBef>
                <a:spcPct val="0"/>
              </a:spcBef>
              <a:spcAft>
                <a:spcPct val="0"/>
              </a:spcAft>
            </a:pPr>
            <a:r>
              <a:rPr lang="en-US" sz="6095" b="0" i="0" u="none" strike="noStrike" dirty="0">
                <a:solidFill>
                  <a:srgbClr val="FFFFFF"/>
                </a:solidFill>
                <a:latin typeface="Embedded Inter"/>
              </a:rPr>
              <a:t>3</a:t>
            </a:r>
          </a:p>
        </p:txBody>
      </p:sp>
      <p:sp>
        <p:nvSpPr>
          <p:cNvPr id="38" name="TextBox 38"/>
          <p:cNvSpPr txBox="1"/>
          <p:nvPr/>
        </p:nvSpPr>
        <p:spPr>
          <a:xfrm>
            <a:off x="12744268" y="11405577"/>
            <a:ext cx="1432561" cy="1074061"/>
          </a:xfrm>
          <a:prstGeom prst="rect">
            <a:avLst/>
          </a:prstGeom>
        </p:spPr>
        <p:txBody>
          <a:bodyPr wrap="none" lIns="0" tIns="0" rIns="0" bIns="0" rtlCol="0" anchor="ctr"/>
          <a:lstStyle/>
          <a:p>
            <a:pPr marL="0" algn="ctr" fontAlgn="base">
              <a:lnSpc>
                <a:spcPct val="100000"/>
              </a:lnSpc>
              <a:spcBef>
                <a:spcPct val="0"/>
              </a:spcBef>
              <a:spcAft>
                <a:spcPct val="0"/>
              </a:spcAft>
            </a:pPr>
            <a:r>
              <a:rPr lang="en-US" sz="6095" b="0" i="0" u="none" strike="noStrike" dirty="0">
                <a:solidFill>
                  <a:srgbClr val="FFFFFF"/>
                </a:solidFill>
                <a:latin typeface="Embedded Inter"/>
              </a:rPr>
              <a:t>4</a:t>
            </a:r>
          </a:p>
        </p:txBody>
      </p:sp>
      <p:pic>
        <p:nvPicPr>
          <p:cNvPr id="39" name="Picture 39"/>
          <p:cNvPicPr>
            <a:picLocks noChangeAspect="1"/>
          </p:cNvPicPr>
          <p:nvPr/>
        </p:nvPicPr>
        <p:blipFill>
          <a:blip r:embed="rId15"/>
          <a:stretch>
            <a:fillRect/>
          </a:stretch>
        </p:blipFill>
        <p:spPr>
          <a:xfrm>
            <a:off x="22158476" y="-1270000"/>
            <a:ext cx="3193143" cy="3193143"/>
          </a:xfrm>
          <a:prstGeom prst="rect">
            <a:avLst/>
          </a:prstGeom>
        </p:spPr>
      </p:pic>
      <p:sp>
        <p:nvSpPr>
          <p:cNvPr id="40" name="TextBox 40"/>
          <p:cNvSpPr txBox="1"/>
          <p:nvPr/>
        </p:nvSpPr>
        <p:spPr>
          <a:xfrm>
            <a:off x="23103721" y="616857"/>
            <a:ext cx="359561"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777" dirty="0">
                <a:solidFill>
                  <a:srgbClr val="F2F0EC"/>
                </a:solidFill>
                <a:latin typeface="Embedded Inter"/>
              </a:rPr>
              <a:t>5</a:t>
            </a:r>
            <a:endParaRPr lang="en-US" sz="3777" b="0" i="0" u="none" strike="noStrike" dirty="0">
              <a:solidFill>
                <a:srgbClr val="F2F0EC"/>
              </a:solidFill>
              <a:latin typeface="Embedded Inter"/>
            </a:endParaRPr>
          </a:p>
          <a:p>
            <a:pPr marL="0" algn="l">
              <a:lnSpc>
                <a:spcPct val="110000"/>
              </a:lnSpc>
              <a:spcBef>
                <a:spcPct val="0"/>
              </a:spcBef>
              <a:spcAft>
                <a:spcPct val="0"/>
              </a:spcAft>
            </a:pPr>
            <a:r>
              <a:rPr lang="en-US" sz="100" dirty="0">
                <a:latin typeface="Embedded Inter"/>
              </a:rPr>
              <a:t> </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26572"/>
            <a:ext cx="23222857" cy="13062857"/>
          </a:xfrm>
          <a:prstGeom prst="rect">
            <a:avLst/>
          </a:prstGeom>
        </p:spPr>
      </p:pic>
      <p:pic>
        <p:nvPicPr>
          <p:cNvPr id="6" name="Picture 6"/>
          <p:cNvPicPr>
            <a:picLocks noChangeAspect="1"/>
          </p:cNvPicPr>
          <p:nvPr/>
        </p:nvPicPr>
        <p:blipFill>
          <a:blip r:embed="rId7"/>
          <a:stretch>
            <a:fillRect/>
          </a:stretch>
        </p:blipFill>
        <p:spPr>
          <a:xfrm>
            <a:off x="1683658" y="2373086"/>
            <a:ext cx="21016685" cy="8002209"/>
          </a:xfrm>
          <a:prstGeom prst="rect">
            <a:avLst/>
          </a:prstGeom>
          <a:effectLst>
            <a:outerShdw blurRad="871825" dist="96869" dir="5400000" algn="ctr">
              <a:srgbClr val="000000">
                <a:alpha val="5098"/>
              </a:srgbClr>
            </a:outerShdw>
          </a:effectLst>
        </p:spPr>
      </p:pic>
      <p:pic>
        <p:nvPicPr>
          <p:cNvPr id="7" name="Picture 7"/>
          <p:cNvPicPr>
            <a:picLocks noChangeAspect="1"/>
          </p:cNvPicPr>
          <p:nvPr/>
        </p:nvPicPr>
        <p:blipFill>
          <a:blip r:embed="rId8">
            <a:extLst>
              <a:ext uri="{28A0092B-C50C-407E-A947-70E740481C1C}">
                <a14:useLocalDpi xmlns:a14="http://schemas.microsoft.com/office/drawing/2010/main" val="0"/>
              </a:ext>
            </a:extLst>
          </a:blip>
          <a:srcRect/>
          <a:stretch/>
        </p:blipFill>
        <p:spPr>
          <a:xfrm>
            <a:off x="2318554" y="2386810"/>
            <a:ext cx="19888302" cy="7897779"/>
          </a:xfrm>
          <a:prstGeom prst="rect">
            <a:avLst/>
          </a:prstGeom>
        </p:spPr>
      </p:pic>
      <p:pic>
        <p:nvPicPr>
          <p:cNvPr id="8" name="Picture 8"/>
          <p:cNvPicPr>
            <a:picLocks noChangeAspect="1"/>
          </p:cNvPicPr>
          <p:nvPr/>
        </p:nvPicPr>
        <p:blipFill>
          <a:blip r:embed="rId9"/>
          <a:stretch>
            <a:fillRect/>
          </a:stretch>
        </p:blipFill>
        <p:spPr>
          <a:xfrm flipV="1">
            <a:off x="1747762" y="1737731"/>
            <a:ext cx="18423467" cy="75799"/>
          </a:xfrm>
          <a:prstGeom prst="rect">
            <a:avLst/>
          </a:prstGeom>
        </p:spPr>
      </p:pic>
      <p:pic>
        <p:nvPicPr>
          <p:cNvPr id="9" name="Picture 9"/>
          <p:cNvPicPr>
            <a:picLocks noChangeAspect="1"/>
          </p:cNvPicPr>
          <p:nvPr/>
        </p:nvPicPr>
        <p:blipFill>
          <a:blip r:embed="rId10"/>
          <a:stretch>
            <a:fillRect/>
          </a:stretch>
        </p:blipFill>
        <p:spPr>
          <a:xfrm>
            <a:off x="1693333" y="10528907"/>
            <a:ext cx="20997334" cy="2298095"/>
          </a:xfrm>
          <a:prstGeom prst="rect">
            <a:avLst/>
          </a:prstGeom>
          <a:effectLst>
            <a:outerShdw blurRad="1451428" dist="241904" dir="5400000" algn="ctr">
              <a:srgbClr val="000000">
                <a:alpha val="3137"/>
              </a:srgbClr>
            </a:outerShdw>
          </a:effectLst>
        </p:spPr>
      </p:pic>
      <p:pic>
        <p:nvPicPr>
          <p:cNvPr id="10" name="Picture 10"/>
          <p:cNvPicPr>
            <a:picLocks noChangeAspect="1"/>
          </p:cNvPicPr>
          <p:nvPr/>
        </p:nvPicPr>
        <p:blipFill>
          <a:blip r:embed="rId11"/>
          <a:stretch>
            <a:fillRect/>
          </a:stretch>
        </p:blipFill>
        <p:spPr>
          <a:xfrm>
            <a:off x="1693333" y="10523058"/>
            <a:ext cx="193524" cy="2298095"/>
          </a:xfrm>
          <a:prstGeom prst="rect">
            <a:avLst/>
          </a:prstGeom>
        </p:spPr>
      </p:pic>
      <p:pic>
        <p:nvPicPr>
          <p:cNvPr id="11" name="Picture 11"/>
          <p:cNvPicPr>
            <a:picLocks noChangeAspect="1"/>
          </p:cNvPicPr>
          <p:nvPr/>
        </p:nvPicPr>
        <p:blipFill>
          <a:blip r:embed="rId12"/>
          <a:stretch>
            <a:fillRect/>
          </a:stretch>
        </p:blipFill>
        <p:spPr>
          <a:xfrm>
            <a:off x="6717998" y="11740850"/>
            <a:ext cx="19352" cy="1086152"/>
          </a:xfrm>
          <a:prstGeom prst="rect">
            <a:avLst/>
          </a:prstGeom>
        </p:spPr>
      </p:pic>
      <p:pic>
        <p:nvPicPr>
          <p:cNvPr id="12" name="Picture 12"/>
          <p:cNvPicPr>
            <a:picLocks noChangeAspect="1"/>
          </p:cNvPicPr>
          <p:nvPr/>
        </p:nvPicPr>
        <p:blipFill>
          <a:blip r:embed="rId12"/>
          <a:stretch>
            <a:fillRect/>
          </a:stretch>
        </p:blipFill>
        <p:spPr>
          <a:xfrm>
            <a:off x="11616872" y="11740850"/>
            <a:ext cx="19352" cy="1086152"/>
          </a:xfrm>
          <a:prstGeom prst="rect">
            <a:avLst/>
          </a:prstGeom>
        </p:spPr>
      </p:pic>
      <p:pic>
        <p:nvPicPr>
          <p:cNvPr id="13" name="Picture 13"/>
          <p:cNvPicPr>
            <a:picLocks noChangeAspect="1"/>
          </p:cNvPicPr>
          <p:nvPr/>
        </p:nvPicPr>
        <p:blipFill>
          <a:blip r:embed="rId12"/>
          <a:stretch>
            <a:fillRect/>
          </a:stretch>
        </p:blipFill>
        <p:spPr>
          <a:xfrm>
            <a:off x="16515746" y="11740850"/>
            <a:ext cx="19352" cy="1086152"/>
          </a:xfrm>
          <a:prstGeom prst="rect">
            <a:avLst/>
          </a:prstGeom>
        </p:spPr>
      </p:pic>
      <p:sp>
        <p:nvSpPr>
          <p:cNvPr id="14" name="TextBox 14"/>
          <p:cNvSpPr txBox="1"/>
          <p:nvPr/>
        </p:nvSpPr>
        <p:spPr>
          <a:xfrm>
            <a:off x="1693333" y="607355"/>
            <a:ext cx="24146934" cy="1021745"/>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6800" b="1" i="0" u="none" strike="noStrike" spc="-97" dirty="0">
                <a:solidFill>
                  <a:srgbClr val="111111"/>
                </a:solidFill>
                <a:latin typeface="Arial" panose="020B0604020202020204" pitchFamily="34" charset="0"/>
                <a:cs typeface="Arial" panose="020B0604020202020204" pitchFamily="34" charset="0"/>
              </a:rPr>
              <a:t>Methodology: Dataset Reconstruction Pipelin</a:t>
            </a:r>
            <a:r>
              <a:rPr lang="en-US" sz="6800" b="1" i="0" u="none" strike="noStrike" dirty="0">
                <a:solidFill>
                  <a:srgbClr val="111111"/>
                </a:solidFill>
                <a:latin typeface="Arial" panose="020B0604020202020204" pitchFamily="34" charset="0"/>
                <a:cs typeface="Arial" panose="020B0604020202020204" pitchFamily="34" charset="0"/>
              </a:rPr>
              <a:t>e</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15" name="TextBox 15"/>
          <p:cNvSpPr txBox="1"/>
          <p:nvPr/>
        </p:nvSpPr>
        <p:spPr>
          <a:xfrm>
            <a:off x="1993295" y="10541738"/>
            <a:ext cx="22922895" cy="522514"/>
          </a:xfrm>
          <a:prstGeom prst="rect">
            <a:avLst/>
          </a:prstGeom>
        </p:spPr>
        <p:txBody>
          <a:bodyPr wrap="none" lIns="0" tIns="0" rIns="0" bIns="0" rtlCol="0" anchor="ctr"/>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2666" b="1" i="0" u="none" strike="noStrike" dirty="0">
                <a:solidFill>
                  <a:srgbClr val="1F2937"/>
                </a:solidFill>
                <a:latin typeface="Embedded Inter"/>
              </a:rPr>
              <a:t>Example:</a:t>
            </a:r>
          </a:p>
          <a:p>
            <a:pPr marL="0" algn="l">
              <a:lnSpc>
                <a:spcPct val="110000"/>
              </a:lnSpc>
              <a:spcBef>
                <a:spcPct val="0"/>
              </a:spcBef>
              <a:spcAft>
                <a:spcPct val="0"/>
              </a:spcAft>
            </a:pPr>
            <a:r>
              <a:rPr lang="en-US" sz="100" dirty="0">
                <a:latin typeface="Embedded Inter"/>
              </a:rPr>
              <a:t> </a:t>
            </a:r>
          </a:p>
        </p:txBody>
      </p:sp>
      <p:sp>
        <p:nvSpPr>
          <p:cNvPr id="16" name="TextBox 16"/>
          <p:cNvSpPr txBox="1"/>
          <p:nvPr/>
        </p:nvSpPr>
        <p:spPr>
          <a:xfrm>
            <a:off x="2318554" y="11061056"/>
            <a:ext cx="4447825" cy="1670838"/>
          </a:xfrm>
          <a:prstGeom prst="rect">
            <a:avLst/>
          </a:prstGeom>
        </p:spPr>
        <p:txBody>
          <a:bodyPr wrap="square" lIns="0" tIns="0" rIns="0" bIns="0" rtlCol="0" anchor="t"/>
          <a:lstStyle/>
          <a:p>
            <a:pPr marL="0" algn="l">
              <a:lnSpc>
                <a:spcPct val="150000"/>
              </a:lnSpc>
              <a:spcBef>
                <a:spcPct val="0"/>
              </a:spcBef>
              <a:spcAft>
                <a:spcPct val="0"/>
              </a:spcAft>
            </a:pPr>
            <a:r>
              <a:rPr lang="en-US" sz="100" dirty="0">
                <a:latin typeface="Embedded Hind Siliguri"/>
              </a:rPr>
              <a:t> </a:t>
            </a:r>
          </a:p>
          <a:p>
            <a:pPr marL="0" algn="l" fontAlgn="base">
              <a:lnSpc>
                <a:spcPct val="150000"/>
              </a:lnSpc>
              <a:spcBef>
                <a:spcPct val="0"/>
              </a:spcBef>
              <a:spcAft>
                <a:spcPct val="3000"/>
              </a:spcAft>
            </a:pPr>
            <a:r>
              <a:rPr lang="en-US" sz="2200" b="1" dirty="0">
                <a:solidFill>
                  <a:srgbClr val="111111"/>
                </a:solidFill>
                <a:latin typeface="Arial" panose="020B0604020202020204" pitchFamily="34" charset="0"/>
                <a:cs typeface="Arial" panose="020B0604020202020204" pitchFamily="34" charset="0"/>
              </a:rPr>
              <a:t>1</a:t>
            </a:r>
            <a:r>
              <a:rPr lang="en-US" sz="2200" b="1" i="0" u="none" strike="noStrike" dirty="0">
                <a:solidFill>
                  <a:srgbClr val="111111"/>
                </a:solidFill>
                <a:latin typeface="Arial" panose="020B0604020202020204" pitchFamily="34" charset="0"/>
                <a:cs typeface="Arial" panose="020B0604020202020204" pitchFamily="34" charset="0"/>
              </a:rPr>
              <a:t>. Raw Headline:</a:t>
            </a:r>
          </a:p>
          <a:p>
            <a:pPr marL="0" algn="l" fontAlgn="base">
              <a:lnSpc>
                <a:spcPct val="150000"/>
              </a:lnSpc>
              <a:spcBef>
                <a:spcPct val="0"/>
              </a:spcBef>
              <a:spcAft>
                <a:spcPct val="3000"/>
              </a:spcAft>
            </a:pPr>
            <a:r>
              <a:rPr lang="en-US" sz="2200" b="0" i="0" u="none" strike="noStrike" dirty="0">
                <a:solidFill>
                  <a:srgbClr val="111111"/>
                </a:solidFill>
                <a:latin typeface="Arial" panose="020B0604020202020204" pitchFamily="34" charset="0"/>
                <a:cs typeface="Arial" panose="020B0604020202020204" pitchFamily="34" charset="0"/>
              </a:rPr>
              <a:t>“</a:t>
            </a:r>
            <a:r>
              <a:rPr lang="en-US" sz="2300" b="0" i="0" u="none" strike="noStrike" dirty="0" err="1">
                <a:solidFill>
                  <a:srgbClr val="111111"/>
                </a:solidFill>
                <a:latin typeface="Vrinda" panose="020B0502040204020203" pitchFamily="34" charset="0"/>
                <a:cs typeface="Vrinda" panose="020B0502040204020203" pitchFamily="34" charset="0"/>
              </a:rPr>
              <a:t>পঙ্গু</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হাসপাতালে</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এবছর</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বিনামূল্যে</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কৃত্রিম</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পা</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সংযোজনের</a:t>
            </a:r>
            <a:r>
              <a:rPr lang="en-US" sz="2300"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তথ্যটি</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ভুয়া</a:t>
            </a:r>
            <a:r>
              <a:rPr lang="en-US" sz="2200" b="0" i="0" u="none" strike="noStrike" dirty="0">
                <a:solidFill>
                  <a:srgbClr val="111111"/>
                </a:solidFill>
                <a:latin typeface="Arial" panose="020B0604020202020204" pitchFamily="34" charset="0"/>
                <a:cs typeface="Arial" panose="020B0604020202020204" pitchFamily="34" charset="0"/>
              </a:rPr>
              <a:t>”</a:t>
            </a:r>
          </a:p>
          <a:p>
            <a:pPr marL="0" algn="l">
              <a:lnSpc>
                <a:spcPct val="150000"/>
              </a:lnSpc>
              <a:spcBef>
                <a:spcPct val="0"/>
              </a:spcBef>
              <a:spcAft>
                <a:spcPct val="0"/>
              </a:spcAft>
            </a:pPr>
            <a:r>
              <a:rPr lang="en-US" sz="100" dirty="0">
                <a:latin typeface="Embedded Hind Siliguri"/>
              </a:rPr>
              <a:t> </a:t>
            </a:r>
          </a:p>
        </p:txBody>
      </p:sp>
      <p:sp>
        <p:nvSpPr>
          <p:cNvPr id="17" name="TextBox 17"/>
          <p:cNvSpPr txBox="1"/>
          <p:nvPr/>
        </p:nvSpPr>
        <p:spPr>
          <a:xfrm>
            <a:off x="7163122" y="11077083"/>
            <a:ext cx="4021002" cy="1670838"/>
          </a:xfrm>
          <a:prstGeom prst="rect">
            <a:avLst/>
          </a:prstGeom>
        </p:spPr>
        <p:txBody>
          <a:bodyPr wrap="none" lIns="0" tIns="0" rIns="0" bIns="0" rtlCol="0" anchor="t"/>
          <a:lstStyle/>
          <a:p>
            <a:pPr marL="0" algn="l">
              <a:lnSpc>
                <a:spcPct val="150000"/>
              </a:lnSpc>
              <a:spcBef>
                <a:spcPct val="0"/>
              </a:spcBef>
              <a:spcAft>
                <a:spcPct val="0"/>
              </a:spcAft>
            </a:pPr>
            <a:r>
              <a:rPr lang="en-US" sz="2200" dirty="0">
                <a:latin typeface="Arial" panose="020B0604020202020204" pitchFamily="34" charset="0"/>
                <a:cs typeface="Arial" panose="020B0604020202020204" pitchFamily="34" charset="0"/>
              </a:rPr>
              <a:t> </a:t>
            </a:r>
            <a:r>
              <a:rPr lang="en-US" sz="2200" b="1" dirty="0">
                <a:solidFill>
                  <a:srgbClr val="111111"/>
                </a:solidFill>
                <a:latin typeface="Arial" panose="020B0604020202020204" pitchFamily="34" charset="0"/>
                <a:cs typeface="Arial" panose="020B0604020202020204" pitchFamily="34" charset="0"/>
              </a:rPr>
              <a:t>2</a:t>
            </a:r>
            <a:r>
              <a:rPr lang="en-US" sz="2200" b="1" i="0" u="none" strike="noStrike" dirty="0">
                <a:solidFill>
                  <a:srgbClr val="111111"/>
                </a:solidFill>
                <a:latin typeface="Arial" panose="020B0604020202020204" pitchFamily="34" charset="0"/>
                <a:cs typeface="Arial" panose="020B0604020202020204" pitchFamily="34" charset="0"/>
              </a:rPr>
              <a:t>. Tag Removal:</a:t>
            </a:r>
          </a:p>
          <a:p>
            <a:pPr marL="0" algn="l" fontAlgn="base">
              <a:lnSpc>
                <a:spcPct val="150000"/>
              </a:lnSpc>
              <a:spcBef>
                <a:spcPct val="0"/>
              </a:spcBef>
              <a:spcAft>
                <a:spcPct val="0"/>
              </a:spcAft>
            </a:pPr>
            <a:r>
              <a:rPr lang="en-US" sz="2200" b="0" i="0" u="none" strike="noStrike" dirty="0">
                <a:solidFill>
                  <a:srgbClr val="111111"/>
                </a:solidFill>
                <a:latin typeface="Arial" panose="020B0604020202020204" pitchFamily="34" charset="0"/>
                <a:cs typeface="Arial" panose="020B0604020202020204" pitchFamily="34" charset="0"/>
              </a:rPr>
              <a:t>Removed debunking suffix tag</a:t>
            </a:r>
          </a:p>
          <a:p>
            <a:pPr marL="0" algn="l" fontAlgn="base">
              <a:lnSpc>
                <a:spcPct val="150000"/>
              </a:lnSpc>
              <a:spcBef>
                <a:spcPct val="0"/>
              </a:spcBef>
              <a:spcAft>
                <a:spcPct val="0"/>
              </a:spcAft>
            </a:pPr>
            <a:r>
              <a:rPr lang="en-US" sz="2200" b="0" i="0" u="none" strike="noStrike" dirty="0">
                <a:solidFill>
                  <a:srgbClr val="111111"/>
                </a:solidFill>
                <a:latin typeface="Arial" panose="020B0604020202020204" pitchFamily="34" charset="0"/>
                <a:cs typeface="Arial" panose="020B0604020202020204"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তথ্যটি</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ভুয়া</a:t>
            </a:r>
            <a:r>
              <a:rPr lang="en-US" sz="2200" b="0" i="0" u="none" strike="noStrike" dirty="0">
                <a:solidFill>
                  <a:srgbClr val="111111"/>
                </a:solidFill>
                <a:latin typeface="Arial" panose="020B0604020202020204" pitchFamily="34" charset="0"/>
                <a:cs typeface="Arial" panose="020B0604020202020204" pitchFamily="34" charset="0"/>
              </a:rPr>
              <a:t>].</a:t>
            </a:r>
          </a:p>
          <a:p>
            <a:pPr marL="0" algn="l">
              <a:lnSpc>
                <a:spcPct val="150000"/>
              </a:lnSpc>
              <a:spcBef>
                <a:spcPct val="0"/>
              </a:spcBef>
              <a:spcAft>
                <a:spcPct val="0"/>
              </a:spcAft>
            </a:pPr>
            <a:r>
              <a:rPr lang="en-US" sz="2200" dirty="0">
                <a:latin typeface="Arial" panose="020B0604020202020204" pitchFamily="34" charset="0"/>
                <a:cs typeface="Arial" panose="020B0604020202020204" pitchFamily="34" charset="0"/>
              </a:rPr>
              <a:t> </a:t>
            </a:r>
          </a:p>
        </p:txBody>
      </p:sp>
      <p:sp>
        <p:nvSpPr>
          <p:cNvPr id="18" name="TextBox 18"/>
          <p:cNvSpPr txBox="1"/>
          <p:nvPr/>
        </p:nvSpPr>
        <p:spPr>
          <a:xfrm>
            <a:off x="11912257" y="11061056"/>
            <a:ext cx="4303229" cy="1602658"/>
          </a:xfrm>
          <a:prstGeom prst="rect">
            <a:avLst/>
          </a:prstGeom>
        </p:spPr>
        <p:txBody>
          <a:bodyPr wrap="none" lIns="0" tIns="0" rIns="0" bIns="0" rtlCol="0" anchor="t"/>
          <a:lstStyle/>
          <a:p>
            <a:pPr marL="0" algn="l">
              <a:lnSpc>
                <a:spcPct val="150000"/>
              </a:lnSpc>
              <a:spcBef>
                <a:spcPct val="0"/>
              </a:spcBef>
              <a:spcAft>
                <a:spcPct val="0"/>
              </a:spcAft>
            </a:pPr>
            <a:r>
              <a:rPr lang="en-US" sz="2200" dirty="0">
                <a:latin typeface="Arial" panose="020B0604020202020204" pitchFamily="34" charset="0"/>
                <a:cs typeface="Arial" panose="020B0604020202020204" pitchFamily="34" charset="0"/>
              </a:rPr>
              <a:t> </a:t>
            </a:r>
            <a:r>
              <a:rPr lang="en-US" sz="2200" b="1" dirty="0">
                <a:solidFill>
                  <a:srgbClr val="111111"/>
                </a:solidFill>
                <a:latin typeface="Arial" panose="020B0604020202020204" pitchFamily="34" charset="0"/>
                <a:cs typeface="Arial" panose="020B0604020202020204" pitchFamily="34" charset="0"/>
              </a:rPr>
              <a:t>3</a:t>
            </a:r>
            <a:r>
              <a:rPr lang="en-US" sz="2200" b="1" i="0" u="none" strike="noStrike" dirty="0">
                <a:solidFill>
                  <a:srgbClr val="111111"/>
                </a:solidFill>
                <a:latin typeface="Arial" panose="020B0604020202020204" pitchFamily="34" charset="0"/>
                <a:cs typeface="Arial" panose="020B0604020202020204" pitchFamily="34" charset="0"/>
              </a:rPr>
              <a:t>. Intermediate State:</a:t>
            </a:r>
          </a:p>
          <a:p>
            <a:pPr marL="0" algn="l" fontAlgn="base">
              <a:lnSpc>
                <a:spcPct val="150000"/>
              </a:lnSpc>
              <a:spcBef>
                <a:spcPct val="0"/>
              </a:spcBef>
              <a:spcAft>
                <a:spcPct val="0"/>
              </a:spcAft>
            </a:pPr>
            <a:r>
              <a:rPr lang="en-US" sz="2200" b="0" i="0" u="none" strike="noStrike" dirty="0">
                <a:solidFill>
                  <a:srgbClr val="111111"/>
                </a:solidFill>
                <a:latin typeface="Arial" panose="020B0604020202020204" pitchFamily="34" charset="0"/>
                <a:cs typeface="Arial" panose="020B0604020202020204" pitchFamily="34" charset="0"/>
              </a:rPr>
              <a:t>“</a:t>
            </a:r>
            <a:r>
              <a:rPr lang="en-US" sz="2300" b="0" i="0" u="none" strike="noStrike" dirty="0" err="1">
                <a:solidFill>
                  <a:srgbClr val="111111"/>
                </a:solidFill>
                <a:latin typeface="Vrinda" panose="020B0502040204020203" pitchFamily="34" charset="0"/>
                <a:cs typeface="Vrinda" panose="020B0502040204020203" pitchFamily="34" charset="0"/>
              </a:rPr>
              <a:t>পঙ্গু</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হাসপাতালে</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এবছর</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বিনামূল্যে</a:t>
            </a:r>
            <a:r>
              <a:rPr lang="en-US" sz="2300" b="0" i="0" u="none" strike="noStrike" dirty="0">
                <a:solidFill>
                  <a:srgbClr val="111111"/>
                </a:solidFill>
                <a:latin typeface="Vrinda" panose="020B0502040204020203" pitchFamily="34" charset="0"/>
                <a:cs typeface="Vrinda" panose="020B0502040204020203" pitchFamily="34" charset="0"/>
              </a:rPr>
              <a:t> </a:t>
            </a:r>
          </a:p>
          <a:p>
            <a:pPr marL="0" algn="l" fontAlgn="base">
              <a:lnSpc>
                <a:spcPct val="150000"/>
              </a:lnSpc>
              <a:spcBef>
                <a:spcPct val="0"/>
              </a:spcBef>
              <a:spcAft>
                <a:spcPct val="0"/>
              </a:spcAft>
            </a:pPr>
            <a:r>
              <a:rPr lang="en-US" sz="2300" b="0" i="0" u="none" strike="noStrike" dirty="0" err="1">
                <a:solidFill>
                  <a:srgbClr val="111111"/>
                </a:solidFill>
                <a:latin typeface="Vrinda" panose="020B0502040204020203" pitchFamily="34" charset="0"/>
                <a:cs typeface="Vrinda" panose="020B0502040204020203" pitchFamily="34" charset="0"/>
              </a:rPr>
              <a:t>কৃত্রিম</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পা</a:t>
            </a:r>
            <a:r>
              <a:rPr lang="en-US" sz="2300" b="0" i="0" u="none" strike="noStrike" dirty="0">
                <a:solidFill>
                  <a:srgbClr val="111111"/>
                </a:solidFill>
                <a:latin typeface="Vrinda" panose="020B0502040204020203" pitchFamily="34" charset="0"/>
                <a:cs typeface="Vrinda" panose="020B0502040204020203" pitchFamily="34" charset="0"/>
              </a:rPr>
              <a:t> </a:t>
            </a:r>
            <a:r>
              <a:rPr lang="en-US" sz="2300" b="0" i="0" u="none" strike="noStrike" dirty="0" err="1">
                <a:solidFill>
                  <a:srgbClr val="111111"/>
                </a:solidFill>
                <a:latin typeface="Vrinda" panose="020B0502040204020203" pitchFamily="34" charset="0"/>
                <a:cs typeface="Vrinda" panose="020B0502040204020203" pitchFamily="34" charset="0"/>
              </a:rPr>
              <a:t>সংযোজনের</a:t>
            </a:r>
            <a:r>
              <a:rPr lang="en-US" sz="2200" b="0" i="0" u="none" strike="noStrike" dirty="0">
                <a:solidFill>
                  <a:srgbClr val="111111"/>
                </a:solidFill>
                <a:latin typeface="Arial" panose="020B0604020202020204" pitchFamily="34" charset="0"/>
                <a:cs typeface="Arial" panose="020B0604020202020204" pitchFamily="34" charset="0"/>
              </a:rPr>
              <a:t>”</a:t>
            </a:r>
          </a:p>
          <a:p>
            <a:pPr marL="0" algn="l">
              <a:lnSpc>
                <a:spcPct val="150000"/>
              </a:lnSpc>
              <a:spcBef>
                <a:spcPct val="0"/>
              </a:spcBef>
              <a:spcAft>
                <a:spcPct val="0"/>
              </a:spcAft>
            </a:pPr>
            <a:r>
              <a:rPr lang="en-US" sz="2200" dirty="0">
                <a:latin typeface="Arial" panose="020B0604020202020204" pitchFamily="34" charset="0"/>
                <a:cs typeface="Arial" panose="020B0604020202020204" pitchFamily="34" charset="0"/>
              </a:rPr>
              <a:t> </a:t>
            </a:r>
          </a:p>
        </p:txBody>
      </p:sp>
      <p:sp>
        <p:nvSpPr>
          <p:cNvPr id="21" name="TextBox 21"/>
          <p:cNvSpPr txBox="1"/>
          <p:nvPr/>
        </p:nvSpPr>
        <p:spPr>
          <a:xfrm>
            <a:off x="16746708" y="10978922"/>
            <a:ext cx="5439828" cy="1713690"/>
          </a:xfrm>
          <a:prstGeom prst="rect">
            <a:avLst/>
          </a:prstGeom>
        </p:spPr>
        <p:txBody>
          <a:bodyPr wrap="none" lIns="0" tIns="0" rIns="0" bIns="0" rtlCol="0" anchor="t"/>
          <a:lstStyle/>
          <a:p>
            <a:pPr marL="0" algn="l">
              <a:lnSpc>
                <a:spcPct val="150000"/>
              </a:lnSpc>
              <a:spcBef>
                <a:spcPct val="0"/>
              </a:spcBef>
              <a:spcAft>
                <a:spcPct val="0"/>
              </a:spcAft>
            </a:pPr>
            <a:r>
              <a:rPr lang="en-US" sz="2200" dirty="0">
                <a:latin typeface="Arial" panose="020B0604020202020204" pitchFamily="34" charset="0"/>
                <a:cs typeface="Arial" panose="020B0604020202020204" pitchFamily="34" charset="0"/>
              </a:rPr>
              <a:t> </a:t>
            </a:r>
            <a:r>
              <a:rPr lang="en-US" sz="2200" b="1" dirty="0">
                <a:solidFill>
                  <a:srgbClr val="111111"/>
                </a:solidFill>
                <a:latin typeface="Arial" panose="020B0604020202020204" pitchFamily="34" charset="0"/>
                <a:cs typeface="Arial" panose="020B0604020202020204" pitchFamily="34" charset="0"/>
              </a:rPr>
              <a:t>4</a:t>
            </a:r>
            <a:r>
              <a:rPr lang="en-US" sz="2200" b="1" i="0" u="none" strike="noStrike" dirty="0">
                <a:solidFill>
                  <a:srgbClr val="111111"/>
                </a:solidFill>
                <a:latin typeface="Arial" panose="020B0604020202020204" pitchFamily="34" charset="0"/>
                <a:cs typeface="Arial" panose="020B0604020202020204" pitchFamily="34" charset="0"/>
              </a:rPr>
              <a:t>. AI Based Reconstruction:</a:t>
            </a:r>
          </a:p>
          <a:p>
            <a:pPr>
              <a:lnSpc>
                <a:spcPct val="150000"/>
              </a:lnSpc>
              <a:spcBef>
                <a:spcPct val="0"/>
              </a:spcBef>
              <a:spcAft>
                <a:spcPct val="0"/>
              </a:spcAft>
            </a:pPr>
            <a:r>
              <a:rPr lang="en-US" sz="2200" dirty="0">
                <a:solidFill>
                  <a:srgbClr val="D94F3A"/>
                </a:solidFill>
                <a:latin typeface="Arial" panose="020B0604020202020204" pitchFamily="34" charset="0"/>
                <a:cs typeface="Arial" panose="020B0604020202020204" pitchFamily="34" charset="0"/>
              </a:rPr>
              <a:t>“</a:t>
            </a:r>
            <a:r>
              <a:rPr lang="en-US" sz="2300" dirty="0" err="1">
                <a:solidFill>
                  <a:srgbClr val="D94F3A"/>
                </a:solidFill>
                <a:latin typeface="Vrinda" panose="020B0502040204020203" pitchFamily="34" charset="0"/>
                <a:cs typeface="Vrinda" panose="020B0502040204020203" pitchFamily="34" charset="0"/>
              </a:rPr>
              <a:t>পঙ্গু</a:t>
            </a:r>
            <a:r>
              <a:rPr lang="en-US" sz="2300" dirty="0">
                <a:solidFill>
                  <a:srgbClr val="D94F3A"/>
                </a:solidFill>
                <a:latin typeface="Vrinda" panose="020B0502040204020203" pitchFamily="34" charset="0"/>
                <a:cs typeface="Vrinda" panose="020B0502040204020203" pitchFamily="34" charset="0"/>
              </a:rPr>
              <a:t> </a:t>
            </a:r>
            <a:r>
              <a:rPr lang="en-US" sz="2300" dirty="0" err="1">
                <a:solidFill>
                  <a:srgbClr val="D94F3A"/>
                </a:solidFill>
                <a:latin typeface="Vrinda" panose="020B0502040204020203" pitchFamily="34" charset="0"/>
                <a:cs typeface="Vrinda" panose="020B0502040204020203" pitchFamily="34" charset="0"/>
              </a:rPr>
              <a:t>হাসপাতালে</a:t>
            </a:r>
            <a:r>
              <a:rPr lang="en-US" sz="2300" dirty="0">
                <a:solidFill>
                  <a:srgbClr val="D94F3A"/>
                </a:solidFill>
                <a:latin typeface="Vrinda" panose="020B0502040204020203" pitchFamily="34" charset="0"/>
                <a:cs typeface="Vrinda" panose="020B0502040204020203" pitchFamily="34" charset="0"/>
              </a:rPr>
              <a:t> </a:t>
            </a:r>
            <a:r>
              <a:rPr lang="en-US" sz="2300" dirty="0" err="1">
                <a:solidFill>
                  <a:srgbClr val="D94F3A"/>
                </a:solidFill>
                <a:latin typeface="Vrinda" panose="020B0502040204020203" pitchFamily="34" charset="0"/>
                <a:cs typeface="Vrinda" panose="020B0502040204020203" pitchFamily="34" charset="0"/>
              </a:rPr>
              <a:t>এবছর</a:t>
            </a:r>
            <a:r>
              <a:rPr lang="en-US" sz="2300" dirty="0">
                <a:solidFill>
                  <a:srgbClr val="D94F3A"/>
                </a:solidFill>
                <a:latin typeface="Vrinda" panose="020B0502040204020203" pitchFamily="34" charset="0"/>
                <a:cs typeface="Vrinda" panose="020B0502040204020203" pitchFamily="34" charset="0"/>
              </a:rPr>
              <a:t> </a:t>
            </a:r>
            <a:r>
              <a:rPr lang="en-US" sz="2300" dirty="0" err="1">
                <a:solidFill>
                  <a:srgbClr val="D94F3A"/>
                </a:solidFill>
                <a:latin typeface="Vrinda" panose="020B0502040204020203" pitchFamily="34" charset="0"/>
                <a:cs typeface="Vrinda" panose="020B0502040204020203" pitchFamily="34" charset="0"/>
              </a:rPr>
              <a:t>বিনামূল্যে</a:t>
            </a:r>
            <a:r>
              <a:rPr lang="en-US" sz="2300" dirty="0">
                <a:solidFill>
                  <a:srgbClr val="D94F3A"/>
                </a:solidFill>
                <a:latin typeface="Vrinda" panose="020B0502040204020203" pitchFamily="34" charset="0"/>
                <a:cs typeface="Vrinda" panose="020B0502040204020203" pitchFamily="34" charset="0"/>
              </a:rPr>
              <a:t> </a:t>
            </a:r>
            <a:r>
              <a:rPr lang="en-US" sz="2300" dirty="0" err="1">
                <a:solidFill>
                  <a:srgbClr val="D94F3A"/>
                </a:solidFill>
                <a:latin typeface="Vrinda" panose="020B0502040204020203" pitchFamily="34" charset="0"/>
                <a:cs typeface="Vrinda" panose="020B0502040204020203" pitchFamily="34" charset="0"/>
              </a:rPr>
              <a:t>কৃত্রিম</a:t>
            </a:r>
            <a:r>
              <a:rPr lang="en-US" sz="2300" dirty="0">
                <a:solidFill>
                  <a:srgbClr val="D94F3A"/>
                </a:solidFill>
                <a:latin typeface="Vrinda" panose="020B0502040204020203" pitchFamily="34" charset="0"/>
                <a:cs typeface="Vrinda" panose="020B0502040204020203" pitchFamily="34" charset="0"/>
              </a:rPr>
              <a:t> </a:t>
            </a:r>
            <a:r>
              <a:rPr lang="en-US" sz="2300" dirty="0" err="1">
                <a:solidFill>
                  <a:srgbClr val="D94F3A"/>
                </a:solidFill>
                <a:latin typeface="Vrinda" panose="020B0502040204020203" pitchFamily="34" charset="0"/>
                <a:cs typeface="Vrinda" panose="020B0502040204020203" pitchFamily="34" charset="0"/>
              </a:rPr>
              <a:t>পা</a:t>
            </a:r>
            <a:r>
              <a:rPr lang="en-US" sz="2300" dirty="0">
                <a:solidFill>
                  <a:srgbClr val="D94F3A"/>
                </a:solidFill>
                <a:latin typeface="Vrinda" panose="020B0502040204020203" pitchFamily="34" charset="0"/>
                <a:cs typeface="Vrinda" panose="020B0502040204020203" pitchFamily="34" charset="0"/>
              </a:rPr>
              <a:t> </a:t>
            </a:r>
          </a:p>
          <a:p>
            <a:pPr fontAlgn="base">
              <a:lnSpc>
                <a:spcPct val="150000"/>
              </a:lnSpc>
              <a:spcBef>
                <a:spcPct val="0"/>
              </a:spcBef>
              <a:spcAft>
                <a:spcPct val="0"/>
              </a:spcAft>
            </a:pPr>
            <a:r>
              <a:rPr lang="en-US" sz="2300" dirty="0" err="1">
                <a:solidFill>
                  <a:srgbClr val="D94F3A"/>
                </a:solidFill>
                <a:latin typeface="Vrinda" panose="020B0502040204020203" pitchFamily="34" charset="0"/>
                <a:cs typeface="Vrinda" panose="020B0502040204020203" pitchFamily="34" charset="0"/>
              </a:rPr>
              <a:t>সংযোজন</a:t>
            </a:r>
            <a:r>
              <a:rPr lang="en-US" sz="2300" dirty="0">
                <a:solidFill>
                  <a:srgbClr val="D94F3A"/>
                </a:solidFill>
                <a:latin typeface="Vrinda" panose="020B0502040204020203" pitchFamily="34" charset="0"/>
                <a:cs typeface="Vrinda" panose="020B0502040204020203" pitchFamily="34" charset="0"/>
              </a:rPr>
              <a:t> </a:t>
            </a:r>
            <a:r>
              <a:rPr lang="en-US" sz="2300" dirty="0" err="1">
                <a:solidFill>
                  <a:srgbClr val="D94F3A"/>
                </a:solidFill>
                <a:latin typeface="Vrinda" panose="020B0502040204020203" pitchFamily="34" charset="0"/>
                <a:cs typeface="Vrinda" panose="020B0502040204020203" pitchFamily="34" charset="0"/>
              </a:rPr>
              <a:t>করা</a:t>
            </a:r>
            <a:r>
              <a:rPr lang="en-US" sz="2300" dirty="0">
                <a:solidFill>
                  <a:srgbClr val="D94F3A"/>
                </a:solidFill>
                <a:latin typeface="Vrinda" panose="020B0502040204020203" pitchFamily="34" charset="0"/>
                <a:cs typeface="Vrinda" panose="020B0502040204020203" pitchFamily="34" charset="0"/>
              </a:rPr>
              <a:t> </a:t>
            </a:r>
            <a:r>
              <a:rPr lang="en-US" sz="2300" dirty="0" err="1">
                <a:solidFill>
                  <a:srgbClr val="D94F3A"/>
                </a:solidFill>
                <a:latin typeface="Vrinda" panose="020B0502040204020203" pitchFamily="34" charset="0"/>
                <a:cs typeface="Vrinda" panose="020B0502040204020203" pitchFamily="34" charset="0"/>
              </a:rPr>
              <a:t>হচ্ছে</a:t>
            </a:r>
            <a:r>
              <a:rPr lang="en-US" sz="2200" dirty="0">
                <a:solidFill>
                  <a:srgbClr val="D94F3A"/>
                </a:solidFill>
                <a:latin typeface="Arial" panose="020B0604020202020204" pitchFamily="34" charset="0"/>
                <a:cs typeface="Arial" panose="020B0604020202020204" pitchFamily="34" charset="0"/>
              </a:rPr>
              <a:t>”</a:t>
            </a:r>
          </a:p>
          <a:p>
            <a:pPr>
              <a:lnSpc>
                <a:spcPct val="150000"/>
              </a:lnSpc>
              <a:spcBef>
                <a:spcPct val="0"/>
              </a:spcBef>
              <a:spcAft>
                <a:spcPct val="0"/>
              </a:spcAft>
            </a:pPr>
            <a:r>
              <a:rPr lang="en-US" sz="2200" dirty="0">
                <a:latin typeface="Arial" panose="020B0604020202020204" pitchFamily="34" charset="0"/>
                <a:cs typeface="Arial" panose="020B0604020202020204" pitchFamily="34" charset="0"/>
              </a:rPr>
              <a:t> </a:t>
            </a:r>
          </a:p>
          <a:p>
            <a:pPr marL="0" algn="l">
              <a:lnSpc>
                <a:spcPct val="150000"/>
              </a:lnSpc>
              <a:spcBef>
                <a:spcPct val="0"/>
              </a:spcBef>
              <a:spcAft>
                <a:spcPct val="0"/>
              </a:spcAft>
            </a:pPr>
            <a:endParaRPr lang="en-US" sz="2200" dirty="0">
              <a:latin typeface="Arial" panose="020B0604020202020204" pitchFamily="34" charset="0"/>
              <a:cs typeface="Arial" panose="020B0604020202020204" pitchFamily="34" charset="0"/>
            </a:endParaRPr>
          </a:p>
          <a:p>
            <a:pPr marL="0" algn="l">
              <a:lnSpc>
                <a:spcPct val="150000"/>
              </a:lnSpc>
              <a:spcBef>
                <a:spcPct val="0"/>
              </a:spcBef>
              <a:spcAft>
                <a:spcPct val="0"/>
              </a:spcAft>
            </a:pPr>
            <a:r>
              <a:rPr lang="en-US" sz="2200" dirty="0">
                <a:latin typeface="Arial" panose="020B0604020202020204" pitchFamily="34" charset="0"/>
                <a:cs typeface="Arial" panose="020B0604020202020204" pitchFamily="34" charset="0"/>
              </a:rPr>
              <a:t> </a:t>
            </a:r>
          </a:p>
        </p:txBody>
      </p:sp>
      <p:pic>
        <p:nvPicPr>
          <p:cNvPr id="22" name="Picture 22"/>
          <p:cNvPicPr>
            <a:picLocks noChangeAspect="1"/>
          </p:cNvPicPr>
          <p:nvPr/>
        </p:nvPicPr>
        <p:blipFill>
          <a:blip r:embed="rId13"/>
          <a:stretch>
            <a:fillRect/>
          </a:stretch>
        </p:blipFill>
        <p:spPr>
          <a:xfrm>
            <a:off x="21918990" y="-1119112"/>
            <a:ext cx="3193143" cy="3193143"/>
          </a:xfrm>
          <a:prstGeom prst="rect">
            <a:avLst/>
          </a:prstGeom>
        </p:spPr>
      </p:pic>
      <p:sp>
        <p:nvSpPr>
          <p:cNvPr id="23" name="TextBox 23"/>
          <p:cNvSpPr txBox="1"/>
          <p:nvPr/>
        </p:nvSpPr>
        <p:spPr>
          <a:xfrm>
            <a:off x="22725743" y="63080"/>
            <a:ext cx="415895" cy="638629"/>
          </a:xfrm>
          <a:prstGeom prst="rect">
            <a:avLst/>
          </a:prstGeom>
        </p:spPr>
        <p:txBody>
          <a:bodyPr wrap="none" lIns="0" tIns="0" rIns="0" bIns="0" rtlCol="0" anchor="t"/>
          <a:lstStyle/>
          <a:p>
            <a:pPr marL="0" algn="l">
              <a:lnSpc>
                <a:spcPct val="110000"/>
              </a:lnSpc>
              <a:spcBef>
                <a:spcPct val="0"/>
              </a:spcBef>
              <a:spcAft>
                <a:spcPct val="0"/>
              </a:spcAft>
            </a:pPr>
            <a:r>
              <a:rPr lang="en-US" sz="4400" dirty="0">
                <a:latin typeface="Embedded Hind Siliguri"/>
              </a:rPr>
              <a:t> </a:t>
            </a:r>
          </a:p>
          <a:p>
            <a:pPr marL="0" algn="l" fontAlgn="base">
              <a:lnSpc>
                <a:spcPct val="100000"/>
              </a:lnSpc>
              <a:spcBef>
                <a:spcPct val="0"/>
              </a:spcBef>
              <a:spcAft>
                <a:spcPct val="0"/>
              </a:spcAft>
            </a:pPr>
            <a:r>
              <a:rPr lang="en-US" sz="4400" dirty="0">
                <a:solidFill>
                  <a:srgbClr val="F2F0EC"/>
                </a:solidFill>
                <a:latin typeface="Embedded Hind Siliguri"/>
                <a:cs typeface="Embedded Hind Siliguri"/>
              </a:rPr>
              <a:t>6</a:t>
            </a:r>
            <a:endParaRPr lang="en-US" sz="4400" dirty="0">
              <a:latin typeface="Embedded Hind Siliguri"/>
            </a:endParaRPr>
          </a:p>
        </p:txBody>
      </p:sp>
    </p:spTree>
  </p:cSld>
  <p:clrMapOvr>
    <a:masterClrMapping/>
  </p:clrMapOvr>
  <p:transition spd="slow">
    <p:comb/>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26572"/>
            <a:ext cx="23222857" cy="13062857"/>
          </a:xfrm>
          <a:prstGeom prst="rect">
            <a:avLst/>
          </a:prstGeom>
        </p:spPr>
      </p:pic>
      <p:pic>
        <p:nvPicPr>
          <p:cNvPr id="6" name="Picture 6"/>
          <p:cNvPicPr>
            <a:picLocks noChangeAspect="1"/>
          </p:cNvPicPr>
          <p:nvPr/>
        </p:nvPicPr>
        <p:blipFill>
          <a:blip r:embed="rId7">
            <a:extLst>
              <a:ext uri="{28A0092B-C50C-407E-A947-70E740481C1C}">
                <a14:useLocalDpi xmlns:a14="http://schemas.microsoft.com/office/drawing/2010/main" val="0"/>
              </a:ext>
            </a:extLst>
          </a:blip>
          <a:srcRect/>
          <a:stretch/>
        </p:blipFill>
        <p:spPr>
          <a:xfrm>
            <a:off x="1693333" y="1905000"/>
            <a:ext cx="20997334" cy="10928801"/>
          </a:xfrm>
          <a:prstGeom prst="rect">
            <a:avLst/>
          </a:prstGeom>
        </p:spPr>
      </p:pic>
      <p:sp>
        <p:nvSpPr>
          <p:cNvPr id="8" name="TextBox 20">
            <a:extLst>
              <a:ext uri="{FF2B5EF4-FFF2-40B4-BE49-F238E27FC236}">
                <a16:creationId xmlns:a16="http://schemas.microsoft.com/office/drawing/2014/main" id="{AE199CF3-2302-310D-E689-395ACDCD889C}"/>
              </a:ext>
            </a:extLst>
          </p:cNvPr>
          <p:cNvSpPr txBox="1"/>
          <p:nvPr/>
        </p:nvSpPr>
        <p:spPr>
          <a:xfrm>
            <a:off x="1728893" y="-672310"/>
            <a:ext cx="13532228" cy="1054705"/>
          </a:xfrm>
          <a:prstGeom prst="rect">
            <a:avLst/>
          </a:prstGeom>
        </p:spPr>
        <p:txBody>
          <a:bodyPr wrap="none" lIns="0" tIns="0" rIns="0" bIns="0" rtlCol="0" anchor="t"/>
          <a:lstStyle/>
          <a:p>
            <a:pPr marL="0" algn="l">
              <a:lnSpc>
                <a:spcPct val="110000"/>
              </a:lnSpc>
              <a:spcBef>
                <a:spcPct val="0"/>
              </a:spcBef>
              <a:spcAft>
                <a:spcPct val="0"/>
              </a:spcAft>
            </a:pPr>
            <a:r>
              <a:rPr lang="en-US" sz="60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6000" b="1" dirty="0">
                <a:solidFill>
                  <a:srgbClr val="111111"/>
                </a:solidFill>
                <a:latin typeface="Arial" panose="020B0604020202020204" pitchFamily="34" charset="0"/>
                <a:cs typeface="Arial" panose="020B0604020202020204" pitchFamily="34" charset="0"/>
              </a:rPr>
              <a:t>Methodology: Dataset Characteristics and Statistics</a:t>
            </a:r>
            <a:endParaRPr lang="en-US" sz="6000" b="1" i="0" u="none" strike="noStrike" dirty="0">
              <a:solidFill>
                <a:srgbClr val="111111"/>
              </a:solidFill>
              <a:latin typeface="Arial" panose="020B0604020202020204" pitchFamily="34" charset="0"/>
              <a:cs typeface="Arial" panose="020B0604020202020204" pitchFamily="34" charset="0"/>
            </a:endParaRPr>
          </a:p>
          <a:p>
            <a:pPr marL="0" algn="l">
              <a:lnSpc>
                <a:spcPct val="110000"/>
              </a:lnSpc>
              <a:spcBef>
                <a:spcPct val="0"/>
              </a:spcBef>
              <a:spcAft>
                <a:spcPct val="0"/>
              </a:spcAft>
            </a:pPr>
            <a:r>
              <a:rPr lang="en-US" sz="6000" dirty="0">
                <a:latin typeface="Arial" panose="020B0604020202020204" pitchFamily="34" charset="0"/>
                <a:cs typeface="Arial" panose="020B0604020202020204" pitchFamily="34" charset="0"/>
              </a:rPr>
              <a:t> </a:t>
            </a:r>
          </a:p>
        </p:txBody>
      </p:sp>
      <p:pic>
        <p:nvPicPr>
          <p:cNvPr id="12" name="Picture 11">
            <a:extLst>
              <a:ext uri="{FF2B5EF4-FFF2-40B4-BE49-F238E27FC236}">
                <a16:creationId xmlns:a16="http://schemas.microsoft.com/office/drawing/2014/main" id="{A299CC03-A3E6-B195-3D5C-DFECA2B8EEE2}"/>
              </a:ext>
            </a:extLst>
          </p:cNvPr>
          <p:cNvPicPr>
            <a:picLocks noChangeAspect="1"/>
          </p:cNvPicPr>
          <p:nvPr/>
        </p:nvPicPr>
        <p:blipFill>
          <a:blip r:embed="rId8"/>
          <a:stretch>
            <a:fillRect/>
          </a:stretch>
        </p:blipFill>
        <p:spPr>
          <a:xfrm>
            <a:off x="1728893" y="1271667"/>
            <a:ext cx="18845107" cy="78162"/>
          </a:xfrm>
          <a:prstGeom prst="rect">
            <a:avLst/>
          </a:prstGeom>
        </p:spPr>
      </p:pic>
      <p:pic>
        <p:nvPicPr>
          <p:cNvPr id="11" name="Picture 69">
            <a:extLst>
              <a:ext uri="{FF2B5EF4-FFF2-40B4-BE49-F238E27FC236}">
                <a16:creationId xmlns:a16="http://schemas.microsoft.com/office/drawing/2014/main" id="{21FAB1E9-039E-52E2-8AFC-48FAED58AD7C}"/>
              </a:ext>
            </a:extLst>
          </p:cNvPr>
          <p:cNvPicPr>
            <a:picLocks noChangeAspect="1"/>
          </p:cNvPicPr>
          <p:nvPr/>
        </p:nvPicPr>
        <p:blipFill>
          <a:blip r:embed="rId9"/>
          <a:stretch>
            <a:fillRect/>
          </a:stretch>
        </p:blipFill>
        <p:spPr>
          <a:xfrm>
            <a:off x="22206856" y="-1270000"/>
            <a:ext cx="3193143" cy="3193143"/>
          </a:xfrm>
          <a:prstGeom prst="rect">
            <a:avLst/>
          </a:prstGeom>
        </p:spPr>
      </p:pic>
      <p:sp>
        <p:nvSpPr>
          <p:cNvPr id="16" name="TextBox 70">
            <a:extLst>
              <a:ext uri="{FF2B5EF4-FFF2-40B4-BE49-F238E27FC236}">
                <a16:creationId xmlns:a16="http://schemas.microsoft.com/office/drawing/2014/main" id="{0448ACCB-B218-A335-345D-FE336349B09D}"/>
              </a:ext>
            </a:extLst>
          </p:cNvPr>
          <p:cNvSpPr txBox="1"/>
          <p:nvPr/>
        </p:nvSpPr>
        <p:spPr>
          <a:xfrm>
            <a:off x="23164497" y="616857"/>
            <a:ext cx="345304"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777" dirty="0">
                <a:solidFill>
                  <a:srgbClr val="FFFFFF"/>
                </a:solidFill>
                <a:latin typeface="Embedded Inter"/>
              </a:rPr>
              <a:t>7</a:t>
            </a:r>
            <a:r>
              <a:rPr lang="en-US" sz="100" dirty="0">
                <a:latin typeface="Embedded Inter"/>
              </a:rPr>
              <a:t>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005E0-FD28-3553-427B-13131CC8027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2BA1D2D-2412-DD40-5C4D-570D896359C2}"/>
              </a:ext>
            </a:extLst>
          </p:cNvPr>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a:extLst>
              <a:ext uri="{FF2B5EF4-FFF2-40B4-BE49-F238E27FC236}">
                <a16:creationId xmlns:a16="http://schemas.microsoft.com/office/drawing/2014/main" id="{D3F4C7CA-2656-E973-33AE-4880C4678FC7}"/>
              </a:ext>
            </a:extLst>
          </p:cNvPr>
          <p:cNvPicPr>
            <a:picLocks noChangeAspect="1"/>
          </p:cNvPicPr>
          <p:nvPr/>
        </p:nvPicPr>
        <p:blipFill>
          <a:blip r:embed="rId4"/>
          <a:stretch>
            <a:fillRect/>
          </a:stretch>
        </p:blipFill>
        <p:spPr>
          <a:xfrm>
            <a:off x="580572" y="382396"/>
            <a:ext cx="23222857" cy="12951209"/>
          </a:xfrm>
          <a:prstGeom prst="rect">
            <a:avLst/>
          </a:prstGeom>
        </p:spPr>
      </p:pic>
      <p:pic>
        <p:nvPicPr>
          <p:cNvPr id="4" name="Picture 4">
            <a:extLst>
              <a:ext uri="{FF2B5EF4-FFF2-40B4-BE49-F238E27FC236}">
                <a16:creationId xmlns:a16="http://schemas.microsoft.com/office/drawing/2014/main" id="{5072F82F-ED2A-7CDC-2FF1-E4794C8C90F6}"/>
              </a:ext>
            </a:extLst>
          </p:cNvPr>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a:extLst>
              <a:ext uri="{FF2B5EF4-FFF2-40B4-BE49-F238E27FC236}">
                <a16:creationId xmlns:a16="http://schemas.microsoft.com/office/drawing/2014/main" id="{721629A8-5C11-EFC2-5E15-E1B9186453BC}"/>
              </a:ext>
            </a:extLst>
          </p:cNvPr>
          <p:cNvPicPr>
            <a:picLocks noChangeAspect="1"/>
          </p:cNvPicPr>
          <p:nvPr/>
        </p:nvPicPr>
        <p:blipFill>
          <a:blip r:embed="rId6"/>
          <a:stretch>
            <a:fillRect/>
          </a:stretch>
        </p:blipFill>
        <p:spPr>
          <a:xfrm>
            <a:off x="580572" y="326572"/>
            <a:ext cx="23222857" cy="13062857"/>
          </a:xfrm>
          <a:prstGeom prst="rect">
            <a:avLst/>
          </a:prstGeom>
        </p:spPr>
      </p:pic>
      <p:sp>
        <p:nvSpPr>
          <p:cNvPr id="8" name="TextBox 20">
            <a:extLst>
              <a:ext uri="{FF2B5EF4-FFF2-40B4-BE49-F238E27FC236}">
                <a16:creationId xmlns:a16="http://schemas.microsoft.com/office/drawing/2014/main" id="{09158ED7-4498-899F-94B3-1427D1D9F74A}"/>
              </a:ext>
            </a:extLst>
          </p:cNvPr>
          <p:cNvSpPr txBox="1"/>
          <p:nvPr/>
        </p:nvSpPr>
        <p:spPr>
          <a:xfrm>
            <a:off x="1713653" y="-563985"/>
            <a:ext cx="13532228" cy="1054705"/>
          </a:xfrm>
          <a:prstGeom prst="rect">
            <a:avLst/>
          </a:prstGeom>
        </p:spPr>
        <p:txBody>
          <a:bodyPr wrap="none" lIns="0" tIns="0" rIns="0" bIns="0" rtlCol="0" anchor="t"/>
          <a:lstStyle/>
          <a:p>
            <a:pPr marL="0" algn="l">
              <a:lnSpc>
                <a:spcPct val="110000"/>
              </a:lnSpc>
              <a:spcBef>
                <a:spcPct val="0"/>
              </a:spcBef>
              <a:spcAft>
                <a:spcPct val="0"/>
              </a:spcAft>
            </a:pPr>
            <a:r>
              <a:rPr lang="en-US" sz="6000" dirty="0">
                <a:latin typeface="Arial" panose="020B0604020202020204" pitchFamily="34" charset="0"/>
                <a:cs typeface="Arial" panose="020B0604020202020204" pitchFamily="34" charset="0"/>
              </a:rPr>
              <a:t> </a:t>
            </a:r>
          </a:p>
          <a:p>
            <a:pPr fontAlgn="base">
              <a:spcBef>
                <a:spcPct val="0"/>
              </a:spcBef>
              <a:spcAft>
                <a:spcPct val="0"/>
              </a:spcAft>
            </a:pPr>
            <a:r>
              <a:rPr lang="en-US" sz="5200" b="1" dirty="0">
                <a:latin typeface="Arial" panose="020B0604020202020204" pitchFamily="34" charset="0"/>
                <a:cs typeface="Arial" panose="020B0604020202020204" pitchFamily="34" charset="0"/>
              </a:rPr>
              <a:t>METHODOLOGY - DATASET SCHEMA AND CORPUS SAMPLES</a:t>
            </a:r>
          </a:p>
          <a:p>
            <a:pPr marL="0" algn="l" fontAlgn="base">
              <a:lnSpc>
                <a:spcPct val="100000"/>
              </a:lnSpc>
              <a:spcBef>
                <a:spcPct val="0"/>
              </a:spcBef>
              <a:spcAft>
                <a:spcPct val="0"/>
              </a:spcAft>
            </a:pPr>
            <a:endParaRPr lang="en-US" sz="6000" b="1" i="0" u="none" strike="noStrike" dirty="0">
              <a:solidFill>
                <a:srgbClr val="111111"/>
              </a:solidFill>
              <a:latin typeface="Arial" panose="020B0604020202020204" pitchFamily="34" charset="0"/>
              <a:cs typeface="Arial" panose="020B0604020202020204" pitchFamily="34" charset="0"/>
            </a:endParaRPr>
          </a:p>
          <a:p>
            <a:pPr marL="0" algn="l">
              <a:lnSpc>
                <a:spcPct val="110000"/>
              </a:lnSpc>
              <a:spcBef>
                <a:spcPct val="0"/>
              </a:spcBef>
              <a:spcAft>
                <a:spcPct val="0"/>
              </a:spcAft>
            </a:pPr>
            <a:r>
              <a:rPr lang="en-US" sz="6000" dirty="0">
                <a:latin typeface="Arial" panose="020B0604020202020204" pitchFamily="34" charset="0"/>
                <a:cs typeface="Arial" panose="020B0604020202020204" pitchFamily="34" charset="0"/>
              </a:rPr>
              <a:t> </a:t>
            </a:r>
          </a:p>
        </p:txBody>
      </p:sp>
      <p:pic>
        <p:nvPicPr>
          <p:cNvPr id="12" name="Picture 11">
            <a:extLst>
              <a:ext uri="{FF2B5EF4-FFF2-40B4-BE49-F238E27FC236}">
                <a16:creationId xmlns:a16="http://schemas.microsoft.com/office/drawing/2014/main" id="{6F88390D-4242-0A48-EE0F-0D9F79F46723}"/>
              </a:ext>
            </a:extLst>
          </p:cNvPr>
          <p:cNvPicPr>
            <a:picLocks noChangeAspect="1"/>
          </p:cNvPicPr>
          <p:nvPr/>
        </p:nvPicPr>
        <p:blipFill>
          <a:blip r:embed="rId7"/>
          <a:stretch>
            <a:fillRect/>
          </a:stretch>
        </p:blipFill>
        <p:spPr>
          <a:xfrm>
            <a:off x="1728893" y="1271667"/>
            <a:ext cx="18845107" cy="78162"/>
          </a:xfrm>
          <a:prstGeom prst="rect">
            <a:avLst/>
          </a:prstGeom>
        </p:spPr>
      </p:pic>
      <p:pic>
        <p:nvPicPr>
          <p:cNvPr id="11" name="Picture 69">
            <a:extLst>
              <a:ext uri="{FF2B5EF4-FFF2-40B4-BE49-F238E27FC236}">
                <a16:creationId xmlns:a16="http://schemas.microsoft.com/office/drawing/2014/main" id="{A5E28610-6EA8-EA8E-6CE0-D6DBCFA72063}"/>
              </a:ext>
            </a:extLst>
          </p:cNvPr>
          <p:cNvPicPr>
            <a:picLocks noChangeAspect="1"/>
          </p:cNvPicPr>
          <p:nvPr/>
        </p:nvPicPr>
        <p:blipFill>
          <a:blip r:embed="rId8"/>
          <a:stretch>
            <a:fillRect/>
          </a:stretch>
        </p:blipFill>
        <p:spPr>
          <a:xfrm>
            <a:off x="22206856" y="-1270000"/>
            <a:ext cx="3193143" cy="3193143"/>
          </a:xfrm>
          <a:prstGeom prst="rect">
            <a:avLst/>
          </a:prstGeom>
        </p:spPr>
      </p:pic>
      <p:sp>
        <p:nvSpPr>
          <p:cNvPr id="16" name="TextBox 70">
            <a:extLst>
              <a:ext uri="{FF2B5EF4-FFF2-40B4-BE49-F238E27FC236}">
                <a16:creationId xmlns:a16="http://schemas.microsoft.com/office/drawing/2014/main" id="{F869869A-2B98-E9D4-EF4E-D1CF76D7471C}"/>
              </a:ext>
            </a:extLst>
          </p:cNvPr>
          <p:cNvSpPr txBox="1"/>
          <p:nvPr/>
        </p:nvSpPr>
        <p:spPr>
          <a:xfrm>
            <a:off x="23164497" y="616857"/>
            <a:ext cx="345304"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777" dirty="0">
                <a:solidFill>
                  <a:srgbClr val="FFFFFF"/>
                </a:solidFill>
                <a:latin typeface="Embedded Inter"/>
              </a:rPr>
              <a:t>8</a:t>
            </a:r>
            <a:r>
              <a:rPr lang="en-US" sz="100" dirty="0">
                <a:latin typeface="Embedded Inter"/>
              </a:rPr>
              <a:t> </a:t>
            </a:r>
          </a:p>
        </p:txBody>
      </p:sp>
      <p:graphicFrame>
        <p:nvGraphicFramePr>
          <p:cNvPr id="10" name="Table 9">
            <a:extLst>
              <a:ext uri="{FF2B5EF4-FFF2-40B4-BE49-F238E27FC236}">
                <a16:creationId xmlns:a16="http://schemas.microsoft.com/office/drawing/2014/main" id="{83DC4F28-9793-9330-8426-E0C91F103F65}"/>
              </a:ext>
            </a:extLst>
          </p:cNvPr>
          <p:cNvGraphicFramePr>
            <a:graphicFrameLocks noGrp="1"/>
          </p:cNvGraphicFramePr>
          <p:nvPr>
            <p:extLst>
              <p:ext uri="{D42A27DB-BD31-4B8C-83A1-F6EECF244321}">
                <p14:modId xmlns:p14="http://schemas.microsoft.com/office/powerpoint/2010/main" val="2924323921"/>
              </p:ext>
            </p:extLst>
          </p:nvPr>
        </p:nvGraphicFramePr>
        <p:xfrm>
          <a:off x="2032423" y="1906557"/>
          <a:ext cx="20319154" cy="11096211"/>
        </p:xfrm>
        <a:graphic>
          <a:graphicData uri="http://schemas.openxmlformats.org/drawingml/2006/table">
            <a:tbl>
              <a:tblPr>
                <a:tableStyleId>{5C22544A-7EE6-4342-B048-85BDC9FD1C3A}</a:tableStyleId>
              </a:tblPr>
              <a:tblGrid>
                <a:gridCol w="3840040">
                  <a:extLst>
                    <a:ext uri="{9D8B030D-6E8A-4147-A177-3AD203B41FA5}">
                      <a16:colId xmlns:a16="http://schemas.microsoft.com/office/drawing/2014/main" val="736693283"/>
                    </a:ext>
                  </a:extLst>
                </a:gridCol>
                <a:gridCol w="7146035">
                  <a:extLst>
                    <a:ext uri="{9D8B030D-6E8A-4147-A177-3AD203B41FA5}">
                      <a16:colId xmlns:a16="http://schemas.microsoft.com/office/drawing/2014/main" val="4174391828"/>
                    </a:ext>
                  </a:extLst>
                </a:gridCol>
                <a:gridCol w="9333079">
                  <a:extLst>
                    <a:ext uri="{9D8B030D-6E8A-4147-A177-3AD203B41FA5}">
                      <a16:colId xmlns:a16="http://schemas.microsoft.com/office/drawing/2014/main" val="2682081066"/>
                    </a:ext>
                  </a:extLst>
                </a:gridCol>
              </a:tblGrid>
              <a:tr h="631454">
                <a:tc gridSpan="3">
                  <a:txBody>
                    <a:bodyPr/>
                    <a:lstStyle/>
                    <a:p>
                      <a:pPr algn="ctr" fontAlgn="ctr">
                        <a:buNone/>
                      </a:pPr>
                      <a:r>
                        <a:rPr lang="en-US" sz="2200" b="1" u="none" strike="noStrike" dirty="0">
                          <a:solidFill>
                            <a:schemeClr val="accent2">
                              <a:lumMod val="75000"/>
                            </a:schemeClr>
                          </a:solidFill>
                          <a:effectLst/>
                          <a:highlight>
                            <a:srgbClr val="C0C0C0"/>
                          </a:highlight>
                          <a:latin typeface="Arial" panose="020B0604020202020204" pitchFamily="34" charset="0"/>
                          <a:cs typeface="Arial" panose="020B0604020202020204" pitchFamily="34" charset="0"/>
                        </a:rPr>
                        <a:t>Comparative Real vs Fake News CSV Dataset Samples (Full Attributes &amp; Content)</a:t>
                      </a:r>
                      <a:endParaRPr lang="en-US" sz="2200" b="1" i="0" u="none" strike="noStrike" dirty="0">
                        <a:solidFill>
                          <a:schemeClr val="accent2">
                            <a:lumMod val="75000"/>
                          </a:schemeClr>
                        </a:solidFill>
                        <a:effectLst/>
                        <a:highlight>
                          <a:srgbClr val="C0C0C0"/>
                        </a:highlight>
                        <a:latin typeface="Arial" panose="020B0604020202020204" pitchFamily="34" charset="0"/>
                        <a:cs typeface="Arial" panose="020B0604020202020204" pitchFamily="34" charset="0"/>
                      </a:endParaRPr>
                    </a:p>
                  </a:txBody>
                  <a:tcPr marL="5636" marR="5636" marT="5636"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01882431"/>
                  </a:ext>
                </a:extLst>
              </a:tr>
              <a:tr h="331497">
                <a:tc>
                  <a:txBody>
                    <a:bodyPr/>
                    <a:lstStyle/>
                    <a:p>
                      <a:pPr algn="ctr" fontAlgn="b">
                        <a:buNone/>
                      </a:pPr>
                      <a:endParaRPr lang="en-US" sz="2200" b="0" i="0" u="none" strike="noStrike">
                        <a:solidFill>
                          <a:srgbClr val="000000"/>
                        </a:solidFill>
                        <a:effectLst/>
                        <a:latin typeface="Arial" panose="020B0604020202020204" pitchFamily="34" charset="0"/>
                        <a:cs typeface="Arial" panose="020B0604020202020204" pitchFamily="34" charset="0"/>
                      </a:endParaRPr>
                    </a:p>
                  </a:txBody>
                  <a:tcPr marL="5636" marR="5636" marT="5636" marB="0" anchor="b"/>
                </a:tc>
                <a:tc>
                  <a:txBody>
                    <a:bodyPr/>
                    <a:lstStyle/>
                    <a:p>
                      <a:pPr algn="ctr" fontAlgn="b">
                        <a:buNone/>
                      </a:pPr>
                      <a:endParaRPr lang="en-US" sz="2200" b="0" i="0" u="none" strike="noStrike">
                        <a:solidFill>
                          <a:srgbClr val="000000"/>
                        </a:solidFill>
                        <a:effectLst/>
                        <a:latin typeface="Arial" panose="020B0604020202020204" pitchFamily="34" charset="0"/>
                        <a:cs typeface="Arial" panose="020B0604020202020204" pitchFamily="34" charset="0"/>
                      </a:endParaRPr>
                    </a:p>
                  </a:txBody>
                  <a:tcPr marL="5636" marR="5636" marT="5636" marB="0" anchor="b"/>
                </a:tc>
                <a:tc>
                  <a:txBody>
                    <a:bodyPr/>
                    <a:lstStyle/>
                    <a:p>
                      <a:pPr algn="ctr" fontAlgn="b">
                        <a:buNone/>
                      </a:pPr>
                      <a:endParaRPr lang="en-US" sz="2200" b="0" i="0" u="none" strike="noStrike">
                        <a:solidFill>
                          <a:srgbClr val="000000"/>
                        </a:solidFill>
                        <a:effectLst/>
                        <a:latin typeface="Arial" panose="020B0604020202020204" pitchFamily="34" charset="0"/>
                        <a:cs typeface="Arial" panose="020B0604020202020204" pitchFamily="34" charset="0"/>
                      </a:endParaRPr>
                    </a:p>
                  </a:txBody>
                  <a:tcPr marL="5636" marR="5636" marT="5636" marB="0" anchor="b"/>
                </a:tc>
                <a:extLst>
                  <a:ext uri="{0D108BD9-81ED-4DB2-BD59-A6C34878D82A}">
                    <a16:rowId xmlns:a16="http://schemas.microsoft.com/office/drawing/2014/main" val="2774650452"/>
                  </a:ext>
                </a:extLst>
              </a:tr>
              <a:tr h="590408">
                <a:tc>
                  <a:txBody>
                    <a:bodyPr/>
                    <a:lstStyle/>
                    <a:p>
                      <a:pPr algn="ctr" fontAlgn="ctr">
                        <a:buNone/>
                      </a:pPr>
                      <a:r>
                        <a:rPr lang="en-US" sz="2200" b="1" u="none" strike="noStrike" dirty="0">
                          <a:solidFill>
                            <a:schemeClr val="accent2">
                              <a:lumMod val="75000"/>
                            </a:schemeClr>
                          </a:solidFill>
                          <a:effectLst/>
                          <a:latin typeface="Arial" panose="020B0604020202020204" pitchFamily="34" charset="0"/>
                          <a:cs typeface="Arial" panose="020B0604020202020204" pitchFamily="34" charset="0"/>
                        </a:rPr>
                        <a:t>Dataset Attribute</a:t>
                      </a:r>
                      <a:endParaRPr lang="en-US" sz="2200" b="1" i="0" u="none" strike="noStrike" dirty="0">
                        <a:solidFill>
                          <a:schemeClr val="accent2">
                            <a:lumMod val="75000"/>
                          </a:schemeClr>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b="1" u="none" strike="noStrike" dirty="0">
                          <a:solidFill>
                            <a:schemeClr val="accent2">
                              <a:lumMod val="75000"/>
                            </a:schemeClr>
                          </a:solidFill>
                          <a:effectLst/>
                          <a:latin typeface="Arial" panose="020B0604020202020204" pitchFamily="34" charset="0"/>
                          <a:cs typeface="Arial" panose="020B0604020202020204" pitchFamily="34" charset="0"/>
                        </a:rPr>
                        <a:t>Real News Entry (bangla_real_news.csv)</a:t>
                      </a:r>
                      <a:endParaRPr lang="en-US" sz="2200" b="1" i="0" u="none" strike="noStrike" dirty="0">
                        <a:solidFill>
                          <a:schemeClr val="accent2">
                            <a:lumMod val="75000"/>
                          </a:schemeClr>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b="1" u="none" strike="noStrike" dirty="0">
                          <a:solidFill>
                            <a:schemeClr val="accent2">
                              <a:lumMod val="75000"/>
                            </a:schemeClr>
                          </a:solidFill>
                          <a:effectLst/>
                          <a:latin typeface="Arial" panose="020B0604020202020204" pitchFamily="34" charset="0"/>
                          <a:cs typeface="Arial" panose="020B0604020202020204" pitchFamily="34" charset="0"/>
                        </a:rPr>
                        <a:t>Fake News Entry (bangla_fake_news.csv)</a:t>
                      </a:r>
                      <a:endParaRPr lang="en-US" sz="2200" b="1" i="0" u="none" strike="noStrike" dirty="0">
                        <a:solidFill>
                          <a:schemeClr val="accent2">
                            <a:lumMod val="75000"/>
                          </a:schemeClr>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271945870"/>
                  </a:ext>
                </a:extLst>
              </a:tr>
              <a:tr h="527262">
                <a:tc>
                  <a:txBody>
                    <a:bodyPr/>
                    <a:lstStyle/>
                    <a:p>
                      <a:pPr algn="ctr" fontAlgn="ctr">
                        <a:buNone/>
                      </a:pPr>
                      <a:r>
                        <a:rPr lang="en-US" sz="2200" u="none" strike="noStrike">
                          <a:effectLst/>
                          <a:latin typeface="Arial" panose="020B0604020202020204" pitchFamily="34" charset="0"/>
                          <a:cs typeface="Arial" panose="020B0604020202020204" pitchFamily="34" charset="0"/>
                        </a:rPr>
                        <a:t>Article ID</a:t>
                      </a:r>
                      <a:endParaRPr lang="en-US" sz="2200" b="1" i="0" u="none" strike="noStrike">
                        <a:solidFill>
                          <a:srgbClr val="1E3A8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REAL_000051</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FAKE_000011</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697584253"/>
                  </a:ext>
                </a:extLst>
              </a:tr>
              <a:tr h="884034">
                <a:tc>
                  <a:txBody>
                    <a:bodyPr/>
                    <a:lstStyle/>
                    <a:p>
                      <a:pPr algn="ctr" fontAlgn="ctr">
                        <a:buNone/>
                      </a:pPr>
                      <a:r>
                        <a:rPr lang="en-US" sz="2200" u="none" strike="noStrike">
                          <a:effectLst/>
                          <a:latin typeface="Arial" panose="020B0604020202020204" pitchFamily="34" charset="0"/>
                          <a:cs typeface="Arial" panose="020B0604020202020204" pitchFamily="34" charset="0"/>
                        </a:rPr>
                        <a:t>Original Title (Scraped)</a:t>
                      </a:r>
                      <a:endParaRPr lang="en-US" sz="2200" b="1" i="0" u="none" strike="noStrike">
                        <a:solidFill>
                          <a:srgbClr val="1E3A8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আজকের মুদ্রার রেট: ৩ জানুয়ারি ২০২৬</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প্রস্তাবিত বাজেটে মদ আমদানিতে ৫০% শুল্ক কমবে দাবিতে একাত্তর টিভির নামে সম্পাদিত ফটোকার্ড প্রচার</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2760018313"/>
                  </a:ext>
                </a:extLst>
              </a:tr>
              <a:tr h="884034">
                <a:tc>
                  <a:txBody>
                    <a:bodyPr/>
                    <a:lstStyle/>
                    <a:p>
                      <a:pPr algn="ctr" fontAlgn="ctr">
                        <a:buNone/>
                      </a:pPr>
                      <a:r>
                        <a:rPr lang="en-US" sz="2200" u="none" strike="noStrike">
                          <a:effectLst/>
                          <a:latin typeface="Arial" panose="020B0604020202020204" pitchFamily="34" charset="0"/>
                          <a:cs typeface="Arial" panose="020B0604020202020204" pitchFamily="34" charset="0"/>
                        </a:rPr>
                        <a:t>Processed Title (AI Decontaminated)</a:t>
                      </a:r>
                      <a:endParaRPr lang="en-US" sz="2200" b="1" i="0" u="none" strike="noStrike">
                        <a:solidFill>
                          <a:srgbClr val="1E3A8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dirty="0" err="1">
                          <a:effectLst/>
                          <a:latin typeface="Arial" panose="020B0604020202020204" pitchFamily="34" charset="0"/>
                          <a:cs typeface="Arial" panose="020B0604020202020204" pitchFamily="34" charset="0"/>
                        </a:rPr>
                        <a:t>আজকের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মুদ্রার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রেট</a:t>
                      </a:r>
                      <a:r>
                        <a:rPr lang="en-US" sz="2200" u="none" strike="noStrike" dirty="0">
                          <a:effectLst/>
                          <a:latin typeface="Arial" panose="020B0604020202020204" pitchFamily="34" charset="0"/>
                          <a:cs typeface="Arial" panose="020B0604020202020204" pitchFamily="34" charset="0"/>
                        </a:rPr>
                        <a:t>: ৩ </a:t>
                      </a:r>
                      <a:r>
                        <a:rPr lang="en-US" sz="2200" u="none" strike="noStrike" dirty="0" err="1">
                          <a:effectLst/>
                          <a:latin typeface="Arial" panose="020B0604020202020204" pitchFamily="34" charset="0"/>
                          <a:cs typeface="Arial" panose="020B0604020202020204" pitchFamily="34" charset="0"/>
                        </a:rPr>
                        <a:t>জানুয়ারি</a:t>
                      </a:r>
                      <a:r>
                        <a:rPr lang="en-US" sz="2200" u="none" strike="noStrike" dirty="0">
                          <a:effectLst/>
                          <a:latin typeface="Arial" panose="020B0604020202020204" pitchFamily="34" charset="0"/>
                          <a:cs typeface="Arial" panose="020B0604020202020204" pitchFamily="34" charset="0"/>
                        </a:rPr>
                        <a:t> ২০২৬</a:t>
                      </a:r>
                      <a:endParaRPr lang="en-US" sz="2200" b="0" i="0" u="none" strike="noStrike" dirty="0">
                        <a:solidFill>
                          <a:srgbClr val="1E293B"/>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প্রস্তাবিত বাজেটে মদ আমদানিতে ৫০% শুল্ক কমবে</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1866216895"/>
                  </a:ext>
                </a:extLst>
              </a:tr>
              <a:tr h="2939629">
                <a:tc>
                  <a:txBody>
                    <a:bodyPr/>
                    <a:lstStyle/>
                    <a:p>
                      <a:pPr algn="ctr" fontAlgn="ctr">
                        <a:buNone/>
                      </a:pPr>
                      <a:r>
                        <a:rPr lang="en-US" sz="2200" u="none" strike="noStrike" dirty="0">
                          <a:effectLst/>
                          <a:latin typeface="Arial" panose="020B0604020202020204" pitchFamily="34" charset="0"/>
                          <a:cs typeface="Arial" panose="020B0604020202020204" pitchFamily="34" charset="0"/>
                        </a:rPr>
                        <a:t>Original Body</a:t>
                      </a:r>
                      <a:endParaRPr lang="en-US" sz="2200" b="1" i="0" u="none" strike="noStrike" dirty="0">
                        <a:solidFill>
                          <a:srgbClr val="1E3A8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dirty="0" err="1">
                          <a:effectLst/>
                          <a:latin typeface="Arial" panose="020B0604020202020204" pitchFamily="34" charset="0"/>
                          <a:cs typeface="Arial" panose="020B0604020202020204" pitchFamily="34" charset="0"/>
                        </a:rPr>
                        <a:t>আন্তর্জাতিক</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ব্যবসা-বাণিজ্য</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সম্প্রসারণের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সঙ্গে</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তাল</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মিলিয়ে</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বাংলাদেশে</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মুদ্রা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লেনদেনও</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বাড়ছে</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বিভিন্ন</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দেশের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সঙ্গে</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লেনদেন</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সহজ</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করার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জন্য</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আজ</a:t>
                      </a:r>
                      <a:r>
                        <a:rPr lang="en-US" sz="2200" u="none" strike="noStrike" dirty="0">
                          <a:effectLst/>
                          <a:latin typeface="Arial" panose="020B0604020202020204" pitchFamily="34" charset="0"/>
                          <a:cs typeface="Arial" panose="020B0604020202020204" pitchFamily="34" charset="0"/>
                        </a:rPr>
                        <a:t> (৩ </a:t>
                      </a:r>
                      <a:r>
                        <a:rPr lang="en-US" sz="2200" u="none" strike="noStrike" dirty="0" err="1">
                          <a:effectLst/>
                          <a:latin typeface="Arial" panose="020B0604020202020204" pitchFamily="34" charset="0"/>
                          <a:cs typeface="Arial" panose="020B0604020202020204" pitchFamily="34" charset="0"/>
                        </a:rPr>
                        <a:t>জানুয়ারি</a:t>
                      </a:r>
                      <a:r>
                        <a:rPr lang="en-US" sz="2200" u="none" strike="noStrike" dirty="0">
                          <a:effectLst/>
                          <a:latin typeface="Arial" panose="020B0604020202020204" pitchFamily="34" charset="0"/>
                          <a:cs typeface="Arial" panose="020B0604020202020204" pitchFamily="34" charset="0"/>
                        </a:rPr>
                        <a:t>, ২০২৬) </a:t>
                      </a:r>
                      <a:r>
                        <a:rPr lang="en-US" sz="2200" u="none" strike="noStrike" dirty="0" err="1">
                          <a:effectLst/>
                          <a:latin typeface="Arial" panose="020B0604020202020204" pitchFamily="34" charset="0"/>
                          <a:cs typeface="Arial" panose="020B0604020202020204" pitchFamily="34" charset="0"/>
                        </a:rPr>
                        <a:t>বাংলাদেশ</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ব্যাংক</a:t>
                      </a:r>
                      <a:r>
                        <a:rPr lang="en-US" sz="2200" u="none" strike="noStrike" dirty="0">
                          <a:effectLst/>
                          <a:latin typeface="Arial" panose="020B0604020202020204" pitchFamily="34" charset="0"/>
                          <a:cs typeface="Arial" panose="020B0604020202020204" pitchFamily="34" charset="0"/>
                        </a:rPr>
                        <a:t> ও </a:t>
                      </a:r>
                      <a:r>
                        <a:rPr lang="en-US" sz="2200" u="none" strike="noStrike" dirty="0" err="1">
                          <a:effectLst/>
                          <a:latin typeface="Arial" panose="020B0604020202020204" pitchFamily="34" charset="0"/>
                          <a:cs typeface="Arial" panose="020B0604020202020204" pitchFamily="34" charset="0"/>
                        </a:rPr>
                        <a:t>অনুমোদিত</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বাণিজ্যিক</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ব্যাংকসমূহের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বৈদেশিক</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মুদ্রার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সর্বশেষ</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বিনিময়</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হার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প্রকাশ</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করা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হয়েছে</a:t>
                      </a:r>
                      <a:r>
                        <a:rPr lang="en-US" sz="2200" u="none" strike="noStrike" dirty="0">
                          <a:effectLst/>
                          <a:latin typeface="Arial" panose="020B0604020202020204" pitchFamily="34" charset="0"/>
                          <a:cs typeface="Arial" panose="020B0604020202020204" pitchFamily="34" charset="0"/>
                        </a:rPr>
                        <a:t>।</a:t>
                      </a:r>
                    </a:p>
                    <a:p>
                      <a:pPr algn="ctr" fontAlgn="ctr">
                        <a:buNone/>
                      </a:pPr>
                      <a:r>
                        <a:rPr lang="en-US" sz="2200" b="0" i="0" u="none" strike="noStrike" dirty="0">
                          <a:solidFill>
                            <a:srgbClr val="1E293B"/>
                          </a:solidFill>
                          <a:effectLst/>
                          <a:latin typeface="Arial" panose="020B0604020202020204" pitchFamily="34" charset="0"/>
                          <a:cs typeface="Arial" panose="020B0604020202020204" pitchFamily="34" charset="0"/>
                        </a:rPr>
                        <a:t>(unchanged)</a:t>
                      </a: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গত ২ জুন অন্তর্বর্তী সরকারের উপদেষ্টা পরিষদ এক বিশেষ বৈঠকে ২০২৫-২৬ অর্থবছরের প্রস্তাবিত বাজেট এবং ২০২৫-২৬ অর্থবছরের অর্থ বিল অনুমোদন করে। এরই প্রেক্ষিতে, “এবার বাজেটে বিদেশী মদ আমদানিতে ৫০ শতাংশ শুল্ক কমবে” শীর্ষক শিরোনামে ইলেকট্রনিক গণমাধ্যম একাত্তর টিভির ডিজাইন সম্বলিত একটি ফটোকার্ড সামাজিক যোগাযোগ মাধ্যম ফেসবুকে প্রচার করা হয়েছে। ফ্যাক্টচেক রিউমর স্ক্যানার টিমের অনুসন্ধানে জানা যায়, প্রস্তাবিত বাজেটে মদ আমদানিতে ৫০% শুল্ক কমবে দাবি করে একাত্তর টিভি কোনো ফটোকার্ড বা সংবাদ প্রকাশ করেনি বরং ফটোকার্ডটি ডিজিটাল প্রযুক্তির সহায়তায় সম্পাদনা করে তৈরি করা হয়েছে৷</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80552558"/>
                  </a:ext>
                </a:extLst>
              </a:tr>
              <a:tr h="2105899">
                <a:tc>
                  <a:txBody>
                    <a:bodyPr/>
                    <a:lstStyle/>
                    <a:p>
                      <a:pPr algn="ctr" fontAlgn="ctr">
                        <a:buNone/>
                      </a:pPr>
                      <a:r>
                        <a:rPr lang="en-US" sz="2200" u="none" strike="noStrike" dirty="0">
                          <a:effectLst/>
                          <a:latin typeface="Arial" panose="020B0604020202020204" pitchFamily="34" charset="0"/>
                          <a:cs typeface="Arial" panose="020B0604020202020204" pitchFamily="34" charset="0"/>
                        </a:rPr>
                        <a:t>Processed Body</a:t>
                      </a:r>
                      <a:endParaRPr lang="en-US" sz="2200" b="1" i="0" u="none" strike="noStrike" dirty="0">
                        <a:solidFill>
                          <a:srgbClr val="1E3A8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dirty="0" err="1">
                          <a:effectLst/>
                          <a:latin typeface="Arial" panose="020B0604020202020204" pitchFamily="34" charset="0"/>
                          <a:cs typeface="Arial" panose="020B0604020202020204" pitchFamily="34" charset="0"/>
                        </a:rPr>
                        <a:t>আন্তর্জাতিক</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ব্যবসা-বাণিজ্য</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সম্প্রসারণের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সঙ্গে</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তাল</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মিলিয়ে</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বাংলাদেশে</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মুদ্রা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লেনদেনও</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বাড়ছে</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বিভিন্ন</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দেশের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সঙ্গে</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লেনদেন</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সহজ</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করার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জন্য</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আজ</a:t>
                      </a:r>
                      <a:r>
                        <a:rPr lang="en-US" sz="2200" u="none" strike="noStrike" dirty="0">
                          <a:effectLst/>
                          <a:latin typeface="Arial" panose="020B0604020202020204" pitchFamily="34" charset="0"/>
                          <a:cs typeface="Arial" panose="020B0604020202020204" pitchFamily="34" charset="0"/>
                        </a:rPr>
                        <a:t> (৩ </a:t>
                      </a:r>
                      <a:r>
                        <a:rPr lang="en-US" sz="2200" u="none" strike="noStrike" dirty="0" err="1">
                          <a:effectLst/>
                          <a:latin typeface="Arial" panose="020B0604020202020204" pitchFamily="34" charset="0"/>
                          <a:cs typeface="Arial" panose="020B0604020202020204" pitchFamily="34" charset="0"/>
                        </a:rPr>
                        <a:t>জানুয়ারি</a:t>
                      </a:r>
                      <a:r>
                        <a:rPr lang="en-US" sz="2200" u="none" strike="noStrike" dirty="0">
                          <a:effectLst/>
                          <a:latin typeface="Arial" panose="020B0604020202020204" pitchFamily="34" charset="0"/>
                          <a:cs typeface="Arial" panose="020B0604020202020204" pitchFamily="34" charset="0"/>
                        </a:rPr>
                        <a:t>, ২০২৬) </a:t>
                      </a:r>
                      <a:r>
                        <a:rPr lang="en-US" sz="2200" u="none" strike="noStrike" dirty="0" err="1">
                          <a:effectLst/>
                          <a:latin typeface="Arial" panose="020B0604020202020204" pitchFamily="34" charset="0"/>
                          <a:cs typeface="Arial" panose="020B0604020202020204" pitchFamily="34" charset="0"/>
                        </a:rPr>
                        <a:t>বাংলাদেশ</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ব্যাংক</a:t>
                      </a:r>
                      <a:r>
                        <a:rPr lang="en-US" sz="2200" u="none" strike="noStrike" dirty="0">
                          <a:effectLst/>
                          <a:latin typeface="Arial" panose="020B0604020202020204" pitchFamily="34" charset="0"/>
                          <a:cs typeface="Arial" panose="020B0604020202020204" pitchFamily="34" charset="0"/>
                        </a:rPr>
                        <a:t> ও </a:t>
                      </a:r>
                      <a:r>
                        <a:rPr lang="en-US" sz="2200" u="none" strike="noStrike" dirty="0" err="1">
                          <a:effectLst/>
                          <a:latin typeface="Arial" panose="020B0604020202020204" pitchFamily="34" charset="0"/>
                          <a:cs typeface="Arial" panose="020B0604020202020204" pitchFamily="34" charset="0"/>
                        </a:rPr>
                        <a:t>অনুমোদিত</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বাণিজ্যিক</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ব্যাংকসমূহের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বৈদেশিক</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মুদ্রার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সর্বশেষ</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বিনিময়</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হার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প্রকাশ</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করা</a:t>
                      </a:r>
                      <a:r>
                        <a:rPr lang="en-US" sz="2200" u="none" strike="noStrike" dirty="0">
                          <a:effectLst/>
                          <a:latin typeface="Arial" panose="020B0604020202020204" pitchFamily="34" charset="0"/>
                          <a:cs typeface="Arial" panose="020B0604020202020204" pitchFamily="34" charset="0"/>
                        </a:rPr>
                        <a:t> </a:t>
                      </a:r>
                      <a:r>
                        <a:rPr lang="en-US" sz="2200" u="none" strike="noStrike" dirty="0" err="1">
                          <a:effectLst/>
                          <a:latin typeface="Arial" panose="020B0604020202020204" pitchFamily="34" charset="0"/>
                          <a:cs typeface="Arial" panose="020B0604020202020204" pitchFamily="34" charset="0"/>
                        </a:rPr>
                        <a:t>হয়েছে</a:t>
                      </a:r>
                      <a:r>
                        <a:rPr lang="en-US" sz="2200" u="none" strike="noStrike" dirty="0">
                          <a:effectLst/>
                          <a:latin typeface="Arial" panose="020B0604020202020204" pitchFamily="34" charset="0"/>
                          <a:cs typeface="Arial" panose="020B0604020202020204" pitchFamily="34" charset="0"/>
                        </a:rPr>
                        <a:t>।</a:t>
                      </a:r>
                    </a:p>
                    <a:p>
                      <a:pPr algn="ctr" fontAlgn="ctr">
                        <a:buNone/>
                      </a:pPr>
                      <a:r>
                        <a:rPr lang="en-US" sz="2200" b="0" i="0" u="none" strike="noStrike">
                          <a:solidFill>
                            <a:srgbClr val="1E293B"/>
                          </a:solidFill>
                          <a:effectLst/>
                          <a:latin typeface="Arial" panose="020B0604020202020204" pitchFamily="34" charset="0"/>
                          <a:cs typeface="Arial" panose="020B0604020202020204" pitchFamily="34" charset="0"/>
                        </a:rPr>
                        <a:t>(unchanged)</a:t>
                      </a:r>
                      <a:endParaRPr lang="en-US" sz="2200" b="0" i="0" u="none" strike="noStrike" dirty="0">
                        <a:solidFill>
                          <a:srgbClr val="1E293B"/>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আসন্ন ২০২৫-২৬ অর্থবছরের প্রস্তাবিত বাজেটে বিদেশী মদ আমদানির ক্ষেত্রে বিদ্যমান আমদানি শুল্ক ৫০ শতাংশ কমানোর সিদ্ধান্ত নিয়েছে সরকার।</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3733238838"/>
                  </a:ext>
                </a:extLst>
              </a:tr>
              <a:tr h="527262">
                <a:tc>
                  <a:txBody>
                    <a:bodyPr/>
                    <a:lstStyle/>
                    <a:p>
                      <a:pPr algn="ctr" fontAlgn="ctr">
                        <a:buNone/>
                      </a:pPr>
                      <a:r>
                        <a:rPr lang="en-US" sz="2200" u="none" strike="noStrike">
                          <a:effectLst/>
                          <a:latin typeface="Arial" panose="020B0604020202020204" pitchFamily="34" charset="0"/>
                          <a:cs typeface="Arial" panose="020B0604020202020204" pitchFamily="34" charset="0"/>
                        </a:rPr>
                        <a:t>Source Portal</a:t>
                      </a:r>
                      <a:endParaRPr lang="en-US" sz="2200" b="1" i="0" u="none" strike="noStrike">
                        <a:solidFill>
                          <a:srgbClr val="1E3A8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jugantor.com</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rumorscanner.com</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897209406"/>
                  </a:ext>
                </a:extLst>
              </a:tr>
              <a:tr h="527262">
                <a:tc>
                  <a:txBody>
                    <a:bodyPr/>
                    <a:lstStyle/>
                    <a:p>
                      <a:pPr algn="ctr" fontAlgn="ctr">
                        <a:buNone/>
                      </a:pPr>
                      <a:r>
                        <a:rPr lang="en-US" sz="2200" u="none" strike="noStrike">
                          <a:effectLst/>
                          <a:latin typeface="Arial" panose="020B0604020202020204" pitchFamily="34" charset="0"/>
                          <a:cs typeface="Arial" panose="020B0604020202020204" pitchFamily="34" charset="0"/>
                        </a:rPr>
                        <a:t>Category / Topic</a:t>
                      </a:r>
                      <a:endParaRPr lang="en-US" sz="2200" b="1" i="0" u="none" strike="noStrike">
                        <a:solidFill>
                          <a:srgbClr val="1E3A8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Economy &amp; Business</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Economy</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901658897"/>
                  </a:ext>
                </a:extLst>
              </a:tr>
              <a:tr h="527262">
                <a:tc>
                  <a:txBody>
                    <a:bodyPr/>
                    <a:lstStyle/>
                    <a:p>
                      <a:pPr algn="ctr" fontAlgn="ctr">
                        <a:buNone/>
                      </a:pPr>
                      <a:r>
                        <a:rPr lang="en-US" sz="2200" u="none" strike="noStrike">
                          <a:effectLst/>
                          <a:latin typeface="Arial" panose="020B0604020202020204" pitchFamily="34" charset="0"/>
                          <a:cs typeface="Arial" panose="020B0604020202020204" pitchFamily="34" charset="0"/>
                        </a:rPr>
                        <a:t>Published Date</a:t>
                      </a:r>
                      <a:endParaRPr lang="en-US" sz="2200" b="1" i="0" u="none" strike="noStrike">
                        <a:solidFill>
                          <a:srgbClr val="1E3A8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2026-01-03 11:16:00</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2025-06-03 17:08:00</a:t>
                      </a:r>
                      <a:endParaRPr lang="en-US" sz="2200" b="0" i="0" u="none" strike="noStrike">
                        <a:solidFill>
                          <a:srgbClr val="1E293B"/>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3142243973"/>
                  </a:ext>
                </a:extLst>
              </a:tr>
              <a:tr h="527262">
                <a:tc>
                  <a:txBody>
                    <a:bodyPr/>
                    <a:lstStyle/>
                    <a:p>
                      <a:pPr algn="ctr" fontAlgn="ctr">
                        <a:buNone/>
                      </a:pPr>
                      <a:r>
                        <a:rPr lang="en-US" sz="2200" u="none" strike="noStrike">
                          <a:effectLst/>
                          <a:latin typeface="Arial" panose="020B0604020202020204" pitchFamily="34" charset="0"/>
                          <a:cs typeface="Arial" panose="020B0604020202020204" pitchFamily="34" charset="0"/>
                        </a:rPr>
                        <a:t>Ground Truth Label</a:t>
                      </a:r>
                      <a:endParaRPr lang="en-US" sz="2200" b="1" i="0" u="none" strike="noStrike">
                        <a:solidFill>
                          <a:srgbClr val="1E3A8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a:effectLst/>
                          <a:latin typeface="Arial" panose="020B0604020202020204" pitchFamily="34" charset="0"/>
                          <a:cs typeface="Arial" panose="020B0604020202020204" pitchFamily="34" charset="0"/>
                        </a:rPr>
                        <a:t>Label: 0 (Real News)</a:t>
                      </a:r>
                      <a:endParaRPr lang="en-US" sz="2200" b="1" i="0" u="none" strike="noStrike">
                        <a:solidFill>
                          <a:srgbClr val="16A34A"/>
                        </a:solidFill>
                        <a:effectLst/>
                        <a:latin typeface="Arial" panose="020B0604020202020204" pitchFamily="34" charset="0"/>
                        <a:cs typeface="Arial" panose="020B0604020202020204" pitchFamily="34" charset="0"/>
                      </a:endParaRPr>
                    </a:p>
                  </a:txBody>
                  <a:tcPr marL="5636" marR="5636" marT="5636" marB="0" anchor="ctr"/>
                </a:tc>
                <a:tc>
                  <a:txBody>
                    <a:bodyPr/>
                    <a:lstStyle/>
                    <a:p>
                      <a:pPr algn="ctr" fontAlgn="ctr">
                        <a:buNone/>
                      </a:pPr>
                      <a:r>
                        <a:rPr lang="en-US" sz="2200" u="none" strike="noStrike" dirty="0">
                          <a:effectLst/>
                          <a:latin typeface="Arial" panose="020B0604020202020204" pitchFamily="34" charset="0"/>
                          <a:cs typeface="Arial" panose="020B0604020202020204" pitchFamily="34" charset="0"/>
                        </a:rPr>
                        <a:t>Label: 1 (Fake News)</a:t>
                      </a:r>
                      <a:endParaRPr lang="en-US" sz="2200" b="1" i="0" u="none" strike="noStrike" dirty="0">
                        <a:solidFill>
                          <a:srgbClr val="DC2626"/>
                        </a:solidFill>
                        <a:effectLst/>
                        <a:latin typeface="Arial" panose="020B0604020202020204" pitchFamily="34" charset="0"/>
                        <a:cs typeface="Arial" panose="020B0604020202020204" pitchFamily="34" charset="0"/>
                      </a:endParaRPr>
                    </a:p>
                  </a:txBody>
                  <a:tcPr marL="5636" marR="5636" marT="5636" marB="0" anchor="ctr"/>
                </a:tc>
                <a:extLst>
                  <a:ext uri="{0D108BD9-81ED-4DB2-BD59-A6C34878D82A}">
                    <a16:rowId xmlns:a16="http://schemas.microsoft.com/office/drawing/2014/main" val="276386744"/>
                  </a:ext>
                </a:extLst>
              </a:tr>
            </a:tbl>
          </a:graphicData>
        </a:graphic>
      </p:graphicFrame>
    </p:spTree>
    <p:extLst>
      <p:ext uri="{BB962C8B-B14F-4D97-AF65-F5344CB8AC3E}">
        <p14:creationId xmlns:p14="http://schemas.microsoft.com/office/powerpoint/2010/main" val="28295229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26572"/>
            <a:ext cx="23222857" cy="13062857"/>
          </a:xfrm>
          <a:prstGeom prst="rect">
            <a:avLst/>
          </a:prstGeom>
        </p:spPr>
      </p:pic>
      <p:pic>
        <p:nvPicPr>
          <p:cNvPr id="6" name="Picture 6"/>
          <p:cNvPicPr>
            <a:picLocks noChangeAspect="1"/>
          </p:cNvPicPr>
          <p:nvPr/>
        </p:nvPicPr>
        <p:blipFill>
          <a:blip r:embed="rId7"/>
          <a:stretch>
            <a:fillRect/>
          </a:stretch>
        </p:blipFill>
        <p:spPr>
          <a:xfrm>
            <a:off x="15699619" y="3350381"/>
            <a:ext cx="6894285" cy="2177143"/>
          </a:xfrm>
          <a:prstGeom prst="rect">
            <a:avLst/>
          </a:prstGeom>
          <a:effectLst>
            <a:outerShdw blurRad="1451428" dist="241904" dir="5400000" algn="ctr">
              <a:srgbClr val="000000">
                <a:alpha val="3137"/>
              </a:srgbClr>
            </a:outerShdw>
          </a:effectLst>
        </p:spPr>
      </p:pic>
      <p:pic>
        <p:nvPicPr>
          <p:cNvPr id="7" name="Picture 7"/>
          <p:cNvPicPr>
            <a:picLocks noChangeAspect="1"/>
          </p:cNvPicPr>
          <p:nvPr/>
        </p:nvPicPr>
        <p:blipFill>
          <a:blip r:embed="rId7"/>
          <a:stretch>
            <a:fillRect/>
          </a:stretch>
        </p:blipFill>
        <p:spPr>
          <a:xfrm>
            <a:off x="15699619" y="5769429"/>
            <a:ext cx="6894285" cy="2177143"/>
          </a:xfrm>
          <a:prstGeom prst="rect">
            <a:avLst/>
          </a:prstGeom>
          <a:effectLst>
            <a:outerShdw blurRad="1451428" dist="241904" dir="5400000" algn="ctr">
              <a:srgbClr val="000000">
                <a:alpha val="3137"/>
              </a:srgbClr>
            </a:outerShdw>
          </a:effectLst>
        </p:spPr>
      </p:pic>
      <p:pic>
        <p:nvPicPr>
          <p:cNvPr id="8" name="Picture 8"/>
          <p:cNvPicPr>
            <a:picLocks noChangeAspect="1"/>
          </p:cNvPicPr>
          <p:nvPr/>
        </p:nvPicPr>
        <p:blipFill>
          <a:blip r:embed="rId7"/>
          <a:stretch>
            <a:fillRect/>
          </a:stretch>
        </p:blipFill>
        <p:spPr>
          <a:xfrm>
            <a:off x="15699619" y="8188475"/>
            <a:ext cx="6894285" cy="2177143"/>
          </a:xfrm>
          <a:prstGeom prst="rect">
            <a:avLst/>
          </a:prstGeom>
          <a:effectLst>
            <a:outerShdw blurRad="1451428" dist="241904" dir="5400000" algn="ctr">
              <a:srgbClr val="000000">
                <a:alpha val="3137"/>
              </a:srgbClr>
            </a:outerShdw>
          </a:effectLst>
        </p:spPr>
      </p:pic>
      <p:pic>
        <p:nvPicPr>
          <p:cNvPr id="9" name="Picture 9"/>
          <p:cNvPicPr>
            <a:picLocks noChangeAspect="1"/>
          </p:cNvPicPr>
          <p:nvPr/>
        </p:nvPicPr>
        <p:blipFill>
          <a:blip r:embed="rId8"/>
          <a:stretch>
            <a:fillRect/>
          </a:stretch>
        </p:blipFill>
        <p:spPr>
          <a:xfrm>
            <a:off x="15699620" y="3350381"/>
            <a:ext cx="193524" cy="2177143"/>
          </a:xfrm>
          <a:prstGeom prst="rect">
            <a:avLst/>
          </a:prstGeom>
        </p:spPr>
      </p:pic>
      <p:pic>
        <p:nvPicPr>
          <p:cNvPr id="10" name="Picture 10"/>
          <p:cNvPicPr>
            <a:picLocks noChangeAspect="1"/>
          </p:cNvPicPr>
          <p:nvPr/>
        </p:nvPicPr>
        <p:blipFill>
          <a:blip r:embed="rId8"/>
          <a:stretch>
            <a:fillRect/>
          </a:stretch>
        </p:blipFill>
        <p:spPr>
          <a:xfrm>
            <a:off x="15699620" y="5769429"/>
            <a:ext cx="193524" cy="2177143"/>
          </a:xfrm>
          <a:prstGeom prst="rect">
            <a:avLst/>
          </a:prstGeom>
        </p:spPr>
      </p:pic>
      <p:pic>
        <p:nvPicPr>
          <p:cNvPr id="11" name="Picture 11"/>
          <p:cNvPicPr>
            <a:picLocks noChangeAspect="1"/>
          </p:cNvPicPr>
          <p:nvPr/>
        </p:nvPicPr>
        <p:blipFill>
          <a:blip r:embed="rId8"/>
          <a:stretch>
            <a:fillRect/>
          </a:stretch>
        </p:blipFill>
        <p:spPr>
          <a:xfrm>
            <a:off x="15699620" y="8188475"/>
            <a:ext cx="193524" cy="2177143"/>
          </a:xfrm>
          <a:prstGeom prst="rect">
            <a:avLst/>
          </a:prstGeom>
        </p:spPr>
      </p:pic>
      <p:pic>
        <p:nvPicPr>
          <p:cNvPr id="12" name="Picture 12"/>
          <p:cNvPicPr>
            <a:picLocks noChangeAspect="1"/>
          </p:cNvPicPr>
          <p:nvPr/>
        </p:nvPicPr>
        <p:blipFill>
          <a:blip r:embed="rId9"/>
          <a:stretch>
            <a:fillRect/>
          </a:stretch>
        </p:blipFill>
        <p:spPr>
          <a:xfrm flipV="1">
            <a:off x="1708815" y="1502924"/>
            <a:ext cx="15761305" cy="68384"/>
          </a:xfrm>
          <a:prstGeom prst="rect">
            <a:avLst/>
          </a:prstGeom>
        </p:spPr>
      </p:pic>
      <p:sp>
        <p:nvSpPr>
          <p:cNvPr id="13" name="TextBox 13"/>
          <p:cNvSpPr txBox="1"/>
          <p:nvPr/>
        </p:nvSpPr>
        <p:spPr>
          <a:xfrm>
            <a:off x="1708815" y="616558"/>
            <a:ext cx="24146934" cy="975179"/>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Playfair Display"/>
              </a:rPr>
              <a:t> </a:t>
            </a:r>
          </a:p>
          <a:p>
            <a:pPr marL="0" algn="l" fontAlgn="base">
              <a:lnSpc>
                <a:spcPct val="100000"/>
              </a:lnSpc>
              <a:spcBef>
                <a:spcPct val="0"/>
              </a:spcBef>
              <a:spcAft>
                <a:spcPct val="0"/>
              </a:spcAft>
            </a:pPr>
            <a:r>
              <a:rPr lang="en-US" sz="5760" b="1" i="0" u="none" strike="noStrike" spc="-80" dirty="0">
                <a:solidFill>
                  <a:srgbClr val="111111"/>
                </a:solidFill>
                <a:latin typeface="Embedded Playfair Display"/>
              </a:rPr>
              <a:t>Methodology: DG-</a:t>
            </a:r>
            <a:r>
              <a:rPr lang="en-US" sz="5760" b="1" i="0" u="none" strike="noStrike" spc="-80" dirty="0" err="1">
                <a:solidFill>
                  <a:srgbClr val="111111"/>
                </a:solidFill>
                <a:latin typeface="Embedded Playfair Display"/>
              </a:rPr>
              <a:t>SSOFNet</a:t>
            </a:r>
            <a:r>
              <a:rPr lang="en-US" sz="5760" b="1" i="0" u="none" strike="noStrike" spc="-80" dirty="0">
                <a:solidFill>
                  <a:srgbClr val="111111"/>
                </a:solidFill>
                <a:latin typeface="Embedded Playfair Display"/>
              </a:rPr>
              <a:t> System Architectur</a:t>
            </a:r>
            <a:r>
              <a:rPr lang="en-US" sz="5760" b="1" i="0" u="none" strike="noStrike" dirty="0">
                <a:solidFill>
                  <a:srgbClr val="111111"/>
                </a:solidFill>
                <a:latin typeface="Embedded Playfair Display"/>
              </a:rPr>
              <a:t>e</a:t>
            </a:r>
          </a:p>
          <a:p>
            <a:pPr marL="0" algn="l">
              <a:lnSpc>
                <a:spcPct val="110000"/>
              </a:lnSpc>
              <a:spcBef>
                <a:spcPct val="0"/>
              </a:spcBef>
              <a:spcAft>
                <a:spcPct val="0"/>
              </a:spcAft>
            </a:pPr>
            <a:r>
              <a:rPr lang="en-US" sz="100" dirty="0">
                <a:latin typeface="Embedded Playfair Display"/>
              </a:rPr>
              <a:t> </a:t>
            </a:r>
          </a:p>
        </p:txBody>
      </p:sp>
      <p:sp>
        <p:nvSpPr>
          <p:cNvPr id="14" name="TextBox 14"/>
          <p:cNvSpPr txBox="1"/>
          <p:nvPr/>
        </p:nvSpPr>
        <p:spPr>
          <a:xfrm>
            <a:off x="15699618" y="10849166"/>
            <a:ext cx="6897244" cy="1952434"/>
          </a:xfrm>
          <a:prstGeom prst="rect">
            <a:avLst/>
          </a:prstGeom>
        </p:spPr>
        <p:txBody>
          <a:bodyPr wrap="square" lIns="0" tIns="0" rIns="0" bIns="0" rtlCol="0" anchor="t"/>
          <a:lstStyle/>
          <a:p>
            <a:pPr>
              <a:lnSpc>
                <a:spcPct val="110000"/>
              </a:lnSpc>
              <a:spcBef>
                <a:spcPct val="0"/>
              </a:spcBef>
              <a:spcAft>
                <a:spcPct val="0"/>
              </a:spcAft>
            </a:pPr>
            <a:r>
              <a:rPr lang="en-US" sz="2600" b="1" dirty="0">
                <a:solidFill>
                  <a:schemeClr val="accent6">
                    <a:lumMod val="75000"/>
                  </a:schemeClr>
                </a:solidFill>
                <a:latin typeface="Arial" panose="020B0604020202020204" pitchFamily="34" charset="0"/>
                <a:cs typeface="Arial" panose="020B0604020202020204" pitchFamily="34" charset="0"/>
              </a:rPr>
              <a:t>Cross Attention Dynamic Fusion</a:t>
            </a:r>
            <a:r>
              <a:rPr lang="en-US" sz="2600" dirty="0">
                <a:latin typeface="Arial" panose="020B0604020202020204" pitchFamily="34" charset="0"/>
                <a:cs typeface="Arial" panose="020B0604020202020204" pitchFamily="34" charset="0"/>
              </a:rPr>
              <a:t>: A  multi head cross attention mechanism dynamically weighs and merges all three linguistic views for final classification.</a:t>
            </a:r>
          </a:p>
        </p:txBody>
      </p:sp>
      <p:sp>
        <p:nvSpPr>
          <p:cNvPr id="15" name="TextBox 15"/>
          <p:cNvSpPr txBox="1"/>
          <p:nvPr/>
        </p:nvSpPr>
        <p:spPr>
          <a:xfrm>
            <a:off x="16255999" y="4232129"/>
            <a:ext cx="5975048" cy="1226457"/>
          </a:xfrm>
          <a:prstGeom prst="rect">
            <a:avLst/>
          </a:prstGeom>
        </p:spPr>
        <p:txBody>
          <a:bodyPr wrap="square" lIns="0" tIns="0" rIns="0" bIns="0" rtlCol="0" anchor="ctr"/>
          <a:lstStyle/>
          <a:p>
            <a:pPr marL="0" algn="l">
              <a:lnSpc>
                <a:spcPct val="110000"/>
              </a:lnSpc>
              <a:spcBef>
                <a:spcPct val="0"/>
              </a:spcBef>
              <a:spcAft>
                <a:spcPct val="0"/>
              </a:spcAft>
            </a:pPr>
            <a:r>
              <a:rPr lang="en-US" sz="100" dirty="0">
                <a:latin typeface="Embedded Inter"/>
              </a:rPr>
              <a:t> </a:t>
            </a:r>
          </a:p>
          <a:p>
            <a:pPr marL="0" algn="l" fontAlgn="base">
              <a:lnSpc>
                <a:spcPct val="105000"/>
              </a:lnSpc>
              <a:spcBef>
                <a:spcPct val="0"/>
              </a:spcBef>
              <a:spcAft>
                <a:spcPct val="3000"/>
              </a:spcAft>
            </a:pPr>
            <a:r>
              <a:rPr lang="en-US" sz="2316" b="0" i="0" u="none" strike="noStrike" dirty="0" err="1">
                <a:solidFill>
                  <a:srgbClr val="444444"/>
                </a:solidFill>
                <a:latin typeface="Embedded Inter"/>
              </a:rPr>
              <a:t>BanglaBERT</a:t>
            </a:r>
            <a:r>
              <a:rPr lang="en-US" sz="2316" b="0" i="0" u="none" strike="noStrike" dirty="0">
                <a:solidFill>
                  <a:srgbClr val="444444"/>
                </a:solidFill>
                <a:latin typeface="Embedded Inter"/>
              </a:rPr>
              <a:t> extracts contextual sentence</a:t>
            </a:r>
          </a:p>
          <a:p>
            <a:pPr marL="0" algn="l" fontAlgn="base">
              <a:lnSpc>
                <a:spcPct val="105000"/>
              </a:lnSpc>
              <a:spcBef>
                <a:spcPct val="0"/>
              </a:spcBef>
              <a:spcAft>
                <a:spcPct val="3000"/>
              </a:spcAft>
            </a:pPr>
            <a:r>
              <a:rPr lang="en-US" sz="2316" b="0" i="0" u="none" strike="noStrike" dirty="0">
                <a:solidFill>
                  <a:srgbClr val="444444"/>
                </a:solidFill>
                <a:latin typeface="Embedded Inter"/>
              </a:rPr>
              <a:t>meaning projected to a 256d vector space.</a:t>
            </a:r>
          </a:p>
          <a:p>
            <a:pPr marL="0" algn="l">
              <a:lnSpc>
                <a:spcPct val="110000"/>
              </a:lnSpc>
              <a:spcBef>
                <a:spcPct val="0"/>
              </a:spcBef>
              <a:spcAft>
                <a:spcPct val="0"/>
              </a:spcAft>
            </a:pPr>
            <a:r>
              <a:rPr lang="en-US" sz="100" dirty="0">
                <a:latin typeface="Embedded Inter"/>
              </a:rPr>
              <a:t> </a:t>
            </a:r>
          </a:p>
        </p:txBody>
      </p:sp>
      <p:sp>
        <p:nvSpPr>
          <p:cNvPr id="16" name="TextBox 16"/>
          <p:cNvSpPr txBox="1"/>
          <p:nvPr/>
        </p:nvSpPr>
        <p:spPr>
          <a:xfrm>
            <a:off x="16255999" y="6651176"/>
            <a:ext cx="5975048" cy="1226457"/>
          </a:xfrm>
          <a:prstGeom prst="rect">
            <a:avLst/>
          </a:prstGeom>
        </p:spPr>
        <p:txBody>
          <a:bodyPr wrap="square" lIns="0" tIns="0" rIns="0" bIns="0" rtlCol="0" anchor="ctr"/>
          <a:lstStyle/>
          <a:p>
            <a:pPr marL="0" algn="l">
              <a:lnSpc>
                <a:spcPct val="110000"/>
              </a:lnSpc>
              <a:spcBef>
                <a:spcPct val="0"/>
              </a:spcBef>
              <a:spcAft>
                <a:spcPct val="0"/>
              </a:spcAft>
            </a:pPr>
            <a:r>
              <a:rPr lang="en-US" sz="100">
                <a:latin typeface="Embedded Inter"/>
              </a:rPr>
              <a:t> </a:t>
            </a:r>
          </a:p>
          <a:p>
            <a:pPr marL="0" algn="l" fontAlgn="base">
              <a:lnSpc>
                <a:spcPct val="105000"/>
              </a:lnSpc>
              <a:spcBef>
                <a:spcPct val="0"/>
              </a:spcBef>
              <a:spcAft>
                <a:spcPct val="3000"/>
              </a:spcAft>
            </a:pPr>
            <a:r>
              <a:rPr lang="en-US" sz="2268" b="0" i="0" u="none" strike="noStrike">
                <a:solidFill>
                  <a:srgbClr val="444444"/>
                </a:solidFill>
                <a:latin typeface="Embedded Inter"/>
              </a:rPr>
              <a:t>POS embeddings capture grammar and</a:t>
            </a:r>
          </a:p>
          <a:p>
            <a:pPr marL="0" algn="l" fontAlgn="base">
              <a:lnSpc>
                <a:spcPct val="105000"/>
              </a:lnSpc>
              <a:spcBef>
                <a:spcPct val="0"/>
              </a:spcBef>
              <a:spcAft>
                <a:spcPct val="3000"/>
              </a:spcAft>
            </a:pPr>
            <a:r>
              <a:rPr lang="en-US" sz="2268" b="0" i="0" u="none" strike="noStrike">
                <a:solidFill>
                  <a:srgbClr val="444444"/>
                </a:solidFill>
                <a:latin typeface="Embedded Inter"/>
              </a:rPr>
              <a:t>clickbait patterns via 1D convolution (256d).</a:t>
            </a:r>
          </a:p>
          <a:p>
            <a:pPr marL="0" algn="l">
              <a:lnSpc>
                <a:spcPct val="110000"/>
              </a:lnSpc>
              <a:spcBef>
                <a:spcPct val="0"/>
              </a:spcBef>
              <a:spcAft>
                <a:spcPct val="0"/>
              </a:spcAft>
            </a:pPr>
            <a:r>
              <a:rPr lang="en-US" sz="100">
                <a:latin typeface="Embedded Inter"/>
              </a:rPr>
              <a:t> </a:t>
            </a:r>
          </a:p>
        </p:txBody>
      </p:sp>
      <p:sp>
        <p:nvSpPr>
          <p:cNvPr id="17" name="TextBox 17"/>
          <p:cNvSpPr txBox="1"/>
          <p:nvPr/>
        </p:nvSpPr>
        <p:spPr>
          <a:xfrm>
            <a:off x="16255999" y="9274626"/>
            <a:ext cx="6871305" cy="817638"/>
          </a:xfrm>
          <a:prstGeom prst="rect">
            <a:avLst/>
          </a:prstGeom>
        </p:spPr>
        <p:txBody>
          <a:bodyPr wrap="none" lIns="0" tIns="0" rIns="0" bIns="0" rtlCol="0" anchor="ctr"/>
          <a:lstStyle/>
          <a:p>
            <a:pPr marL="0" algn="l">
              <a:lnSpc>
                <a:spcPct val="110000"/>
              </a:lnSpc>
              <a:spcBef>
                <a:spcPct val="0"/>
              </a:spcBef>
              <a:spcAft>
                <a:spcPct val="0"/>
              </a:spcAft>
            </a:pPr>
            <a:r>
              <a:rPr lang="en-US" sz="100">
                <a:latin typeface="Embedded Inter"/>
              </a:rPr>
              <a:t> </a:t>
            </a:r>
          </a:p>
          <a:p>
            <a:pPr marL="0" algn="l" fontAlgn="base">
              <a:lnSpc>
                <a:spcPct val="100000"/>
              </a:lnSpc>
              <a:spcBef>
                <a:spcPct val="0"/>
              </a:spcBef>
              <a:spcAft>
                <a:spcPct val="0"/>
              </a:spcAft>
            </a:pPr>
            <a:r>
              <a:rPr lang="en-US" sz="2312" b="0" i="0" u="none" strike="noStrike">
                <a:solidFill>
                  <a:srgbClr val="444444"/>
                </a:solidFill>
                <a:latin typeface="Embedded Inter"/>
              </a:rPr>
              <a:t>CharCNN detects character repetitions,</a:t>
            </a:r>
          </a:p>
          <a:p>
            <a:pPr marL="0" algn="l" fontAlgn="base">
              <a:lnSpc>
                <a:spcPct val="100000"/>
              </a:lnSpc>
              <a:spcBef>
                <a:spcPct val="0"/>
              </a:spcBef>
              <a:spcAft>
                <a:spcPct val="0"/>
              </a:spcAft>
            </a:pPr>
            <a:r>
              <a:rPr lang="en-US" sz="2312" b="0" i="0" u="none" strike="noStrike">
                <a:solidFill>
                  <a:srgbClr val="444444"/>
                </a:solidFill>
                <a:latin typeface="Embedded Inter"/>
              </a:rPr>
              <a:t>typos, and subword cues (256d).</a:t>
            </a:r>
          </a:p>
          <a:p>
            <a:pPr marL="0" algn="l">
              <a:lnSpc>
                <a:spcPct val="110000"/>
              </a:lnSpc>
              <a:spcBef>
                <a:spcPct val="0"/>
              </a:spcBef>
              <a:spcAft>
                <a:spcPct val="0"/>
              </a:spcAft>
            </a:pPr>
            <a:r>
              <a:rPr lang="en-US" sz="100">
                <a:latin typeface="Embedded Inter"/>
              </a:rPr>
              <a:t> </a:t>
            </a:r>
          </a:p>
        </p:txBody>
      </p:sp>
      <p:sp>
        <p:nvSpPr>
          <p:cNvPr id="18" name="TextBox 18"/>
          <p:cNvSpPr txBox="1"/>
          <p:nvPr/>
        </p:nvSpPr>
        <p:spPr>
          <a:xfrm>
            <a:off x="16255999" y="3419326"/>
            <a:ext cx="6871305" cy="522514"/>
          </a:xfrm>
          <a:prstGeom prst="rect">
            <a:avLst/>
          </a:prstGeom>
        </p:spPr>
        <p:txBody>
          <a:bodyPr wrap="none" lIns="0" tIns="0" rIns="0" bIns="0" rtlCol="0" anchor="ctr"/>
          <a:lstStyle/>
          <a:p>
            <a:pPr marL="0" algn="l">
              <a:lnSpc>
                <a:spcPct val="110000"/>
              </a:lnSpc>
              <a:spcBef>
                <a:spcPct val="0"/>
              </a:spcBef>
              <a:spcAft>
                <a:spcPct val="0"/>
              </a:spcAft>
            </a:pPr>
            <a:r>
              <a:rPr lang="en-US" sz="100">
                <a:latin typeface="Embedded Playfair Display"/>
              </a:rPr>
              <a:t> </a:t>
            </a:r>
          </a:p>
          <a:p>
            <a:pPr marL="0" algn="l" fontAlgn="base">
              <a:lnSpc>
                <a:spcPct val="100000"/>
              </a:lnSpc>
              <a:spcBef>
                <a:spcPct val="0"/>
              </a:spcBef>
              <a:spcAft>
                <a:spcPct val="0"/>
              </a:spcAft>
            </a:pPr>
            <a:r>
              <a:rPr lang="en-US" sz="3047" b="1" i="0" u="none" strike="noStrike">
                <a:solidFill>
                  <a:srgbClr val="D94F3A"/>
                </a:solidFill>
                <a:latin typeface="Embedded Playfair Display"/>
              </a:rPr>
              <a:t>Semantic Stream</a:t>
            </a:r>
          </a:p>
          <a:p>
            <a:pPr marL="0" algn="l">
              <a:lnSpc>
                <a:spcPct val="110000"/>
              </a:lnSpc>
              <a:spcBef>
                <a:spcPct val="0"/>
              </a:spcBef>
              <a:spcAft>
                <a:spcPct val="0"/>
              </a:spcAft>
            </a:pPr>
            <a:r>
              <a:rPr lang="en-US" sz="100">
                <a:latin typeface="Embedded Playfair Display"/>
              </a:rPr>
              <a:t> </a:t>
            </a:r>
          </a:p>
        </p:txBody>
      </p:sp>
      <p:sp>
        <p:nvSpPr>
          <p:cNvPr id="19" name="TextBox 19"/>
          <p:cNvSpPr txBox="1"/>
          <p:nvPr/>
        </p:nvSpPr>
        <p:spPr>
          <a:xfrm>
            <a:off x="16255999" y="5838374"/>
            <a:ext cx="6871305" cy="522514"/>
          </a:xfrm>
          <a:prstGeom prst="rect">
            <a:avLst/>
          </a:prstGeom>
        </p:spPr>
        <p:txBody>
          <a:bodyPr wrap="none" lIns="0" tIns="0" rIns="0" bIns="0" rtlCol="0" anchor="ctr"/>
          <a:lstStyle/>
          <a:p>
            <a:pPr marL="0" algn="l">
              <a:lnSpc>
                <a:spcPct val="110000"/>
              </a:lnSpc>
              <a:spcBef>
                <a:spcPct val="0"/>
              </a:spcBef>
              <a:spcAft>
                <a:spcPct val="0"/>
              </a:spcAft>
            </a:pPr>
            <a:r>
              <a:rPr lang="en-US" sz="100" dirty="0">
                <a:latin typeface="Embedded Playfair Display"/>
              </a:rPr>
              <a:t> </a:t>
            </a:r>
          </a:p>
          <a:p>
            <a:pPr marL="0" algn="l" fontAlgn="base">
              <a:lnSpc>
                <a:spcPct val="100000"/>
              </a:lnSpc>
              <a:spcBef>
                <a:spcPct val="0"/>
              </a:spcBef>
              <a:spcAft>
                <a:spcPct val="0"/>
              </a:spcAft>
            </a:pPr>
            <a:r>
              <a:rPr lang="en-US" sz="3047" b="1" i="0" u="none" strike="noStrike" dirty="0">
                <a:solidFill>
                  <a:srgbClr val="D94F3A"/>
                </a:solidFill>
                <a:latin typeface="Embedded Playfair Display"/>
              </a:rPr>
              <a:t>Syntactic Stream</a:t>
            </a:r>
          </a:p>
          <a:p>
            <a:pPr marL="0" algn="l">
              <a:lnSpc>
                <a:spcPct val="110000"/>
              </a:lnSpc>
              <a:spcBef>
                <a:spcPct val="0"/>
              </a:spcBef>
              <a:spcAft>
                <a:spcPct val="0"/>
              </a:spcAft>
            </a:pPr>
            <a:r>
              <a:rPr lang="en-US" sz="100" dirty="0">
                <a:latin typeface="Embedded Playfair Display"/>
              </a:rPr>
              <a:t> </a:t>
            </a:r>
          </a:p>
        </p:txBody>
      </p:sp>
      <p:sp>
        <p:nvSpPr>
          <p:cNvPr id="20" name="TextBox 20"/>
          <p:cNvSpPr txBox="1"/>
          <p:nvPr/>
        </p:nvSpPr>
        <p:spPr>
          <a:xfrm>
            <a:off x="16255999" y="8461836"/>
            <a:ext cx="6871305" cy="522514"/>
          </a:xfrm>
          <a:prstGeom prst="rect">
            <a:avLst/>
          </a:prstGeom>
        </p:spPr>
        <p:txBody>
          <a:bodyPr wrap="none" lIns="0" tIns="0" rIns="0" bIns="0" rtlCol="0" anchor="ctr"/>
          <a:lstStyle/>
          <a:p>
            <a:pPr marL="0" algn="l">
              <a:lnSpc>
                <a:spcPct val="110000"/>
              </a:lnSpc>
              <a:spcBef>
                <a:spcPct val="0"/>
              </a:spcBef>
              <a:spcAft>
                <a:spcPct val="0"/>
              </a:spcAft>
            </a:pPr>
            <a:r>
              <a:rPr lang="en-US" sz="100">
                <a:latin typeface="Embedded Playfair Display"/>
              </a:rPr>
              <a:t> </a:t>
            </a:r>
          </a:p>
          <a:p>
            <a:pPr marL="0" algn="l" fontAlgn="base">
              <a:lnSpc>
                <a:spcPct val="100000"/>
              </a:lnSpc>
              <a:spcBef>
                <a:spcPct val="0"/>
              </a:spcBef>
              <a:spcAft>
                <a:spcPct val="0"/>
              </a:spcAft>
            </a:pPr>
            <a:r>
              <a:rPr lang="en-US" sz="3047" b="1" i="0" u="none" strike="noStrike">
                <a:solidFill>
                  <a:srgbClr val="D94F3A"/>
                </a:solidFill>
                <a:latin typeface="Embedded Playfair Display"/>
              </a:rPr>
              <a:t>Orthographic Stream</a:t>
            </a:r>
          </a:p>
          <a:p>
            <a:pPr marL="0" algn="l">
              <a:lnSpc>
                <a:spcPct val="110000"/>
              </a:lnSpc>
              <a:spcBef>
                <a:spcPct val="0"/>
              </a:spcBef>
              <a:spcAft>
                <a:spcPct val="0"/>
              </a:spcAft>
            </a:pPr>
            <a:r>
              <a:rPr lang="en-US" sz="100">
                <a:latin typeface="Embedded Playfair Display"/>
              </a:rPr>
              <a:t> </a:t>
            </a:r>
          </a:p>
        </p:txBody>
      </p:sp>
      <p:pic>
        <p:nvPicPr>
          <p:cNvPr id="23" name="Picture 23"/>
          <p:cNvPicPr>
            <a:picLocks noChangeAspect="1"/>
          </p:cNvPicPr>
          <p:nvPr/>
        </p:nvPicPr>
        <p:blipFill>
          <a:blip r:embed="rId10">
            <a:extLst>
              <a:ext uri="{28A0092B-C50C-407E-A947-70E740481C1C}">
                <a14:useLocalDpi xmlns:a14="http://schemas.microsoft.com/office/drawing/2010/main" val="0"/>
              </a:ext>
            </a:extLst>
          </a:blip>
          <a:srcRect/>
          <a:stretch/>
        </p:blipFill>
        <p:spPr>
          <a:xfrm>
            <a:off x="1981200" y="1897880"/>
            <a:ext cx="11277600" cy="11201562"/>
          </a:xfrm>
          <a:prstGeom prst="rect">
            <a:avLst/>
          </a:prstGeom>
        </p:spPr>
      </p:pic>
      <p:pic>
        <p:nvPicPr>
          <p:cNvPr id="24" name="Picture 24"/>
          <p:cNvPicPr>
            <a:picLocks noChangeAspect="1"/>
          </p:cNvPicPr>
          <p:nvPr/>
        </p:nvPicPr>
        <p:blipFill>
          <a:blip r:embed="rId11"/>
          <a:stretch>
            <a:fillRect/>
          </a:stretch>
        </p:blipFill>
        <p:spPr>
          <a:xfrm>
            <a:off x="22163315" y="-1274536"/>
            <a:ext cx="3193143" cy="3193143"/>
          </a:xfrm>
          <a:prstGeom prst="rect">
            <a:avLst/>
          </a:prstGeom>
        </p:spPr>
      </p:pic>
      <p:sp>
        <p:nvSpPr>
          <p:cNvPr id="25" name="TextBox 25"/>
          <p:cNvSpPr txBox="1"/>
          <p:nvPr/>
        </p:nvSpPr>
        <p:spPr>
          <a:xfrm>
            <a:off x="23147262" y="612321"/>
            <a:ext cx="315051"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777" b="0" i="0" u="none" strike="noStrike" dirty="0">
                <a:solidFill>
                  <a:srgbClr val="F2F0EC"/>
                </a:solidFill>
                <a:latin typeface="Embedded Inter"/>
              </a:rPr>
              <a:t>9</a:t>
            </a:r>
          </a:p>
          <a:p>
            <a:pPr marL="0" algn="l">
              <a:lnSpc>
                <a:spcPct val="110000"/>
              </a:lnSpc>
              <a:spcBef>
                <a:spcPct val="0"/>
              </a:spcBef>
              <a:spcAft>
                <a:spcPct val="0"/>
              </a:spcAft>
            </a:pPr>
            <a:r>
              <a:rPr lang="en-US" sz="100" dirty="0">
                <a:latin typeface="Embedded Inter"/>
              </a:rPr>
              <a:t> </a:t>
            </a:r>
          </a:p>
        </p:txBody>
      </p:sp>
      <p:sp>
        <p:nvSpPr>
          <p:cNvPr id="27" name="TextBox 26">
            <a:extLst>
              <a:ext uri="{FF2B5EF4-FFF2-40B4-BE49-F238E27FC236}">
                <a16:creationId xmlns:a16="http://schemas.microsoft.com/office/drawing/2014/main" id="{625D27C8-296C-F051-2015-1FE04AA660E2}"/>
              </a:ext>
            </a:extLst>
          </p:cNvPr>
          <p:cNvSpPr txBox="1"/>
          <p:nvPr/>
        </p:nvSpPr>
        <p:spPr>
          <a:xfrm>
            <a:off x="15471004" y="1787540"/>
            <a:ext cx="7122900" cy="1292662"/>
          </a:xfrm>
          <a:prstGeom prst="rect">
            <a:avLst/>
          </a:prstGeom>
          <a:noFill/>
        </p:spPr>
        <p:txBody>
          <a:bodyPr wrap="square">
            <a:spAutoFit/>
          </a:bodyPr>
          <a:lstStyle/>
          <a:p>
            <a:r>
              <a:rPr lang="en-US" sz="2600" b="1" i="0" dirty="0">
                <a:solidFill>
                  <a:schemeClr val="accent6">
                    <a:lumMod val="75000"/>
                  </a:schemeClr>
                </a:solidFill>
                <a:effectLst/>
                <a:latin typeface="Arial" panose="020B0604020202020204" pitchFamily="34" charset="0"/>
                <a:cs typeface="Arial" panose="020B0604020202020204" pitchFamily="34" charset="0"/>
              </a:rPr>
              <a:t>DG-</a:t>
            </a:r>
            <a:r>
              <a:rPr lang="en-US" sz="2600" b="1" i="0" dirty="0" err="1">
                <a:solidFill>
                  <a:schemeClr val="accent6">
                    <a:lumMod val="75000"/>
                  </a:schemeClr>
                </a:solidFill>
                <a:effectLst/>
                <a:latin typeface="Arial" panose="020B0604020202020204" pitchFamily="34" charset="0"/>
                <a:cs typeface="Arial" panose="020B0604020202020204" pitchFamily="34" charset="0"/>
              </a:rPr>
              <a:t>SSOFNet</a:t>
            </a:r>
            <a:r>
              <a:rPr lang="en-US" sz="2600" b="1" i="0" dirty="0">
                <a:solidFill>
                  <a:schemeClr val="accent6">
                    <a:lumMod val="75000"/>
                  </a:schemeClr>
                </a:solidFill>
                <a:effectLst/>
                <a:latin typeface="Arial" panose="020B0604020202020204" pitchFamily="34" charset="0"/>
                <a:cs typeface="Arial" panose="020B0604020202020204" pitchFamily="34" charset="0"/>
              </a:rPr>
              <a:t>: </a:t>
            </a:r>
            <a:r>
              <a:rPr lang="en-US" sz="2600" b="0" i="0" dirty="0">
                <a:solidFill>
                  <a:schemeClr val="tx1"/>
                </a:solidFill>
                <a:effectLst/>
                <a:latin typeface="Arial" panose="020B0604020202020204" pitchFamily="34" charset="0"/>
                <a:cs typeface="Arial" panose="020B0604020202020204" pitchFamily="34" charset="0"/>
              </a:rPr>
              <a:t>Decontaminated Generative - Semantic, Syntactic, and Orthographic Fusion Network</a:t>
            </a:r>
            <a:endParaRPr lang="en-US" sz="2600"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7" name="Picture 7"/>
          <p:cNvPicPr>
            <a:picLocks noChangeAspect="1"/>
          </p:cNvPicPr>
          <p:nvPr/>
        </p:nvPicPr>
        <p:blipFill>
          <a:blip r:embed="rId5"/>
          <a:stretch>
            <a:fillRect/>
          </a:stretch>
        </p:blipFill>
        <p:spPr>
          <a:xfrm>
            <a:off x="1693333" y="10244666"/>
            <a:ext cx="20997334" cy="1935238"/>
          </a:xfrm>
          <a:prstGeom prst="rect">
            <a:avLst/>
          </a:prstGeom>
          <a:effectLst>
            <a:outerShdw blurRad="1451428" dist="241904" dir="5400000" algn="ctr">
              <a:srgbClr val="000000">
                <a:alpha val="3137"/>
              </a:srgbClr>
            </a:outerShdw>
          </a:effectLst>
        </p:spPr>
      </p:pic>
      <p:pic>
        <p:nvPicPr>
          <p:cNvPr id="18" name="Picture 18"/>
          <p:cNvPicPr>
            <a:picLocks noChangeAspect="1"/>
          </p:cNvPicPr>
          <p:nvPr/>
        </p:nvPicPr>
        <p:blipFill>
          <a:blip r:embed="rId6"/>
          <a:stretch>
            <a:fillRect/>
          </a:stretch>
        </p:blipFill>
        <p:spPr>
          <a:xfrm>
            <a:off x="1693334" y="10244666"/>
            <a:ext cx="193524" cy="1935238"/>
          </a:xfrm>
          <a:prstGeom prst="rect">
            <a:avLst/>
          </a:prstGeom>
        </p:spPr>
      </p:pic>
      <p:pic>
        <p:nvPicPr>
          <p:cNvPr id="19" name="Picture 19"/>
          <p:cNvPicPr>
            <a:picLocks noChangeAspect="1"/>
          </p:cNvPicPr>
          <p:nvPr/>
        </p:nvPicPr>
        <p:blipFill>
          <a:blip r:embed="rId7"/>
          <a:stretch>
            <a:fillRect/>
          </a:stretch>
        </p:blipFill>
        <p:spPr>
          <a:xfrm>
            <a:off x="1693333" y="1329875"/>
            <a:ext cx="14537267" cy="45719"/>
          </a:xfrm>
          <a:prstGeom prst="rect">
            <a:avLst/>
          </a:prstGeom>
        </p:spPr>
      </p:pic>
      <p:pic>
        <p:nvPicPr>
          <p:cNvPr id="20" name="Picture 20"/>
          <p:cNvPicPr>
            <a:picLocks noChangeAspect="1"/>
          </p:cNvPicPr>
          <p:nvPr/>
        </p:nvPicPr>
        <p:blipFill>
          <a:blip r:embed="rId8"/>
          <a:stretch>
            <a:fillRect/>
          </a:stretch>
        </p:blipFill>
        <p:spPr>
          <a:xfrm>
            <a:off x="1693333" y="5103588"/>
            <a:ext cx="4155017" cy="24190"/>
          </a:xfrm>
          <a:prstGeom prst="rect">
            <a:avLst/>
          </a:prstGeom>
        </p:spPr>
      </p:pic>
      <p:pic>
        <p:nvPicPr>
          <p:cNvPr id="21" name="Picture 21"/>
          <p:cNvPicPr>
            <a:picLocks noChangeAspect="1"/>
          </p:cNvPicPr>
          <p:nvPr/>
        </p:nvPicPr>
        <p:blipFill>
          <a:blip r:embed="rId8"/>
          <a:stretch>
            <a:fillRect/>
          </a:stretch>
        </p:blipFill>
        <p:spPr>
          <a:xfrm>
            <a:off x="1693333" y="5984119"/>
            <a:ext cx="4155017" cy="24190"/>
          </a:xfrm>
          <a:prstGeom prst="rect">
            <a:avLst/>
          </a:prstGeom>
        </p:spPr>
      </p:pic>
      <p:pic>
        <p:nvPicPr>
          <p:cNvPr id="22" name="Picture 22"/>
          <p:cNvPicPr>
            <a:picLocks noChangeAspect="1"/>
          </p:cNvPicPr>
          <p:nvPr/>
        </p:nvPicPr>
        <p:blipFill>
          <a:blip r:embed="rId8"/>
          <a:stretch>
            <a:fillRect/>
          </a:stretch>
        </p:blipFill>
        <p:spPr>
          <a:xfrm>
            <a:off x="1693333" y="6864650"/>
            <a:ext cx="4155017" cy="24190"/>
          </a:xfrm>
          <a:prstGeom prst="rect">
            <a:avLst/>
          </a:prstGeom>
        </p:spPr>
      </p:pic>
      <p:pic>
        <p:nvPicPr>
          <p:cNvPr id="23" name="Picture 23"/>
          <p:cNvPicPr>
            <a:picLocks noChangeAspect="1"/>
          </p:cNvPicPr>
          <p:nvPr/>
        </p:nvPicPr>
        <p:blipFill>
          <a:blip r:embed="rId8"/>
          <a:stretch>
            <a:fillRect/>
          </a:stretch>
        </p:blipFill>
        <p:spPr>
          <a:xfrm>
            <a:off x="1693333" y="7745193"/>
            <a:ext cx="4155017" cy="24190"/>
          </a:xfrm>
          <a:prstGeom prst="rect">
            <a:avLst/>
          </a:prstGeom>
        </p:spPr>
      </p:pic>
      <p:pic>
        <p:nvPicPr>
          <p:cNvPr id="25" name="Picture 25"/>
          <p:cNvPicPr>
            <a:picLocks noChangeAspect="1"/>
          </p:cNvPicPr>
          <p:nvPr/>
        </p:nvPicPr>
        <p:blipFill>
          <a:blip r:embed="rId9"/>
          <a:stretch>
            <a:fillRect/>
          </a:stretch>
        </p:blipFill>
        <p:spPr>
          <a:xfrm>
            <a:off x="7028845" y="5103588"/>
            <a:ext cx="2087033" cy="24190"/>
          </a:xfrm>
          <a:prstGeom prst="rect">
            <a:avLst/>
          </a:prstGeom>
        </p:spPr>
      </p:pic>
      <p:pic>
        <p:nvPicPr>
          <p:cNvPr id="26" name="Picture 26"/>
          <p:cNvPicPr>
            <a:picLocks noChangeAspect="1"/>
          </p:cNvPicPr>
          <p:nvPr/>
        </p:nvPicPr>
        <p:blipFill>
          <a:blip r:embed="rId10"/>
          <a:stretch>
            <a:fillRect/>
          </a:stretch>
        </p:blipFill>
        <p:spPr>
          <a:xfrm>
            <a:off x="12334119" y="5103588"/>
            <a:ext cx="1938262" cy="24190"/>
          </a:xfrm>
          <a:prstGeom prst="rect">
            <a:avLst/>
          </a:prstGeom>
        </p:spPr>
      </p:pic>
      <p:pic>
        <p:nvPicPr>
          <p:cNvPr id="27" name="Picture 27"/>
          <p:cNvPicPr>
            <a:picLocks noChangeAspect="1"/>
          </p:cNvPicPr>
          <p:nvPr/>
        </p:nvPicPr>
        <p:blipFill>
          <a:blip r:embed="rId9"/>
          <a:stretch>
            <a:fillRect/>
          </a:stretch>
        </p:blipFill>
        <p:spPr>
          <a:xfrm>
            <a:off x="7028845" y="5984119"/>
            <a:ext cx="2087033" cy="24190"/>
          </a:xfrm>
          <a:prstGeom prst="rect">
            <a:avLst/>
          </a:prstGeom>
        </p:spPr>
      </p:pic>
      <p:pic>
        <p:nvPicPr>
          <p:cNvPr id="28" name="Picture 28"/>
          <p:cNvPicPr>
            <a:picLocks noChangeAspect="1"/>
          </p:cNvPicPr>
          <p:nvPr/>
        </p:nvPicPr>
        <p:blipFill>
          <a:blip r:embed="rId10"/>
          <a:stretch>
            <a:fillRect/>
          </a:stretch>
        </p:blipFill>
        <p:spPr>
          <a:xfrm>
            <a:off x="12334119" y="5984119"/>
            <a:ext cx="1938262" cy="24190"/>
          </a:xfrm>
          <a:prstGeom prst="rect">
            <a:avLst/>
          </a:prstGeom>
        </p:spPr>
      </p:pic>
      <p:pic>
        <p:nvPicPr>
          <p:cNvPr id="29" name="Picture 29"/>
          <p:cNvPicPr>
            <a:picLocks noChangeAspect="1"/>
          </p:cNvPicPr>
          <p:nvPr/>
        </p:nvPicPr>
        <p:blipFill>
          <a:blip r:embed="rId9"/>
          <a:stretch>
            <a:fillRect/>
          </a:stretch>
        </p:blipFill>
        <p:spPr>
          <a:xfrm>
            <a:off x="7028845" y="6864650"/>
            <a:ext cx="2087033" cy="24190"/>
          </a:xfrm>
          <a:prstGeom prst="rect">
            <a:avLst/>
          </a:prstGeom>
        </p:spPr>
      </p:pic>
      <p:pic>
        <p:nvPicPr>
          <p:cNvPr id="30" name="Picture 30"/>
          <p:cNvPicPr>
            <a:picLocks noChangeAspect="1"/>
          </p:cNvPicPr>
          <p:nvPr/>
        </p:nvPicPr>
        <p:blipFill>
          <a:blip r:embed="rId10"/>
          <a:stretch>
            <a:fillRect/>
          </a:stretch>
        </p:blipFill>
        <p:spPr>
          <a:xfrm>
            <a:off x="12334119" y="6864650"/>
            <a:ext cx="1938262" cy="24190"/>
          </a:xfrm>
          <a:prstGeom prst="rect">
            <a:avLst/>
          </a:prstGeom>
        </p:spPr>
      </p:pic>
      <p:pic>
        <p:nvPicPr>
          <p:cNvPr id="31" name="Picture 31"/>
          <p:cNvPicPr>
            <a:picLocks noChangeAspect="1"/>
          </p:cNvPicPr>
          <p:nvPr/>
        </p:nvPicPr>
        <p:blipFill>
          <a:blip r:embed="rId9"/>
          <a:stretch>
            <a:fillRect/>
          </a:stretch>
        </p:blipFill>
        <p:spPr>
          <a:xfrm>
            <a:off x="7028845" y="7745193"/>
            <a:ext cx="2087033" cy="24190"/>
          </a:xfrm>
          <a:prstGeom prst="rect">
            <a:avLst/>
          </a:prstGeom>
        </p:spPr>
      </p:pic>
      <p:pic>
        <p:nvPicPr>
          <p:cNvPr id="32" name="Picture 32"/>
          <p:cNvPicPr>
            <a:picLocks noChangeAspect="1"/>
          </p:cNvPicPr>
          <p:nvPr/>
        </p:nvPicPr>
        <p:blipFill>
          <a:blip r:embed="rId10"/>
          <a:stretch>
            <a:fillRect/>
          </a:stretch>
        </p:blipFill>
        <p:spPr>
          <a:xfrm>
            <a:off x="12334119" y="7745193"/>
            <a:ext cx="1938262" cy="24190"/>
          </a:xfrm>
          <a:prstGeom prst="rect">
            <a:avLst/>
          </a:prstGeom>
        </p:spPr>
      </p:pic>
      <p:pic>
        <p:nvPicPr>
          <p:cNvPr id="35" name="Picture 35"/>
          <p:cNvPicPr>
            <a:picLocks noChangeAspect="1"/>
          </p:cNvPicPr>
          <p:nvPr/>
        </p:nvPicPr>
        <p:blipFill>
          <a:blip r:embed="rId11"/>
          <a:stretch>
            <a:fillRect/>
          </a:stretch>
        </p:blipFill>
        <p:spPr>
          <a:xfrm>
            <a:off x="9115879" y="5103588"/>
            <a:ext cx="1567240" cy="24190"/>
          </a:xfrm>
          <a:prstGeom prst="rect">
            <a:avLst/>
          </a:prstGeom>
        </p:spPr>
      </p:pic>
      <p:pic>
        <p:nvPicPr>
          <p:cNvPr id="36" name="Picture 36"/>
          <p:cNvPicPr>
            <a:picLocks noChangeAspect="1"/>
          </p:cNvPicPr>
          <p:nvPr/>
        </p:nvPicPr>
        <p:blipFill>
          <a:blip r:embed="rId12"/>
          <a:stretch>
            <a:fillRect/>
          </a:stretch>
        </p:blipFill>
        <p:spPr>
          <a:xfrm>
            <a:off x="10683118" y="5103588"/>
            <a:ext cx="1651000" cy="24190"/>
          </a:xfrm>
          <a:prstGeom prst="rect">
            <a:avLst/>
          </a:prstGeom>
        </p:spPr>
      </p:pic>
      <p:pic>
        <p:nvPicPr>
          <p:cNvPr id="37" name="Picture 37"/>
          <p:cNvPicPr>
            <a:picLocks noChangeAspect="1"/>
          </p:cNvPicPr>
          <p:nvPr/>
        </p:nvPicPr>
        <p:blipFill>
          <a:blip r:embed="rId11"/>
          <a:stretch>
            <a:fillRect/>
          </a:stretch>
        </p:blipFill>
        <p:spPr>
          <a:xfrm>
            <a:off x="9115879" y="5984119"/>
            <a:ext cx="1567240" cy="24190"/>
          </a:xfrm>
          <a:prstGeom prst="rect">
            <a:avLst/>
          </a:prstGeom>
        </p:spPr>
      </p:pic>
      <p:pic>
        <p:nvPicPr>
          <p:cNvPr id="38" name="Picture 38"/>
          <p:cNvPicPr>
            <a:picLocks noChangeAspect="1"/>
          </p:cNvPicPr>
          <p:nvPr/>
        </p:nvPicPr>
        <p:blipFill>
          <a:blip r:embed="rId12"/>
          <a:stretch>
            <a:fillRect/>
          </a:stretch>
        </p:blipFill>
        <p:spPr>
          <a:xfrm>
            <a:off x="10683118" y="5984119"/>
            <a:ext cx="1651000" cy="24190"/>
          </a:xfrm>
          <a:prstGeom prst="rect">
            <a:avLst/>
          </a:prstGeom>
        </p:spPr>
      </p:pic>
      <p:pic>
        <p:nvPicPr>
          <p:cNvPr id="39" name="Picture 39"/>
          <p:cNvPicPr>
            <a:picLocks noChangeAspect="1"/>
          </p:cNvPicPr>
          <p:nvPr/>
        </p:nvPicPr>
        <p:blipFill>
          <a:blip r:embed="rId11"/>
          <a:stretch>
            <a:fillRect/>
          </a:stretch>
        </p:blipFill>
        <p:spPr>
          <a:xfrm>
            <a:off x="9115879" y="6864650"/>
            <a:ext cx="1567240" cy="24190"/>
          </a:xfrm>
          <a:prstGeom prst="rect">
            <a:avLst/>
          </a:prstGeom>
        </p:spPr>
      </p:pic>
      <p:pic>
        <p:nvPicPr>
          <p:cNvPr id="40" name="Picture 40"/>
          <p:cNvPicPr>
            <a:picLocks noChangeAspect="1"/>
          </p:cNvPicPr>
          <p:nvPr/>
        </p:nvPicPr>
        <p:blipFill>
          <a:blip r:embed="rId12"/>
          <a:stretch>
            <a:fillRect/>
          </a:stretch>
        </p:blipFill>
        <p:spPr>
          <a:xfrm>
            <a:off x="10683118" y="6864650"/>
            <a:ext cx="1651000" cy="24190"/>
          </a:xfrm>
          <a:prstGeom prst="rect">
            <a:avLst/>
          </a:prstGeom>
        </p:spPr>
      </p:pic>
      <p:pic>
        <p:nvPicPr>
          <p:cNvPr id="41" name="Picture 41"/>
          <p:cNvPicPr>
            <a:picLocks noChangeAspect="1"/>
          </p:cNvPicPr>
          <p:nvPr/>
        </p:nvPicPr>
        <p:blipFill>
          <a:blip r:embed="rId11"/>
          <a:stretch>
            <a:fillRect/>
          </a:stretch>
        </p:blipFill>
        <p:spPr>
          <a:xfrm>
            <a:off x="9115879" y="7745193"/>
            <a:ext cx="1567240" cy="24190"/>
          </a:xfrm>
          <a:prstGeom prst="rect">
            <a:avLst/>
          </a:prstGeom>
        </p:spPr>
      </p:pic>
      <p:pic>
        <p:nvPicPr>
          <p:cNvPr id="42" name="Picture 42"/>
          <p:cNvPicPr>
            <a:picLocks noChangeAspect="1"/>
          </p:cNvPicPr>
          <p:nvPr/>
        </p:nvPicPr>
        <p:blipFill>
          <a:blip r:embed="rId12"/>
          <a:stretch>
            <a:fillRect/>
          </a:stretch>
        </p:blipFill>
        <p:spPr>
          <a:xfrm>
            <a:off x="10683118" y="7745193"/>
            <a:ext cx="1651000" cy="24190"/>
          </a:xfrm>
          <a:prstGeom prst="rect">
            <a:avLst/>
          </a:prstGeom>
        </p:spPr>
      </p:pic>
      <p:pic>
        <p:nvPicPr>
          <p:cNvPr id="45" name="Picture 45"/>
          <p:cNvPicPr>
            <a:picLocks noChangeAspect="1"/>
          </p:cNvPicPr>
          <p:nvPr/>
        </p:nvPicPr>
        <p:blipFill>
          <a:blip r:embed="rId13"/>
          <a:stretch>
            <a:fillRect/>
          </a:stretch>
        </p:blipFill>
        <p:spPr>
          <a:xfrm>
            <a:off x="5848350" y="5103588"/>
            <a:ext cx="1180495" cy="24190"/>
          </a:xfrm>
          <a:prstGeom prst="rect">
            <a:avLst/>
          </a:prstGeom>
        </p:spPr>
      </p:pic>
      <p:pic>
        <p:nvPicPr>
          <p:cNvPr id="46" name="Picture 46"/>
          <p:cNvPicPr>
            <a:picLocks noChangeAspect="1"/>
          </p:cNvPicPr>
          <p:nvPr/>
        </p:nvPicPr>
        <p:blipFill>
          <a:blip r:embed="rId13"/>
          <a:stretch>
            <a:fillRect/>
          </a:stretch>
        </p:blipFill>
        <p:spPr>
          <a:xfrm>
            <a:off x="5848350" y="5984119"/>
            <a:ext cx="1180495" cy="24190"/>
          </a:xfrm>
          <a:prstGeom prst="rect">
            <a:avLst/>
          </a:prstGeom>
        </p:spPr>
      </p:pic>
      <p:pic>
        <p:nvPicPr>
          <p:cNvPr id="47" name="Picture 47"/>
          <p:cNvPicPr>
            <a:picLocks noChangeAspect="1"/>
          </p:cNvPicPr>
          <p:nvPr/>
        </p:nvPicPr>
        <p:blipFill>
          <a:blip r:embed="rId13"/>
          <a:stretch>
            <a:fillRect/>
          </a:stretch>
        </p:blipFill>
        <p:spPr>
          <a:xfrm>
            <a:off x="5848350" y="6864650"/>
            <a:ext cx="1180495" cy="24190"/>
          </a:xfrm>
          <a:prstGeom prst="rect">
            <a:avLst/>
          </a:prstGeom>
        </p:spPr>
      </p:pic>
      <p:pic>
        <p:nvPicPr>
          <p:cNvPr id="48" name="Picture 48"/>
          <p:cNvPicPr>
            <a:picLocks noChangeAspect="1"/>
          </p:cNvPicPr>
          <p:nvPr/>
        </p:nvPicPr>
        <p:blipFill>
          <a:blip r:embed="rId13"/>
          <a:stretch>
            <a:fillRect/>
          </a:stretch>
        </p:blipFill>
        <p:spPr>
          <a:xfrm>
            <a:off x="5848350" y="7745193"/>
            <a:ext cx="1180495" cy="24190"/>
          </a:xfrm>
          <a:prstGeom prst="rect">
            <a:avLst/>
          </a:prstGeom>
        </p:spPr>
      </p:pic>
      <p:sp>
        <p:nvSpPr>
          <p:cNvPr id="50" name="TextBox 50"/>
          <p:cNvSpPr txBox="1"/>
          <p:nvPr/>
        </p:nvSpPr>
        <p:spPr>
          <a:xfrm>
            <a:off x="2249714" y="10254341"/>
            <a:ext cx="20078095" cy="1915886"/>
          </a:xfrm>
          <a:prstGeom prst="rect">
            <a:avLst/>
          </a:prstGeom>
        </p:spPr>
        <p:txBody>
          <a:bodyPr wrap="square" lIns="0" tIns="0" rIns="0" bIns="0" rtlCol="0" anchor="ctr"/>
          <a:lstStyle/>
          <a:p>
            <a:r>
              <a:rPr lang="en-US" sz="2800" b="1" dirty="0">
                <a:solidFill>
                  <a:schemeClr val="accent6">
                    <a:lumMod val="75000"/>
                  </a:schemeClr>
                </a:solidFill>
                <a:latin typeface="Arial" panose="020B0604020202020204" pitchFamily="34" charset="0"/>
                <a:cs typeface="Arial" panose="020B0604020202020204" pitchFamily="34" charset="0"/>
              </a:rPr>
              <a:t>Key Takeaway:</a:t>
            </a:r>
          </a:p>
          <a:p>
            <a:r>
              <a:rPr lang="en-US" sz="2800" dirty="0">
                <a:latin typeface="Arial" panose="020B0604020202020204" pitchFamily="34" charset="0"/>
                <a:cs typeface="Arial" panose="020B0604020202020204" pitchFamily="34" charset="0"/>
              </a:rPr>
              <a:t> DG-</a:t>
            </a:r>
            <a:r>
              <a:rPr lang="en-US" sz="2800" dirty="0" err="1">
                <a:latin typeface="Arial" panose="020B0604020202020204" pitchFamily="34" charset="0"/>
                <a:cs typeface="Arial" panose="020B0604020202020204" pitchFamily="34" charset="0"/>
              </a:rPr>
              <a:t>SSOFNet</a:t>
            </a:r>
            <a:r>
              <a:rPr lang="en-US" sz="2800" dirty="0">
                <a:latin typeface="Arial" panose="020B0604020202020204" pitchFamily="34" charset="0"/>
                <a:cs typeface="Arial" panose="020B0604020202020204" pitchFamily="34" charset="0"/>
              </a:rPr>
              <a:t> achieves highest overall performance (0.9710 Macro F1, 97.11% accuracy, 0.9422 MCC).</a:t>
            </a:r>
          </a:p>
        </p:txBody>
      </p:sp>
      <p:sp>
        <p:nvSpPr>
          <p:cNvPr id="51" name="TextBox 51"/>
          <p:cNvSpPr txBox="1"/>
          <p:nvPr/>
        </p:nvSpPr>
        <p:spPr>
          <a:xfrm>
            <a:off x="1693333" y="403078"/>
            <a:ext cx="16691429" cy="1950357"/>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Playfair Display"/>
              </a:rPr>
              <a:t> </a:t>
            </a:r>
          </a:p>
          <a:p>
            <a:pPr marL="0" algn="l" fontAlgn="base">
              <a:lnSpc>
                <a:spcPct val="100000"/>
              </a:lnSpc>
              <a:spcBef>
                <a:spcPct val="0"/>
              </a:spcBef>
              <a:spcAft>
                <a:spcPct val="0"/>
              </a:spcAft>
            </a:pPr>
            <a:r>
              <a:rPr lang="en-US" sz="5443" b="1" i="0" u="none" strike="noStrike" spc="-76" dirty="0">
                <a:solidFill>
                  <a:srgbClr val="111111"/>
                </a:solidFill>
                <a:latin typeface="Embedded Playfair Display"/>
              </a:rPr>
              <a:t>Results: Main Model Performance Compariso</a:t>
            </a:r>
            <a:r>
              <a:rPr lang="en-US" sz="5443" b="1" i="0" u="none" strike="noStrike" dirty="0">
                <a:solidFill>
                  <a:srgbClr val="111111"/>
                </a:solidFill>
                <a:latin typeface="Embedded Playfair Display"/>
              </a:rPr>
              <a:t>n</a:t>
            </a:r>
          </a:p>
          <a:p>
            <a:pPr marL="0" algn="l">
              <a:lnSpc>
                <a:spcPct val="110000"/>
              </a:lnSpc>
              <a:spcBef>
                <a:spcPct val="0"/>
              </a:spcBef>
              <a:spcAft>
                <a:spcPct val="0"/>
              </a:spcAft>
            </a:pPr>
            <a:r>
              <a:rPr lang="en-US" sz="100" dirty="0">
                <a:latin typeface="Embedded Playfair Display"/>
              </a:rPr>
              <a:t> </a:t>
            </a:r>
          </a:p>
        </p:txBody>
      </p:sp>
      <p:pic>
        <p:nvPicPr>
          <p:cNvPr id="88" name="Picture 88"/>
          <p:cNvPicPr>
            <a:picLocks noChangeAspect="1"/>
          </p:cNvPicPr>
          <p:nvPr/>
        </p:nvPicPr>
        <p:blipFill>
          <a:blip r:embed="rId14"/>
          <a:stretch>
            <a:fillRect/>
          </a:stretch>
        </p:blipFill>
        <p:spPr>
          <a:xfrm>
            <a:off x="22206856" y="-1270000"/>
            <a:ext cx="3193143" cy="3193143"/>
          </a:xfrm>
          <a:prstGeom prst="rect">
            <a:avLst/>
          </a:prstGeom>
        </p:spPr>
      </p:pic>
      <p:sp>
        <p:nvSpPr>
          <p:cNvPr id="89" name="TextBox 89"/>
          <p:cNvSpPr txBox="1"/>
          <p:nvPr/>
        </p:nvSpPr>
        <p:spPr>
          <a:xfrm>
            <a:off x="23165404" y="616857"/>
            <a:ext cx="344261"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777" b="0" i="0" u="none" strike="noStrike" dirty="0">
                <a:solidFill>
                  <a:srgbClr val="F2F0EC"/>
                </a:solidFill>
                <a:latin typeface="Embedded Inter"/>
              </a:rPr>
              <a:t>10</a:t>
            </a:r>
          </a:p>
          <a:p>
            <a:pPr marL="0" algn="l">
              <a:lnSpc>
                <a:spcPct val="110000"/>
              </a:lnSpc>
              <a:spcBef>
                <a:spcPct val="0"/>
              </a:spcBef>
              <a:spcAft>
                <a:spcPct val="0"/>
              </a:spcAft>
            </a:pPr>
            <a:r>
              <a:rPr lang="en-US" sz="100" dirty="0">
                <a:latin typeface="Embedded Inter"/>
              </a:rPr>
              <a:t> </a:t>
            </a:r>
          </a:p>
        </p:txBody>
      </p:sp>
      <p:graphicFrame>
        <p:nvGraphicFramePr>
          <p:cNvPr id="98" name="Table 97">
            <a:extLst>
              <a:ext uri="{FF2B5EF4-FFF2-40B4-BE49-F238E27FC236}">
                <a16:creationId xmlns:a16="http://schemas.microsoft.com/office/drawing/2014/main" id="{AA4E7281-389F-A3B4-C18D-9457B66345A2}"/>
              </a:ext>
            </a:extLst>
          </p:cNvPr>
          <p:cNvGraphicFramePr>
            <a:graphicFrameLocks noGrp="1"/>
          </p:cNvGraphicFramePr>
          <p:nvPr>
            <p:extLst>
              <p:ext uri="{D42A27DB-BD31-4B8C-83A1-F6EECF244321}">
                <p14:modId xmlns:p14="http://schemas.microsoft.com/office/powerpoint/2010/main" val="4240040545"/>
              </p:ext>
            </p:extLst>
          </p:nvPr>
        </p:nvGraphicFramePr>
        <p:xfrm>
          <a:off x="1886857" y="2111341"/>
          <a:ext cx="11253763" cy="7760598"/>
        </p:xfrm>
        <a:graphic>
          <a:graphicData uri="http://schemas.openxmlformats.org/drawingml/2006/table">
            <a:tbl>
              <a:tblPr>
                <a:tableStyleId>{5C22544A-7EE6-4342-B048-85BDC9FD1C3A}</a:tableStyleId>
              </a:tblPr>
              <a:tblGrid>
                <a:gridCol w="3089669">
                  <a:extLst>
                    <a:ext uri="{9D8B030D-6E8A-4147-A177-3AD203B41FA5}">
                      <a16:colId xmlns:a16="http://schemas.microsoft.com/office/drawing/2014/main" val="1852004061"/>
                    </a:ext>
                  </a:extLst>
                </a:gridCol>
                <a:gridCol w="2434905">
                  <a:extLst>
                    <a:ext uri="{9D8B030D-6E8A-4147-A177-3AD203B41FA5}">
                      <a16:colId xmlns:a16="http://schemas.microsoft.com/office/drawing/2014/main" val="3218761116"/>
                    </a:ext>
                  </a:extLst>
                </a:gridCol>
                <a:gridCol w="2209829">
                  <a:extLst>
                    <a:ext uri="{9D8B030D-6E8A-4147-A177-3AD203B41FA5}">
                      <a16:colId xmlns:a16="http://schemas.microsoft.com/office/drawing/2014/main" val="2899841721"/>
                    </a:ext>
                  </a:extLst>
                </a:gridCol>
                <a:gridCol w="1759680">
                  <a:extLst>
                    <a:ext uri="{9D8B030D-6E8A-4147-A177-3AD203B41FA5}">
                      <a16:colId xmlns:a16="http://schemas.microsoft.com/office/drawing/2014/main" val="1299892820"/>
                    </a:ext>
                  </a:extLst>
                </a:gridCol>
                <a:gridCol w="1759680">
                  <a:extLst>
                    <a:ext uri="{9D8B030D-6E8A-4147-A177-3AD203B41FA5}">
                      <a16:colId xmlns:a16="http://schemas.microsoft.com/office/drawing/2014/main" val="3495733592"/>
                    </a:ext>
                  </a:extLst>
                </a:gridCol>
              </a:tblGrid>
              <a:tr h="1176063">
                <a:tc>
                  <a:txBody>
                    <a:bodyPr/>
                    <a:lstStyle/>
                    <a:p>
                      <a:pPr algn="ctr" fontAlgn="ctr">
                        <a:buNone/>
                      </a:pPr>
                      <a:r>
                        <a:rPr lang="en-US" sz="3200" b="1" u="none" strike="noStrike" dirty="0">
                          <a:effectLst/>
                          <a:latin typeface="Arial" panose="020B0604020202020204" pitchFamily="34" charset="0"/>
                          <a:cs typeface="Arial" panose="020B0604020202020204" pitchFamily="34" charset="0"/>
                        </a:rPr>
                        <a:t>Model Architecture</a:t>
                      </a:r>
                      <a:endParaRPr lang="en-US" sz="32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5">
                        <a:lumMod val="60000"/>
                        <a:lumOff val="40000"/>
                      </a:schemeClr>
                    </a:solidFill>
                  </a:tcPr>
                </a:tc>
                <a:tc>
                  <a:txBody>
                    <a:bodyPr/>
                    <a:lstStyle/>
                    <a:p>
                      <a:pPr algn="ctr" fontAlgn="ctr">
                        <a:buNone/>
                      </a:pPr>
                      <a:r>
                        <a:rPr lang="en-US" sz="3200" b="1" u="none" strike="noStrike" dirty="0">
                          <a:effectLst/>
                          <a:latin typeface="Arial" panose="020B0604020202020204" pitchFamily="34" charset="0"/>
                          <a:cs typeface="Arial" panose="020B0604020202020204" pitchFamily="34" charset="0"/>
                        </a:rPr>
                        <a:t>Test Macro F1</a:t>
                      </a:r>
                      <a:endParaRPr lang="en-US" sz="32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5">
                        <a:lumMod val="60000"/>
                        <a:lumOff val="40000"/>
                      </a:schemeClr>
                    </a:solidFill>
                  </a:tcPr>
                </a:tc>
                <a:tc>
                  <a:txBody>
                    <a:bodyPr/>
                    <a:lstStyle/>
                    <a:p>
                      <a:pPr algn="ctr" fontAlgn="ctr">
                        <a:buNone/>
                      </a:pPr>
                      <a:r>
                        <a:rPr lang="en-US" sz="3200" b="1" u="none" strike="noStrike" dirty="0">
                          <a:effectLst/>
                          <a:latin typeface="Arial" panose="020B0604020202020204" pitchFamily="34" charset="0"/>
                          <a:cs typeface="Arial" panose="020B0604020202020204" pitchFamily="34" charset="0"/>
                        </a:rPr>
                        <a:t>Accuracy (%)</a:t>
                      </a:r>
                      <a:endParaRPr lang="en-US" sz="32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5">
                        <a:lumMod val="60000"/>
                        <a:lumOff val="40000"/>
                      </a:schemeClr>
                    </a:solidFill>
                  </a:tcPr>
                </a:tc>
                <a:tc>
                  <a:txBody>
                    <a:bodyPr/>
                    <a:lstStyle/>
                    <a:p>
                      <a:pPr algn="ctr" fontAlgn="ctr">
                        <a:buNone/>
                      </a:pPr>
                      <a:r>
                        <a:rPr lang="en-US" sz="3200" b="1" u="none" strike="noStrike" dirty="0">
                          <a:effectLst/>
                          <a:latin typeface="Arial" panose="020B0604020202020204" pitchFamily="34" charset="0"/>
                          <a:cs typeface="Arial" panose="020B0604020202020204" pitchFamily="34" charset="0"/>
                        </a:rPr>
                        <a:t>MCC</a:t>
                      </a:r>
                      <a:endParaRPr lang="en-US" sz="32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5">
                        <a:lumMod val="60000"/>
                        <a:lumOff val="40000"/>
                      </a:schemeClr>
                    </a:solidFill>
                  </a:tcPr>
                </a:tc>
                <a:tc>
                  <a:txBody>
                    <a:bodyPr/>
                    <a:lstStyle/>
                    <a:p>
                      <a:pPr algn="ctr" fontAlgn="ctr">
                        <a:buNone/>
                      </a:pPr>
                      <a:r>
                        <a:rPr lang="en-US" sz="3200" b="1" u="none" strike="noStrike" dirty="0">
                          <a:effectLst/>
                          <a:latin typeface="Arial" panose="020B0604020202020204" pitchFamily="34" charset="0"/>
                          <a:cs typeface="Arial" panose="020B0604020202020204" pitchFamily="34" charset="0"/>
                        </a:rPr>
                        <a:t>ROC AUC</a:t>
                      </a:r>
                      <a:endParaRPr lang="en-US" sz="3200" b="1" i="0" u="none" strike="noStrike" dirty="0">
                        <a:solidFill>
                          <a:srgbClr val="FFFFFF"/>
                        </a:solidFill>
                        <a:effectLst/>
                        <a:latin typeface="Arial" panose="020B0604020202020204" pitchFamily="34" charset="0"/>
                        <a:cs typeface="Arial" panose="020B0604020202020204" pitchFamily="34" charset="0"/>
                      </a:endParaRPr>
                    </a:p>
                  </a:txBody>
                  <a:tcPr marL="7620" marR="7620" marT="7620" marB="0" anchor="ctr">
                    <a:solidFill>
                      <a:schemeClr val="accent5">
                        <a:lumMod val="60000"/>
                        <a:lumOff val="40000"/>
                      </a:schemeClr>
                    </a:solidFill>
                  </a:tcPr>
                </a:tc>
                <a:extLst>
                  <a:ext uri="{0D108BD9-81ED-4DB2-BD59-A6C34878D82A}">
                    <a16:rowId xmlns:a16="http://schemas.microsoft.com/office/drawing/2014/main" val="99813664"/>
                  </a:ext>
                </a:extLst>
              </a:tr>
              <a:tr h="1316907">
                <a:tc>
                  <a:txBody>
                    <a:bodyPr/>
                    <a:lstStyle/>
                    <a:p>
                      <a:pPr algn="ctr" fontAlgn="ctr">
                        <a:buNone/>
                      </a:pPr>
                      <a:r>
                        <a:rPr lang="en-US" sz="2800" u="none" strike="noStrike">
                          <a:effectLst/>
                          <a:latin typeface="Arial" panose="020B0604020202020204" pitchFamily="34" charset="0"/>
                          <a:cs typeface="Arial" panose="020B0604020202020204" pitchFamily="34" charset="0"/>
                        </a:rPr>
                        <a:t>TF-IDF + SVM</a:t>
                      </a:r>
                      <a:endParaRPr lang="en-US" sz="2800" b="1" i="0" u="none" strike="noStrike">
                        <a:solidFill>
                          <a:srgbClr val="1E3A8A"/>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0.9382 ± 0.0000</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93.85 ± 0.00%</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0.8769</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0.9810</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729014557"/>
                  </a:ext>
                </a:extLst>
              </a:tr>
              <a:tr h="1316907">
                <a:tc>
                  <a:txBody>
                    <a:bodyPr/>
                    <a:lstStyle/>
                    <a:p>
                      <a:pPr algn="ctr" fontAlgn="ctr">
                        <a:buNone/>
                      </a:pPr>
                      <a:r>
                        <a:rPr lang="en-US" sz="2800" u="none" strike="noStrike">
                          <a:effectLst/>
                          <a:latin typeface="Arial" panose="020B0604020202020204" pitchFamily="34" charset="0"/>
                          <a:cs typeface="Arial" panose="020B0604020202020204" pitchFamily="34" charset="0"/>
                        </a:rPr>
                        <a:t>TextCNN</a:t>
                      </a:r>
                      <a:endParaRPr lang="en-US" sz="2800" b="1" i="0" u="none" strike="noStrike">
                        <a:solidFill>
                          <a:srgbClr val="1E3A8A"/>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0.9192 ± 0.0014</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91.98 ± 0.19%</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0.8408</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0.9684</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783111609"/>
                  </a:ext>
                </a:extLst>
              </a:tr>
              <a:tr h="1316907">
                <a:tc>
                  <a:txBody>
                    <a:bodyPr/>
                    <a:lstStyle/>
                    <a:p>
                      <a:pPr algn="ctr" fontAlgn="ctr">
                        <a:buNone/>
                      </a:pPr>
                      <a:r>
                        <a:rPr lang="en-US" sz="2800" u="none" strike="noStrike">
                          <a:effectLst/>
                          <a:latin typeface="Arial" panose="020B0604020202020204" pitchFamily="34" charset="0"/>
                          <a:cs typeface="Arial" panose="020B0604020202020204" pitchFamily="34" charset="0"/>
                        </a:rPr>
                        <a:t>CNN-BiGRU</a:t>
                      </a:r>
                      <a:endParaRPr lang="en-US" sz="2800" b="1" i="0" u="none" strike="noStrike">
                        <a:solidFill>
                          <a:srgbClr val="1E3A8A"/>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0.9198 ± 0.0023</a:t>
                      </a:r>
                      <a:endParaRPr lang="en-US" sz="2800" b="0" i="0" u="none" strike="noStrike" dirty="0">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92.05 ± 0.28%</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0.8420</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0.9691</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523137668"/>
                  </a:ext>
                </a:extLst>
              </a:tr>
              <a:tr h="1316907">
                <a:tc>
                  <a:txBody>
                    <a:bodyPr/>
                    <a:lstStyle/>
                    <a:p>
                      <a:pPr algn="ctr" fontAlgn="ctr">
                        <a:buNone/>
                      </a:pPr>
                      <a:r>
                        <a:rPr lang="en-US" sz="2800" u="none" strike="noStrike">
                          <a:effectLst/>
                          <a:latin typeface="Arial" panose="020B0604020202020204" pitchFamily="34" charset="0"/>
                          <a:cs typeface="Arial" panose="020B0604020202020204" pitchFamily="34" charset="0"/>
                        </a:rPr>
                        <a:t>BanglaBERT</a:t>
                      </a:r>
                      <a:endParaRPr lang="en-US" sz="2800" b="1" i="0" u="none" strike="noStrike">
                        <a:solidFill>
                          <a:srgbClr val="1E3A8A"/>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0.9696 ± 0.0008</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96.98 ± 0.12%</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0.9397</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tc>
                  <a:txBody>
                    <a:bodyPr/>
                    <a:lstStyle/>
                    <a:p>
                      <a:pPr algn="ctr" fontAlgn="ctr">
                        <a:buNone/>
                      </a:pPr>
                      <a:r>
                        <a:rPr lang="en-US" sz="2800" u="none" strike="noStrike">
                          <a:effectLst/>
                          <a:latin typeface="Arial" panose="020B0604020202020204" pitchFamily="34" charset="0"/>
                          <a:cs typeface="Arial" panose="020B0604020202020204" pitchFamily="34" charset="0"/>
                        </a:rPr>
                        <a:t>0.9910</a:t>
                      </a:r>
                      <a:endParaRPr lang="en-US" sz="2800" b="0" i="0" u="none" strike="noStrike">
                        <a:solidFill>
                          <a:srgbClr val="1E293B"/>
                        </a:solidFill>
                        <a:effectLst/>
                        <a:latin typeface="Arial" panose="020B0604020202020204" pitchFamily="34" charset="0"/>
                        <a:cs typeface="Arial" panose="020B0604020202020204" pitchFamily="34" charset="0"/>
                      </a:endParaRPr>
                    </a:p>
                  </a:txBody>
                  <a:tcPr marL="7620" marR="7620" marT="7620" marB="0" anchor="ctr"/>
                </a:tc>
                <a:extLst>
                  <a:ext uri="{0D108BD9-81ED-4DB2-BD59-A6C34878D82A}">
                    <a16:rowId xmlns:a16="http://schemas.microsoft.com/office/drawing/2014/main" val="2931345447"/>
                  </a:ext>
                </a:extLst>
              </a:tr>
              <a:tr h="1316907">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DG-</a:t>
                      </a:r>
                      <a:r>
                        <a:rPr lang="en-US" sz="2800" u="none" strike="noStrike" dirty="0" err="1">
                          <a:effectLst/>
                          <a:latin typeface="Arial" panose="020B0604020202020204" pitchFamily="34" charset="0"/>
                          <a:cs typeface="Arial" panose="020B0604020202020204" pitchFamily="34" charset="0"/>
                        </a:rPr>
                        <a:t>SSOFNet</a:t>
                      </a:r>
                      <a:r>
                        <a:rPr lang="en-US" sz="2800" u="none" strike="noStrike" dirty="0">
                          <a:effectLst/>
                          <a:latin typeface="Arial" panose="020B0604020202020204" pitchFamily="34" charset="0"/>
                          <a:cs typeface="Arial" panose="020B0604020202020204" pitchFamily="34" charset="0"/>
                        </a:rPr>
                        <a:t> (Proposed)</a:t>
                      </a:r>
                      <a:endParaRPr lang="en-US" sz="2800" b="1" i="0" u="none" strike="noStrike" dirty="0">
                        <a:solidFill>
                          <a:srgbClr val="6D28D9"/>
                        </a:solidFill>
                        <a:effectLst/>
                        <a:latin typeface="Arial" panose="020B0604020202020204" pitchFamily="34" charset="0"/>
                        <a:cs typeface="Arial" panose="020B0604020202020204" pitchFamily="34" charset="0"/>
                      </a:endParaRPr>
                    </a:p>
                  </a:txBody>
                  <a:tcPr marL="7620" marR="7620" marT="7620" marB="0" anchor="ctr">
                    <a:solidFill>
                      <a:schemeClr val="accent2">
                        <a:lumMod val="40000"/>
                        <a:lumOff val="60000"/>
                      </a:schemeClr>
                    </a:solidFill>
                  </a:tcP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0.9710 ± 0.0018</a:t>
                      </a:r>
                      <a:endParaRPr lang="en-US" sz="2800" b="1" i="0" u="none" strike="noStrike" dirty="0">
                        <a:solidFill>
                          <a:srgbClr val="6D28D9"/>
                        </a:solidFill>
                        <a:effectLst/>
                        <a:latin typeface="Arial" panose="020B0604020202020204" pitchFamily="34" charset="0"/>
                        <a:cs typeface="Arial" panose="020B0604020202020204" pitchFamily="34" charset="0"/>
                      </a:endParaRPr>
                    </a:p>
                  </a:txBody>
                  <a:tcPr marL="7620" marR="7620" marT="7620" marB="0" anchor="ctr">
                    <a:solidFill>
                      <a:schemeClr val="accent2">
                        <a:lumMod val="40000"/>
                        <a:lumOff val="60000"/>
                      </a:schemeClr>
                    </a:solidFill>
                  </a:tcP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97.11 ± 0.21%</a:t>
                      </a:r>
                      <a:endParaRPr lang="en-US" sz="2800" b="1" i="0" u="none" strike="noStrike" dirty="0">
                        <a:solidFill>
                          <a:srgbClr val="6D28D9"/>
                        </a:solidFill>
                        <a:effectLst/>
                        <a:latin typeface="Arial" panose="020B0604020202020204" pitchFamily="34" charset="0"/>
                        <a:cs typeface="Arial" panose="020B0604020202020204" pitchFamily="34" charset="0"/>
                      </a:endParaRPr>
                    </a:p>
                  </a:txBody>
                  <a:tcPr marL="7620" marR="7620" marT="7620" marB="0" anchor="ctr">
                    <a:solidFill>
                      <a:schemeClr val="accent2">
                        <a:lumMod val="40000"/>
                        <a:lumOff val="60000"/>
                      </a:schemeClr>
                    </a:solidFill>
                  </a:tcP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0.9422</a:t>
                      </a:r>
                      <a:endParaRPr lang="en-US" sz="2800" b="1" i="0" u="none" strike="noStrike" dirty="0">
                        <a:solidFill>
                          <a:srgbClr val="6D28D9"/>
                        </a:solidFill>
                        <a:effectLst/>
                        <a:latin typeface="Arial" panose="020B0604020202020204" pitchFamily="34" charset="0"/>
                        <a:cs typeface="Arial" panose="020B0604020202020204" pitchFamily="34" charset="0"/>
                      </a:endParaRPr>
                    </a:p>
                  </a:txBody>
                  <a:tcPr marL="7620" marR="7620" marT="7620" marB="0" anchor="ctr">
                    <a:solidFill>
                      <a:schemeClr val="accent2">
                        <a:lumMod val="40000"/>
                        <a:lumOff val="60000"/>
                      </a:schemeClr>
                    </a:solidFill>
                  </a:tcPr>
                </a:tc>
                <a:tc>
                  <a:txBody>
                    <a:bodyPr/>
                    <a:lstStyle/>
                    <a:p>
                      <a:pPr algn="ctr" fontAlgn="ctr">
                        <a:buNone/>
                      </a:pPr>
                      <a:r>
                        <a:rPr lang="en-US" sz="2800" u="none" strike="noStrike" dirty="0">
                          <a:effectLst/>
                          <a:latin typeface="Arial" panose="020B0604020202020204" pitchFamily="34" charset="0"/>
                          <a:cs typeface="Arial" panose="020B0604020202020204" pitchFamily="34" charset="0"/>
                        </a:rPr>
                        <a:t>0.9927</a:t>
                      </a:r>
                      <a:endParaRPr lang="en-US" sz="2800" b="1" i="0" u="none" strike="noStrike" dirty="0">
                        <a:solidFill>
                          <a:srgbClr val="6D28D9"/>
                        </a:solidFill>
                        <a:effectLst/>
                        <a:latin typeface="Arial" panose="020B0604020202020204" pitchFamily="34" charset="0"/>
                        <a:cs typeface="Arial" panose="020B0604020202020204" pitchFamily="34" charset="0"/>
                      </a:endParaRPr>
                    </a:p>
                  </a:txBody>
                  <a:tcPr marL="7620" marR="7620" marT="7620" marB="0" anchor="ctr">
                    <a:solidFill>
                      <a:schemeClr val="accent2">
                        <a:lumMod val="40000"/>
                        <a:lumOff val="60000"/>
                      </a:schemeClr>
                    </a:solidFill>
                  </a:tcPr>
                </a:tc>
                <a:extLst>
                  <a:ext uri="{0D108BD9-81ED-4DB2-BD59-A6C34878D82A}">
                    <a16:rowId xmlns:a16="http://schemas.microsoft.com/office/drawing/2014/main" val="826229193"/>
                  </a:ext>
                </a:extLst>
              </a:tr>
            </a:tbl>
          </a:graphicData>
        </a:graphic>
      </p:graphicFrame>
      <p:pic>
        <p:nvPicPr>
          <p:cNvPr id="100" name="Picture 99">
            <a:extLst>
              <a:ext uri="{FF2B5EF4-FFF2-40B4-BE49-F238E27FC236}">
                <a16:creationId xmlns:a16="http://schemas.microsoft.com/office/drawing/2014/main" id="{256F58F0-EE75-62BA-F787-11910E82275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3334144" y="2111341"/>
            <a:ext cx="10175521" cy="787888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81000"/>
            <a:ext cx="23222857" cy="13062857"/>
          </a:xfrm>
          <a:prstGeom prst="rect">
            <a:avLst/>
          </a:prstGeom>
        </p:spPr>
      </p:pic>
      <p:pic>
        <p:nvPicPr>
          <p:cNvPr id="6" name="Picture 6"/>
          <p:cNvPicPr>
            <a:picLocks noChangeAspect="1"/>
          </p:cNvPicPr>
          <p:nvPr/>
        </p:nvPicPr>
        <p:blipFill>
          <a:blip r:embed="rId7"/>
          <a:stretch>
            <a:fillRect/>
          </a:stretch>
        </p:blipFill>
        <p:spPr>
          <a:xfrm>
            <a:off x="1693333" y="3834190"/>
            <a:ext cx="20948952" cy="700919"/>
          </a:xfrm>
          <a:prstGeom prst="rect">
            <a:avLst/>
          </a:prstGeom>
        </p:spPr>
      </p:pic>
      <p:pic>
        <p:nvPicPr>
          <p:cNvPr id="7" name="Picture 7"/>
          <p:cNvPicPr>
            <a:picLocks noChangeAspect="1"/>
          </p:cNvPicPr>
          <p:nvPr/>
        </p:nvPicPr>
        <p:blipFill>
          <a:blip r:embed="rId8"/>
          <a:stretch>
            <a:fillRect/>
          </a:stretch>
        </p:blipFill>
        <p:spPr>
          <a:xfrm>
            <a:off x="1693334" y="3834190"/>
            <a:ext cx="8098972" cy="700919"/>
          </a:xfrm>
          <a:prstGeom prst="rect">
            <a:avLst/>
          </a:prstGeom>
        </p:spPr>
      </p:pic>
      <p:pic>
        <p:nvPicPr>
          <p:cNvPr id="8" name="Picture 8"/>
          <p:cNvPicPr>
            <a:picLocks noChangeAspect="1"/>
          </p:cNvPicPr>
          <p:nvPr/>
        </p:nvPicPr>
        <p:blipFill>
          <a:blip r:embed="rId9"/>
          <a:stretch>
            <a:fillRect/>
          </a:stretch>
        </p:blipFill>
        <p:spPr>
          <a:xfrm>
            <a:off x="18269857" y="3834190"/>
            <a:ext cx="4372428" cy="700919"/>
          </a:xfrm>
          <a:prstGeom prst="rect">
            <a:avLst/>
          </a:prstGeom>
        </p:spPr>
      </p:pic>
      <p:pic>
        <p:nvPicPr>
          <p:cNvPr id="9" name="Picture 9"/>
          <p:cNvPicPr>
            <a:picLocks noChangeAspect="1"/>
          </p:cNvPicPr>
          <p:nvPr/>
        </p:nvPicPr>
        <p:blipFill>
          <a:blip r:embed="rId10"/>
          <a:stretch>
            <a:fillRect/>
          </a:stretch>
        </p:blipFill>
        <p:spPr>
          <a:xfrm>
            <a:off x="9792305" y="3834190"/>
            <a:ext cx="3367919" cy="700919"/>
          </a:xfrm>
          <a:prstGeom prst="rect">
            <a:avLst/>
          </a:prstGeom>
        </p:spPr>
      </p:pic>
      <p:pic>
        <p:nvPicPr>
          <p:cNvPr id="10" name="Picture 10"/>
          <p:cNvPicPr>
            <a:picLocks noChangeAspect="1"/>
          </p:cNvPicPr>
          <p:nvPr/>
        </p:nvPicPr>
        <p:blipFill>
          <a:blip r:embed="rId11"/>
          <a:stretch>
            <a:fillRect/>
          </a:stretch>
        </p:blipFill>
        <p:spPr>
          <a:xfrm>
            <a:off x="13160224" y="3834190"/>
            <a:ext cx="3296860" cy="700919"/>
          </a:xfrm>
          <a:prstGeom prst="rect">
            <a:avLst/>
          </a:prstGeom>
        </p:spPr>
      </p:pic>
      <p:pic>
        <p:nvPicPr>
          <p:cNvPr id="11" name="Picture 11"/>
          <p:cNvPicPr>
            <a:picLocks noChangeAspect="1"/>
          </p:cNvPicPr>
          <p:nvPr/>
        </p:nvPicPr>
        <p:blipFill>
          <a:blip r:embed="rId12"/>
          <a:stretch>
            <a:fillRect/>
          </a:stretch>
        </p:blipFill>
        <p:spPr>
          <a:xfrm>
            <a:off x="16457083" y="3834190"/>
            <a:ext cx="1812774" cy="700919"/>
          </a:xfrm>
          <a:prstGeom prst="rect">
            <a:avLst/>
          </a:prstGeom>
        </p:spPr>
      </p:pic>
      <p:pic>
        <p:nvPicPr>
          <p:cNvPr id="12" name="Picture 12"/>
          <p:cNvPicPr>
            <a:picLocks noChangeAspect="1"/>
          </p:cNvPicPr>
          <p:nvPr/>
        </p:nvPicPr>
        <p:blipFill>
          <a:blip r:embed="rId13"/>
          <a:stretch>
            <a:fillRect/>
          </a:stretch>
        </p:blipFill>
        <p:spPr>
          <a:xfrm>
            <a:off x="1693334" y="5287436"/>
            <a:ext cx="8098972" cy="24190"/>
          </a:xfrm>
          <a:prstGeom prst="rect">
            <a:avLst/>
          </a:prstGeom>
        </p:spPr>
      </p:pic>
      <p:pic>
        <p:nvPicPr>
          <p:cNvPr id="13" name="Picture 13"/>
          <p:cNvPicPr>
            <a:picLocks noChangeAspect="1"/>
          </p:cNvPicPr>
          <p:nvPr/>
        </p:nvPicPr>
        <p:blipFill>
          <a:blip r:embed="rId13"/>
          <a:stretch>
            <a:fillRect/>
          </a:stretch>
        </p:blipFill>
        <p:spPr>
          <a:xfrm>
            <a:off x="1693334" y="6071207"/>
            <a:ext cx="8098972" cy="24190"/>
          </a:xfrm>
          <a:prstGeom prst="rect">
            <a:avLst/>
          </a:prstGeom>
        </p:spPr>
      </p:pic>
      <p:pic>
        <p:nvPicPr>
          <p:cNvPr id="14" name="Picture 14"/>
          <p:cNvPicPr>
            <a:picLocks noChangeAspect="1"/>
          </p:cNvPicPr>
          <p:nvPr/>
        </p:nvPicPr>
        <p:blipFill>
          <a:blip r:embed="rId13"/>
          <a:stretch>
            <a:fillRect/>
          </a:stretch>
        </p:blipFill>
        <p:spPr>
          <a:xfrm>
            <a:off x="1693334" y="6854976"/>
            <a:ext cx="8098972" cy="24190"/>
          </a:xfrm>
          <a:prstGeom prst="rect">
            <a:avLst/>
          </a:prstGeom>
        </p:spPr>
      </p:pic>
      <p:pic>
        <p:nvPicPr>
          <p:cNvPr id="15" name="Picture 15"/>
          <p:cNvPicPr>
            <a:picLocks noChangeAspect="1"/>
          </p:cNvPicPr>
          <p:nvPr/>
        </p:nvPicPr>
        <p:blipFill>
          <a:blip r:embed="rId13"/>
          <a:stretch>
            <a:fillRect/>
          </a:stretch>
        </p:blipFill>
        <p:spPr>
          <a:xfrm>
            <a:off x="1693334" y="7638745"/>
            <a:ext cx="8098972" cy="24190"/>
          </a:xfrm>
          <a:prstGeom prst="rect">
            <a:avLst/>
          </a:prstGeom>
        </p:spPr>
      </p:pic>
      <p:pic>
        <p:nvPicPr>
          <p:cNvPr id="16" name="Picture 16"/>
          <p:cNvPicPr>
            <a:picLocks noChangeAspect="1"/>
          </p:cNvPicPr>
          <p:nvPr/>
        </p:nvPicPr>
        <p:blipFill>
          <a:blip r:embed="rId13"/>
          <a:stretch>
            <a:fillRect/>
          </a:stretch>
        </p:blipFill>
        <p:spPr>
          <a:xfrm>
            <a:off x="1693334" y="8422526"/>
            <a:ext cx="8098972" cy="24190"/>
          </a:xfrm>
          <a:prstGeom prst="rect">
            <a:avLst/>
          </a:prstGeom>
        </p:spPr>
      </p:pic>
      <p:pic>
        <p:nvPicPr>
          <p:cNvPr id="17" name="Picture 17"/>
          <p:cNvPicPr>
            <a:picLocks noChangeAspect="1"/>
          </p:cNvPicPr>
          <p:nvPr/>
        </p:nvPicPr>
        <p:blipFill>
          <a:blip r:embed="rId14"/>
          <a:stretch>
            <a:fillRect/>
          </a:stretch>
        </p:blipFill>
        <p:spPr>
          <a:xfrm>
            <a:off x="18269857" y="5287436"/>
            <a:ext cx="4372428" cy="24190"/>
          </a:xfrm>
          <a:prstGeom prst="rect">
            <a:avLst/>
          </a:prstGeom>
        </p:spPr>
      </p:pic>
      <p:pic>
        <p:nvPicPr>
          <p:cNvPr id="18" name="Picture 18"/>
          <p:cNvPicPr>
            <a:picLocks noChangeAspect="1"/>
          </p:cNvPicPr>
          <p:nvPr/>
        </p:nvPicPr>
        <p:blipFill>
          <a:blip r:embed="rId14"/>
          <a:stretch>
            <a:fillRect/>
          </a:stretch>
        </p:blipFill>
        <p:spPr>
          <a:xfrm>
            <a:off x="18269857" y="6071207"/>
            <a:ext cx="4372428" cy="24190"/>
          </a:xfrm>
          <a:prstGeom prst="rect">
            <a:avLst/>
          </a:prstGeom>
        </p:spPr>
      </p:pic>
      <p:pic>
        <p:nvPicPr>
          <p:cNvPr id="19" name="Picture 19"/>
          <p:cNvPicPr>
            <a:picLocks noChangeAspect="1"/>
          </p:cNvPicPr>
          <p:nvPr/>
        </p:nvPicPr>
        <p:blipFill>
          <a:blip r:embed="rId14"/>
          <a:stretch>
            <a:fillRect/>
          </a:stretch>
        </p:blipFill>
        <p:spPr>
          <a:xfrm>
            <a:off x="18269857" y="6854976"/>
            <a:ext cx="4372428" cy="24190"/>
          </a:xfrm>
          <a:prstGeom prst="rect">
            <a:avLst/>
          </a:prstGeom>
        </p:spPr>
      </p:pic>
      <p:pic>
        <p:nvPicPr>
          <p:cNvPr id="20" name="Picture 20"/>
          <p:cNvPicPr>
            <a:picLocks noChangeAspect="1"/>
          </p:cNvPicPr>
          <p:nvPr/>
        </p:nvPicPr>
        <p:blipFill>
          <a:blip r:embed="rId14"/>
          <a:stretch>
            <a:fillRect/>
          </a:stretch>
        </p:blipFill>
        <p:spPr>
          <a:xfrm>
            <a:off x="18269857" y="7638745"/>
            <a:ext cx="4372428" cy="24190"/>
          </a:xfrm>
          <a:prstGeom prst="rect">
            <a:avLst/>
          </a:prstGeom>
        </p:spPr>
      </p:pic>
      <p:pic>
        <p:nvPicPr>
          <p:cNvPr id="21" name="Picture 21"/>
          <p:cNvPicPr>
            <a:picLocks noChangeAspect="1"/>
          </p:cNvPicPr>
          <p:nvPr/>
        </p:nvPicPr>
        <p:blipFill>
          <a:blip r:embed="rId14"/>
          <a:stretch>
            <a:fillRect/>
          </a:stretch>
        </p:blipFill>
        <p:spPr>
          <a:xfrm>
            <a:off x="18269857" y="8422526"/>
            <a:ext cx="4372428" cy="24190"/>
          </a:xfrm>
          <a:prstGeom prst="rect">
            <a:avLst/>
          </a:prstGeom>
        </p:spPr>
      </p:pic>
      <p:pic>
        <p:nvPicPr>
          <p:cNvPr id="22" name="Picture 22"/>
          <p:cNvPicPr>
            <a:picLocks noChangeAspect="1"/>
          </p:cNvPicPr>
          <p:nvPr/>
        </p:nvPicPr>
        <p:blipFill>
          <a:blip r:embed="rId15"/>
          <a:stretch>
            <a:fillRect/>
          </a:stretch>
        </p:blipFill>
        <p:spPr>
          <a:xfrm>
            <a:off x="9792305" y="5287436"/>
            <a:ext cx="3367919" cy="24190"/>
          </a:xfrm>
          <a:prstGeom prst="rect">
            <a:avLst/>
          </a:prstGeom>
        </p:spPr>
      </p:pic>
      <p:pic>
        <p:nvPicPr>
          <p:cNvPr id="23" name="Picture 23"/>
          <p:cNvPicPr>
            <a:picLocks noChangeAspect="1"/>
          </p:cNvPicPr>
          <p:nvPr/>
        </p:nvPicPr>
        <p:blipFill>
          <a:blip r:embed="rId16"/>
          <a:stretch>
            <a:fillRect/>
          </a:stretch>
        </p:blipFill>
        <p:spPr>
          <a:xfrm>
            <a:off x="13160224" y="5287436"/>
            <a:ext cx="3296860" cy="24190"/>
          </a:xfrm>
          <a:prstGeom prst="rect">
            <a:avLst/>
          </a:prstGeom>
        </p:spPr>
      </p:pic>
      <p:pic>
        <p:nvPicPr>
          <p:cNvPr id="24" name="Picture 24"/>
          <p:cNvPicPr>
            <a:picLocks noChangeAspect="1"/>
          </p:cNvPicPr>
          <p:nvPr/>
        </p:nvPicPr>
        <p:blipFill>
          <a:blip r:embed="rId15"/>
          <a:stretch>
            <a:fillRect/>
          </a:stretch>
        </p:blipFill>
        <p:spPr>
          <a:xfrm>
            <a:off x="9792305" y="6071207"/>
            <a:ext cx="3367919" cy="24190"/>
          </a:xfrm>
          <a:prstGeom prst="rect">
            <a:avLst/>
          </a:prstGeom>
        </p:spPr>
      </p:pic>
      <p:pic>
        <p:nvPicPr>
          <p:cNvPr id="25" name="Picture 25"/>
          <p:cNvPicPr>
            <a:picLocks noChangeAspect="1"/>
          </p:cNvPicPr>
          <p:nvPr/>
        </p:nvPicPr>
        <p:blipFill>
          <a:blip r:embed="rId16"/>
          <a:stretch>
            <a:fillRect/>
          </a:stretch>
        </p:blipFill>
        <p:spPr>
          <a:xfrm>
            <a:off x="13160224" y="6071207"/>
            <a:ext cx="3296860" cy="24190"/>
          </a:xfrm>
          <a:prstGeom prst="rect">
            <a:avLst/>
          </a:prstGeom>
        </p:spPr>
      </p:pic>
      <p:pic>
        <p:nvPicPr>
          <p:cNvPr id="26" name="Picture 26"/>
          <p:cNvPicPr>
            <a:picLocks noChangeAspect="1"/>
          </p:cNvPicPr>
          <p:nvPr/>
        </p:nvPicPr>
        <p:blipFill>
          <a:blip r:embed="rId15"/>
          <a:stretch>
            <a:fillRect/>
          </a:stretch>
        </p:blipFill>
        <p:spPr>
          <a:xfrm>
            <a:off x="9792305" y="6854976"/>
            <a:ext cx="3367919" cy="24190"/>
          </a:xfrm>
          <a:prstGeom prst="rect">
            <a:avLst/>
          </a:prstGeom>
        </p:spPr>
      </p:pic>
      <p:pic>
        <p:nvPicPr>
          <p:cNvPr id="27" name="Picture 27"/>
          <p:cNvPicPr>
            <a:picLocks noChangeAspect="1"/>
          </p:cNvPicPr>
          <p:nvPr/>
        </p:nvPicPr>
        <p:blipFill>
          <a:blip r:embed="rId16"/>
          <a:stretch>
            <a:fillRect/>
          </a:stretch>
        </p:blipFill>
        <p:spPr>
          <a:xfrm>
            <a:off x="13160224" y="6854976"/>
            <a:ext cx="3296860" cy="24190"/>
          </a:xfrm>
          <a:prstGeom prst="rect">
            <a:avLst/>
          </a:prstGeom>
        </p:spPr>
      </p:pic>
      <p:pic>
        <p:nvPicPr>
          <p:cNvPr id="28" name="Picture 28"/>
          <p:cNvPicPr>
            <a:picLocks noChangeAspect="1"/>
          </p:cNvPicPr>
          <p:nvPr/>
        </p:nvPicPr>
        <p:blipFill>
          <a:blip r:embed="rId15"/>
          <a:stretch>
            <a:fillRect/>
          </a:stretch>
        </p:blipFill>
        <p:spPr>
          <a:xfrm>
            <a:off x="9792305" y="7638745"/>
            <a:ext cx="3367919" cy="24190"/>
          </a:xfrm>
          <a:prstGeom prst="rect">
            <a:avLst/>
          </a:prstGeom>
        </p:spPr>
      </p:pic>
      <p:pic>
        <p:nvPicPr>
          <p:cNvPr id="29" name="Picture 29"/>
          <p:cNvPicPr>
            <a:picLocks noChangeAspect="1"/>
          </p:cNvPicPr>
          <p:nvPr/>
        </p:nvPicPr>
        <p:blipFill>
          <a:blip r:embed="rId16"/>
          <a:stretch>
            <a:fillRect/>
          </a:stretch>
        </p:blipFill>
        <p:spPr>
          <a:xfrm>
            <a:off x="13160224" y="7638745"/>
            <a:ext cx="3296860" cy="24190"/>
          </a:xfrm>
          <a:prstGeom prst="rect">
            <a:avLst/>
          </a:prstGeom>
        </p:spPr>
      </p:pic>
      <p:pic>
        <p:nvPicPr>
          <p:cNvPr id="30" name="Picture 30"/>
          <p:cNvPicPr>
            <a:picLocks noChangeAspect="1"/>
          </p:cNvPicPr>
          <p:nvPr/>
        </p:nvPicPr>
        <p:blipFill>
          <a:blip r:embed="rId15"/>
          <a:stretch>
            <a:fillRect/>
          </a:stretch>
        </p:blipFill>
        <p:spPr>
          <a:xfrm>
            <a:off x="9792305" y="8422526"/>
            <a:ext cx="3367919" cy="24190"/>
          </a:xfrm>
          <a:prstGeom prst="rect">
            <a:avLst/>
          </a:prstGeom>
        </p:spPr>
      </p:pic>
      <p:pic>
        <p:nvPicPr>
          <p:cNvPr id="31" name="Picture 31"/>
          <p:cNvPicPr>
            <a:picLocks noChangeAspect="1"/>
          </p:cNvPicPr>
          <p:nvPr/>
        </p:nvPicPr>
        <p:blipFill>
          <a:blip r:embed="rId16"/>
          <a:stretch>
            <a:fillRect/>
          </a:stretch>
        </p:blipFill>
        <p:spPr>
          <a:xfrm>
            <a:off x="13160224" y="8422526"/>
            <a:ext cx="3296860" cy="24190"/>
          </a:xfrm>
          <a:prstGeom prst="rect">
            <a:avLst/>
          </a:prstGeom>
        </p:spPr>
      </p:pic>
      <p:pic>
        <p:nvPicPr>
          <p:cNvPr id="32" name="Picture 32"/>
          <p:cNvPicPr>
            <a:picLocks noChangeAspect="1"/>
          </p:cNvPicPr>
          <p:nvPr/>
        </p:nvPicPr>
        <p:blipFill>
          <a:blip r:embed="rId17"/>
          <a:stretch>
            <a:fillRect/>
          </a:stretch>
        </p:blipFill>
        <p:spPr>
          <a:xfrm>
            <a:off x="16457083" y="5287436"/>
            <a:ext cx="1812774" cy="24190"/>
          </a:xfrm>
          <a:prstGeom prst="rect">
            <a:avLst/>
          </a:prstGeom>
        </p:spPr>
      </p:pic>
      <p:pic>
        <p:nvPicPr>
          <p:cNvPr id="33" name="Picture 33"/>
          <p:cNvPicPr>
            <a:picLocks noChangeAspect="1"/>
          </p:cNvPicPr>
          <p:nvPr/>
        </p:nvPicPr>
        <p:blipFill>
          <a:blip r:embed="rId17"/>
          <a:stretch>
            <a:fillRect/>
          </a:stretch>
        </p:blipFill>
        <p:spPr>
          <a:xfrm>
            <a:off x="16457083" y="6071207"/>
            <a:ext cx="1812774" cy="24190"/>
          </a:xfrm>
          <a:prstGeom prst="rect">
            <a:avLst/>
          </a:prstGeom>
        </p:spPr>
      </p:pic>
      <p:pic>
        <p:nvPicPr>
          <p:cNvPr id="34" name="Picture 34"/>
          <p:cNvPicPr>
            <a:picLocks noChangeAspect="1"/>
          </p:cNvPicPr>
          <p:nvPr/>
        </p:nvPicPr>
        <p:blipFill>
          <a:blip r:embed="rId17"/>
          <a:stretch>
            <a:fillRect/>
          </a:stretch>
        </p:blipFill>
        <p:spPr>
          <a:xfrm>
            <a:off x="16457083" y="6854976"/>
            <a:ext cx="1812774" cy="24190"/>
          </a:xfrm>
          <a:prstGeom prst="rect">
            <a:avLst/>
          </a:prstGeom>
        </p:spPr>
      </p:pic>
      <p:pic>
        <p:nvPicPr>
          <p:cNvPr id="35" name="Picture 35"/>
          <p:cNvPicPr>
            <a:picLocks noChangeAspect="1"/>
          </p:cNvPicPr>
          <p:nvPr/>
        </p:nvPicPr>
        <p:blipFill>
          <a:blip r:embed="rId17"/>
          <a:stretch>
            <a:fillRect/>
          </a:stretch>
        </p:blipFill>
        <p:spPr>
          <a:xfrm>
            <a:off x="16457083" y="7638745"/>
            <a:ext cx="1812774" cy="24190"/>
          </a:xfrm>
          <a:prstGeom prst="rect">
            <a:avLst/>
          </a:prstGeom>
        </p:spPr>
      </p:pic>
      <p:pic>
        <p:nvPicPr>
          <p:cNvPr id="36" name="Picture 36"/>
          <p:cNvPicPr>
            <a:picLocks noChangeAspect="1"/>
          </p:cNvPicPr>
          <p:nvPr/>
        </p:nvPicPr>
        <p:blipFill>
          <a:blip r:embed="rId17"/>
          <a:stretch>
            <a:fillRect/>
          </a:stretch>
        </p:blipFill>
        <p:spPr>
          <a:xfrm>
            <a:off x="16457083" y="8422526"/>
            <a:ext cx="1812774" cy="24190"/>
          </a:xfrm>
          <a:prstGeom prst="rect">
            <a:avLst/>
          </a:prstGeom>
        </p:spPr>
      </p:pic>
      <p:sp>
        <p:nvSpPr>
          <p:cNvPr id="37" name="TextBox 37"/>
          <p:cNvSpPr txBox="1"/>
          <p:nvPr/>
        </p:nvSpPr>
        <p:spPr>
          <a:xfrm>
            <a:off x="1693333" y="2382762"/>
            <a:ext cx="20958629" cy="1502229"/>
          </a:xfrm>
          <a:prstGeom prst="rect">
            <a:avLst/>
          </a:prstGeom>
        </p:spPr>
        <p:txBody>
          <a:bodyPr wrap="squar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5000"/>
              </a:lnSpc>
              <a:spcBef>
                <a:spcPct val="0"/>
              </a:spcBef>
              <a:spcAft>
                <a:spcPct val="3000"/>
              </a:spcAft>
            </a:pPr>
            <a:r>
              <a:rPr lang="en-US" sz="2800" b="1" i="0" u="none" strike="noStrike" dirty="0">
                <a:solidFill>
                  <a:srgbClr val="111111"/>
                </a:solidFill>
                <a:latin typeface="Arial" panose="020B0604020202020204" pitchFamily="34" charset="0"/>
                <a:cs typeface="Arial" panose="020B0604020202020204" pitchFamily="34" charset="0"/>
              </a:rPr>
              <a:t>Smooth Convergence:</a:t>
            </a:r>
            <a:r>
              <a:rPr lang="en-US" sz="2800" b="0" i="0" u="none" strike="noStrike" dirty="0">
                <a:solidFill>
                  <a:srgbClr val="111111"/>
                </a:solidFill>
                <a:latin typeface="Arial" panose="020B0604020202020204" pitchFamily="34" charset="0"/>
                <a:cs typeface="Arial" panose="020B0604020202020204" pitchFamily="34" charset="0"/>
              </a:rPr>
              <a:t> </a:t>
            </a:r>
            <a:r>
              <a:rPr lang="en-US" sz="2599" b="0" i="0" u="none" strike="noStrike" dirty="0">
                <a:solidFill>
                  <a:srgbClr val="111111"/>
                </a:solidFill>
                <a:latin typeface="Arial" panose="020B0604020202020204" pitchFamily="34" charset="0"/>
                <a:cs typeface="Arial" panose="020B0604020202020204" pitchFamily="34" charset="0"/>
              </a:rPr>
              <a:t>DG-</a:t>
            </a:r>
            <a:r>
              <a:rPr lang="en-US" sz="2599" b="0" i="0" u="none" strike="noStrike" dirty="0" err="1">
                <a:solidFill>
                  <a:srgbClr val="111111"/>
                </a:solidFill>
                <a:latin typeface="Arial" panose="020B0604020202020204" pitchFamily="34" charset="0"/>
                <a:cs typeface="Arial" panose="020B0604020202020204" pitchFamily="34" charset="0"/>
              </a:rPr>
              <a:t>SSOFNet</a:t>
            </a:r>
            <a:r>
              <a:rPr lang="en-US" sz="2599" b="0" i="0" u="none" strike="noStrike" dirty="0">
                <a:solidFill>
                  <a:srgbClr val="111111"/>
                </a:solidFill>
                <a:latin typeface="Arial" panose="020B0604020202020204" pitchFamily="34" charset="0"/>
                <a:cs typeface="Arial" panose="020B0604020202020204" pitchFamily="34" charset="0"/>
              </a:rPr>
              <a:t> converges within 5 to 7 epochs with Focal Loss decaying below 0.08, preventing overfitting.</a:t>
            </a:r>
          </a:p>
          <a:p>
            <a:pPr marL="0" algn="l" fontAlgn="base">
              <a:lnSpc>
                <a:spcPct val="105000"/>
              </a:lnSpc>
              <a:spcBef>
                <a:spcPct val="0"/>
              </a:spcBef>
              <a:spcAft>
                <a:spcPct val="3000"/>
              </a:spcAft>
            </a:pPr>
            <a:r>
              <a:rPr lang="en-US" sz="2599" b="0" i="0" u="none" strike="noStrike" dirty="0">
                <a:solidFill>
                  <a:srgbClr val="111111"/>
                </a:solidFill>
                <a:latin typeface="Arial" panose="020B0604020202020204" pitchFamily="34" charset="0"/>
                <a:cs typeface="Arial" panose="020B0604020202020204" pitchFamily="34" charset="0"/>
              </a:rPr>
              <a:t>Supervised Contrastive Loss is the most critical component (-0.0042 drop), followed by cross attention dynamic gating (-0.0039</a:t>
            </a:r>
          </a:p>
          <a:p>
            <a:pPr marL="0" algn="l" fontAlgn="base">
              <a:lnSpc>
                <a:spcPct val="105000"/>
              </a:lnSpc>
              <a:spcBef>
                <a:spcPct val="0"/>
              </a:spcBef>
              <a:spcAft>
                <a:spcPct val="3000"/>
              </a:spcAft>
            </a:pPr>
            <a:r>
              <a:rPr lang="en-US" sz="2599" b="0" i="0" u="none" strike="noStrike" dirty="0">
                <a:solidFill>
                  <a:srgbClr val="111111"/>
                </a:solidFill>
                <a:latin typeface="Arial" panose="020B0604020202020204" pitchFamily="34" charset="0"/>
                <a:cs typeface="Arial" panose="020B0604020202020204" pitchFamily="34" charset="0"/>
              </a:rPr>
              <a:t>drop).</a:t>
            </a:r>
          </a:p>
          <a:p>
            <a:pPr marL="0" algn="l" fontAlgn="base">
              <a:lnSpc>
                <a:spcPct val="105000"/>
              </a:lnSpc>
              <a:spcBef>
                <a:spcPct val="0"/>
              </a:spcBef>
              <a:spcAft>
                <a:spcPct val="3000"/>
              </a:spcAft>
            </a:pPr>
            <a:endParaRPr lang="en-US" sz="2599" dirty="0">
              <a:solidFill>
                <a:srgbClr val="111111"/>
              </a:solidFill>
              <a:latin typeface="Arial" panose="020B0604020202020204" pitchFamily="34" charset="0"/>
              <a:cs typeface="Arial" panose="020B0604020202020204" pitchFamily="34" charset="0"/>
            </a:endParaRPr>
          </a:p>
          <a:p>
            <a:pPr marL="0" algn="l" fontAlgn="base">
              <a:lnSpc>
                <a:spcPct val="105000"/>
              </a:lnSpc>
              <a:spcBef>
                <a:spcPct val="0"/>
              </a:spcBef>
              <a:spcAft>
                <a:spcPct val="3000"/>
              </a:spcAft>
            </a:pPr>
            <a:endParaRPr lang="en-US" sz="2599" b="0" i="0" u="none" strike="noStrike" dirty="0">
              <a:solidFill>
                <a:srgbClr val="111111"/>
              </a:solidFill>
              <a:latin typeface="Arial" panose="020B0604020202020204" pitchFamily="34" charset="0"/>
              <a:cs typeface="Arial" panose="020B0604020202020204" pitchFamily="34" charset="0"/>
            </a:endParaRPr>
          </a:p>
          <a:p>
            <a:pPr marL="0" algn="l">
              <a:lnSpc>
                <a:spcPct val="110000"/>
              </a:lnSpc>
              <a:spcBef>
                <a:spcPct val="0"/>
              </a:spcBef>
              <a:spcAft>
                <a:spcPct val="0"/>
              </a:spcAft>
            </a:pPr>
            <a:r>
              <a:rPr lang="en-US" sz="100" dirty="0">
                <a:latin typeface="Embedded Inter"/>
              </a:rPr>
              <a:t> </a:t>
            </a:r>
          </a:p>
        </p:txBody>
      </p:sp>
      <p:sp>
        <p:nvSpPr>
          <p:cNvPr id="38" name="TextBox 38"/>
          <p:cNvSpPr txBox="1"/>
          <p:nvPr/>
        </p:nvSpPr>
        <p:spPr>
          <a:xfrm>
            <a:off x="1693333" y="1149048"/>
            <a:ext cx="24102424" cy="975179"/>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Playfair Display"/>
              </a:rPr>
              <a:t> </a:t>
            </a:r>
          </a:p>
          <a:p>
            <a:pPr marL="0" algn="l" fontAlgn="base">
              <a:lnSpc>
                <a:spcPct val="100000"/>
              </a:lnSpc>
              <a:spcBef>
                <a:spcPct val="0"/>
              </a:spcBef>
              <a:spcAft>
                <a:spcPct val="0"/>
              </a:spcAft>
            </a:pPr>
            <a:r>
              <a:rPr lang="en-US" sz="5760" b="1" i="0" u="none" strike="noStrike" spc="-80" dirty="0">
                <a:solidFill>
                  <a:srgbClr val="111111"/>
                </a:solidFill>
                <a:latin typeface="Embedded Playfair Display"/>
              </a:rPr>
              <a:t>Results: Training Dynamics and Ablation Analysi</a:t>
            </a:r>
            <a:r>
              <a:rPr lang="en-US" sz="5760" b="1" i="0" u="none" strike="noStrike" dirty="0">
                <a:solidFill>
                  <a:srgbClr val="111111"/>
                </a:solidFill>
                <a:latin typeface="Embedded Playfair Display"/>
              </a:rPr>
              <a:t>s</a:t>
            </a:r>
          </a:p>
          <a:p>
            <a:pPr marL="0" algn="l">
              <a:lnSpc>
                <a:spcPct val="110000"/>
              </a:lnSpc>
              <a:spcBef>
                <a:spcPct val="0"/>
              </a:spcBef>
              <a:spcAft>
                <a:spcPct val="0"/>
              </a:spcAft>
            </a:pPr>
            <a:r>
              <a:rPr lang="en-US" sz="100" dirty="0">
                <a:latin typeface="Embedded Playfair Display"/>
              </a:rPr>
              <a:t> </a:t>
            </a:r>
          </a:p>
        </p:txBody>
      </p:sp>
      <p:sp>
        <p:nvSpPr>
          <p:cNvPr id="39" name="TextBox 39"/>
          <p:cNvSpPr txBox="1"/>
          <p:nvPr/>
        </p:nvSpPr>
        <p:spPr>
          <a:xfrm>
            <a:off x="1693334" y="3834190"/>
            <a:ext cx="9313817" cy="700919"/>
          </a:xfrm>
          <a:prstGeom prst="rect">
            <a:avLst/>
          </a:prstGeom>
        </p:spPr>
        <p:txBody>
          <a:bodyPr wrap="none" lIns="0" tIns="0" rIns="0" bIns="0" rtlCol="0" anchor="ctr"/>
          <a:lstStyle/>
          <a:p>
            <a:pPr marL="0" algn="l">
              <a:lnSpc>
                <a:spcPct val="110000"/>
              </a:lnSpc>
              <a:spcBef>
                <a:spcPct val="0"/>
              </a:spcBef>
              <a:spcAft>
                <a:spcPct val="0"/>
              </a:spcAft>
            </a:pPr>
            <a:r>
              <a:rPr lang="en-US" sz="100">
                <a:latin typeface="Embedded Inter"/>
              </a:rPr>
              <a:t> </a:t>
            </a:r>
          </a:p>
          <a:p>
            <a:pPr marL="0" algn="l" fontAlgn="base">
              <a:lnSpc>
                <a:spcPct val="100000"/>
              </a:lnSpc>
              <a:spcBef>
                <a:spcPct val="0"/>
              </a:spcBef>
              <a:spcAft>
                <a:spcPct val="0"/>
              </a:spcAft>
            </a:pPr>
            <a:r>
              <a:rPr lang="en-US" sz="2095" b="1" i="0" u="none" strike="noStrike" spc="190">
                <a:solidFill>
                  <a:srgbClr val="FFFFFF"/>
                </a:solidFill>
                <a:latin typeface="Embedded Inter"/>
              </a:rPr>
              <a:t>ABLATED ARCHITECTURE VARIAN</a:t>
            </a:r>
            <a:r>
              <a:rPr lang="en-US" sz="2095" b="1" i="0" u="none" strike="noStrike">
                <a:solidFill>
                  <a:srgbClr val="FFFFFF"/>
                </a:solidFill>
                <a:latin typeface="Embedded Inter"/>
              </a:rPr>
              <a:t>T</a:t>
            </a:r>
          </a:p>
          <a:p>
            <a:pPr marL="0" algn="l">
              <a:lnSpc>
                <a:spcPct val="110000"/>
              </a:lnSpc>
              <a:spcBef>
                <a:spcPct val="0"/>
              </a:spcBef>
              <a:spcAft>
                <a:spcPct val="0"/>
              </a:spcAft>
            </a:pPr>
            <a:r>
              <a:rPr lang="en-US" sz="100">
                <a:latin typeface="Embedded Inter"/>
              </a:rPr>
              <a:t> </a:t>
            </a:r>
          </a:p>
        </p:txBody>
      </p:sp>
      <p:sp>
        <p:nvSpPr>
          <p:cNvPr id="40" name="TextBox 40"/>
          <p:cNvSpPr txBox="1"/>
          <p:nvPr/>
        </p:nvSpPr>
        <p:spPr>
          <a:xfrm>
            <a:off x="1693334" y="4535112"/>
            <a:ext cx="9313817" cy="774095"/>
          </a:xfrm>
          <a:prstGeom prst="rect">
            <a:avLst/>
          </a:prstGeom>
        </p:spPr>
        <p:txBody>
          <a:bodyPr wrap="none" lIns="0" tIns="0" rIns="0" bIns="0" rtlCol="0" anchor="ctr"/>
          <a:lstStyle/>
          <a:p>
            <a:pPr marL="0" algn="l">
              <a:lnSpc>
                <a:spcPct val="110000"/>
              </a:lnSpc>
              <a:spcBef>
                <a:spcPct val="0"/>
              </a:spcBef>
              <a:spcAft>
                <a:spcPct val="0"/>
              </a:spcAft>
            </a:pPr>
            <a:r>
              <a:rPr lang="en-US" sz="100">
                <a:latin typeface="Embedded Inter"/>
              </a:rPr>
              <a:t> </a:t>
            </a:r>
          </a:p>
          <a:p>
            <a:pPr marL="0" algn="l" fontAlgn="base">
              <a:lnSpc>
                <a:spcPct val="100000"/>
              </a:lnSpc>
              <a:spcBef>
                <a:spcPct val="0"/>
              </a:spcBef>
              <a:spcAft>
                <a:spcPct val="0"/>
              </a:spcAft>
            </a:pPr>
            <a:r>
              <a:rPr lang="en-US" sz="2476" b="1" i="0" u="none" strike="noStrike">
                <a:solidFill>
                  <a:srgbClr val="111111"/>
                </a:solidFill>
                <a:latin typeface="Embedded Inter"/>
              </a:rPr>
              <a:t>Full Proposed DG-SSOFNet</a:t>
            </a:r>
          </a:p>
          <a:p>
            <a:pPr marL="0" algn="l">
              <a:lnSpc>
                <a:spcPct val="110000"/>
              </a:lnSpc>
              <a:spcBef>
                <a:spcPct val="0"/>
              </a:spcBef>
              <a:spcAft>
                <a:spcPct val="0"/>
              </a:spcAft>
            </a:pPr>
            <a:r>
              <a:rPr lang="en-US" sz="100">
                <a:latin typeface="Embedded Inter"/>
              </a:rPr>
              <a:t> </a:t>
            </a:r>
          </a:p>
        </p:txBody>
      </p:sp>
      <p:sp>
        <p:nvSpPr>
          <p:cNvPr id="41" name="TextBox 41"/>
          <p:cNvSpPr txBox="1"/>
          <p:nvPr/>
        </p:nvSpPr>
        <p:spPr>
          <a:xfrm>
            <a:off x="1693334" y="5309207"/>
            <a:ext cx="9313817" cy="783771"/>
          </a:xfrm>
          <a:prstGeom prst="rect">
            <a:avLst/>
          </a:prstGeom>
        </p:spPr>
        <p:txBody>
          <a:bodyPr wrap="none" lIns="0" tIns="0" rIns="0" bIns="0" rtlCol="0" anchor="ctr"/>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2476" b="0" i="0" u="none" strike="noStrike" dirty="0">
                <a:solidFill>
                  <a:srgbClr val="111111"/>
                </a:solidFill>
                <a:latin typeface="Embedded Inter"/>
              </a:rPr>
              <a:t>Without Syntactic Stream (No POS)</a:t>
            </a:r>
          </a:p>
          <a:p>
            <a:pPr marL="0" algn="l">
              <a:lnSpc>
                <a:spcPct val="110000"/>
              </a:lnSpc>
              <a:spcBef>
                <a:spcPct val="0"/>
              </a:spcBef>
              <a:spcAft>
                <a:spcPct val="0"/>
              </a:spcAft>
            </a:pPr>
            <a:r>
              <a:rPr lang="en-US" sz="100" dirty="0">
                <a:latin typeface="Embedded Inter"/>
              </a:rPr>
              <a:t> </a:t>
            </a:r>
          </a:p>
        </p:txBody>
      </p:sp>
      <p:sp>
        <p:nvSpPr>
          <p:cNvPr id="42" name="TextBox 42"/>
          <p:cNvSpPr txBox="1"/>
          <p:nvPr/>
        </p:nvSpPr>
        <p:spPr>
          <a:xfrm>
            <a:off x="1693334" y="6092976"/>
            <a:ext cx="9313817" cy="783771"/>
          </a:xfrm>
          <a:prstGeom prst="rect">
            <a:avLst/>
          </a:prstGeom>
        </p:spPr>
        <p:txBody>
          <a:bodyPr wrap="none" lIns="0" tIns="0" rIns="0" bIns="0" rtlCol="0" anchor="ctr"/>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2476" b="0" i="0" u="none" strike="noStrike" dirty="0">
                <a:solidFill>
                  <a:srgbClr val="111111"/>
                </a:solidFill>
                <a:latin typeface="Embedded Inter"/>
              </a:rPr>
              <a:t>Without Character Stream (No </a:t>
            </a:r>
            <a:r>
              <a:rPr lang="en-US" sz="2476" b="0" i="0" u="none" strike="noStrike" dirty="0" err="1">
                <a:solidFill>
                  <a:srgbClr val="111111"/>
                </a:solidFill>
                <a:latin typeface="Embedded Inter"/>
              </a:rPr>
              <a:t>CharCNN</a:t>
            </a:r>
            <a:r>
              <a:rPr lang="en-US" sz="2476" b="0" i="0" u="none" strike="noStrike" dirty="0">
                <a:solidFill>
                  <a:srgbClr val="111111"/>
                </a:solidFill>
                <a:latin typeface="Embedded Inter"/>
              </a:rPr>
              <a:t>)</a:t>
            </a:r>
          </a:p>
          <a:p>
            <a:pPr marL="0" algn="l">
              <a:lnSpc>
                <a:spcPct val="110000"/>
              </a:lnSpc>
              <a:spcBef>
                <a:spcPct val="0"/>
              </a:spcBef>
              <a:spcAft>
                <a:spcPct val="0"/>
              </a:spcAft>
            </a:pPr>
            <a:r>
              <a:rPr lang="en-US" sz="100" dirty="0">
                <a:latin typeface="Embedded Inter"/>
              </a:rPr>
              <a:t> </a:t>
            </a:r>
          </a:p>
        </p:txBody>
      </p:sp>
      <p:sp>
        <p:nvSpPr>
          <p:cNvPr id="43" name="TextBox 43"/>
          <p:cNvSpPr txBox="1"/>
          <p:nvPr/>
        </p:nvSpPr>
        <p:spPr>
          <a:xfrm>
            <a:off x="1693334" y="6876745"/>
            <a:ext cx="9313817" cy="783771"/>
          </a:xfrm>
          <a:prstGeom prst="rect">
            <a:avLst/>
          </a:prstGeom>
        </p:spPr>
        <p:txBody>
          <a:bodyPr wrap="none" lIns="0" tIns="0" rIns="0" bIns="0" rtlCol="0" anchor="ctr"/>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2476" b="0" i="0" u="none" strike="noStrike" dirty="0">
                <a:solidFill>
                  <a:srgbClr val="111111"/>
                </a:solidFill>
                <a:latin typeface="Embedded Inter"/>
              </a:rPr>
              <a:t>Without Contrastive Loss (No </a:t>
            </a:r>
            <a:r>
              <a:rPr lang="en-US" sz="2476" b="0" i="0" u="none" strike="noStrike" dirty="0" err="1">
                <a:solidFill>
                  <a:srgbClr val="111111"/>
                </a:solidFill>
                <a:latin typeface="Embedded Inter"/>
              </a:rPr>
              <a:t>SupCon</a:t>
            </a:r>
            <a:r>
              <a:rPr lang="en-US" sz="2476" b="0" i="0" u="none" strike="noStrike" dirty="0">
                <a:solidFill>
                  <a:srgbClr val="111111"/>
                </a:solidFill>
                <a:latin typeface="Embedded Inter"/>
              </a:rPr>
              <a:t>)</a:t>
            </a:r>
          </a:p>
          <a:p>
            <a:pPr marL="0" algn="l">
              <a:lnSpc>
                <a:spcPct val="110000"/>
              </a:lnSpc>
              <a:spcBef>
                <a:spcPct val="0"/>
              </a:spcBef>
              <a:spcAft>
                <a:spcPct val="0"/>
              </a:spcAft>
            </a:pPr>
            <a:r>
              <a:rPr lang="en-US" sz="100" dirty="0">
                <a:latin typeface="Embedded Inter"/>
              </a:rPr>
              <a:t> </a:t>
            </a:r>
          </a:p>
        </p:txBody>
      </p:sp>
      <p:sp>
        <p:nvSpPr>
          <p:cNvPr id="44" name="TextBox 44"/>
          <p:cNvSpPr txBox="1"/>
          <p:nvPr/>
        </p:nvSpPr>
        <p:spPr>
          <a:xfrm>
            <a:off x="1693334" y="7660527"/>
            <a:ext cx="9313817" cy="783771"/>
          </a:xfrm>
          <a:prstGeom prst="rect">
            <a:avLst/>
          </a:prstGeom>
        </p:spPr>
        <p:txBody>
          <a:bodyPr wrap="none" lIns="0" tIns="0" rIns="0" bIns="0" rtlCol="0" anchor="ctr"/>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2476" b="0" i="0" u="none" strike="noStrike" dirty="0">
                <a:solidFill>
                  <a:srgbClr val="111111"/>
                </a:solidFill>
                <a:latin typeface="Embedded Inter"/>
              </a:rPr>
              <a:t>Without Dynamic Gating (Simple </a:t>
            </a:r>
            <a:r>
              <a:rPr lang="en-US" sz="2476" b="0" i="0" u="none" strike="noStrike" dirty="0" err="1">
                <a:solidFill>
                  <a:srgbClr val="111111"/>
                </a:solidFill>
                <a:latin typeface="Embedded Inter"/>
              </a:rPr>
              <a:t>Concat</a:t>
            </a:r>
            <a:r>
              <a:rPr lang="en-US" sz="2476" b="0" i="0" u="none" strike="noStrike" dirty="0">
                <a:solidFill>
                  <a:srgbClr val="111111"/>
                </a:solidFill>
                <a:latin typeface="Embedded Inter"/>
              </a:rPr>
              <a:t>)</a:t>
            </a:r>
          </a:p>
          <a:p>
            <a:pPr marL="0" algn="l">
              <a:lnSpc>
                <a:spcPct val="110000"/>
              </a:lnSpc>
              <a:spcBef>
                <a:spcPct val="0"/>
              </a:spcBef>
              <a:spcAft>
                <a:spcPct val="0"/>
              </a:spcAft>
            </a:pPr>
            <a:r>
              <a:rPr lang="en-US" sz="100" dirty="0">
                <a:latin typeface="Embedded Inter"/>
              </a:rPr>
              <a:t> </a:t>
            </a:r>
          </a:p>
        </p:txBody>
      </p:sp>
      <p:sp>
        <p:nvSpPr>
          <p:cNvPr id="45" name="TextBox 45"/>
          <p:cNvSpPr txBox="1"/>
          <p:nvPr/>
        </p:nvSpPr>
        <p:spPr>
          <a:xfrm>
            <a:off x="17941924" y="3834190"/>
            <a:ext cx="5028293" cy="700919"/>
          </a:xfrm>
          <a:prstGeom prst="rect">
            <a:avLst/>
          </a:prstGeom>
        </p:spPr>
        <p:txBody>
          <a:bodyPr wrap="none" lIns="0" tIns="0" rIns="0" bIns="0" rtlCol="0" anchor="ctr"/>
          <a:lstStyle/>
          <a:p>
            <a:pPr marL="0" algn="ctr" fontAlgn="base">
              <a:lnSpc>
                <a:spcPct val="100000"/>
              </a:lnSpc>
              <a:spcBef>
                <a:spcPct val="0"/>
              </a:spcBef>
              <a:spcAft>
                <a:spcPct val="0"/>
              </a:spcAft>
            </a:pPr>
            <a:r>
              <a:rPr lang="en-US" sz="2095" b="1" i="0" u="none" strike="noStrike" spc="190">
                <a:solidFill>
                  <a:srgbClr val="FFFFFF"/>
                </a:solidFill>
                <a:latin typeface="Embedded Inter"/>
              </a:rPr>
              <a:t>PERFORMANCE DRO</a:t>
            </a:r>
            <a:r>
              <a:rPr lang="en-US" sz="2095" b="1" i="0" u="none" strike="noStrike">
                <a:solidFill>
                  <a:srgbClr val="FFFFFF"/>
                </a:solidFill>
                <a:latin typeface="Embedded Inter"/>
              </a:rPr>
              <a:t>P</a:t>
            </a:r>
          </a:p>
        </p:txBody>
      </p:sp>
      <p:sp>
        <p:nvSpPr>
          <p:cNvPr id="46" name="TextBox 46"/>
          <p:cNvSpPr txBox="1"/>
          <p:nvPr/>
        </p:nvSpPr>
        <p:spPr>
          <a:xfrm>
            <a:off x="17941924" y="4535112"/>
            <a:ext cx="5028293" cy="774095"/>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1" i="0" u="none" strike="noStrike">
                <a:solidFill>
                  <a:srgbClr val="111111"/>
                </a:solidFill>
                <a:latin typeface="Embedded Inter"/>
              </a:rPr>
              <a:t>Baseline</a:t>
            </a:r>
          </a:p>
        </p:txBody>
      </p:sp>
      <p:sp>
        <p:nvSpPr>
          <p:cNvPr id="47" name="TextBox 47"/>
          <p:cNvSpPr txBox="1"/>
          <p:nvPr/>
        </p:nvSpPr>
        <p:spPr>
          <a:xfrm>
            <a:off x="17941924" y="5309207"/>
            <a:ext cx="5028293"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-0.0026 F1</a:t>
            </a:r>
          </a:p>
        </p:txBody>
      </p:sp>
      <p:sp>
        <p:nvSpPr>
          <p:cNvPr id="48" name="TextBox 48"/>
          <p:cNvSpPr txBox="1"/>
          <p:nvPr/>
        </p:nvSpPr>
        <p:spPr>
          <a:xfrm>
            <a:off x="17941924" y="6092976"/>
            <a:ext cx="5028293"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-0.0031 F1</a:t>
            </a:r>
          </a:p>
        </p:txBody>
      </p:sp>
      <p:sp>
        <p:nvSpPr>
          <p:cNvPr id="49" name="TextBox 49"/>
          <p:cNvSpPr txBox="1"/>
          <p:nvPr/>
        </p:nvSpPr>
        <p:spPr>
          <a:xfrm>
            <a:off x="17941924" y="6876745"/>
            <a:ext cx="5028293"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-0.0042 F1</a:t>
            </a:r>
          </a:p>
        </p:txBody>
      </p:sp>
      <p:sp>
        <p:nvSpPr>
          <p:cNvPr id="50" name="TextBox 50"/>
          <p:cNvSpPr txBox="1"/>
          <p:nvPr/>
        </p:nvSpPr>
        <p:spPr>
          <a:xfrm>
            <a:off x="17941924" y="7660527"/>
            <a:ext cx="5028293"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-0.0039 F1</a:t>
            </a:r>
          </a:p>
        </p:txBody>
      </p:sp>
      <p:sp>
        <p:nvSpPr>
          <p:cNvPr id="51" name="TextBox 51"/>
          <p:cNvSpPr txBox="1"/>
          <p:nvPr/>
        </p:nvSpPr>
        <p:spPr>
          <a:xfrm>
            <a:off x="9539711" y="6092976"/>
            <a:ext cx="3873107"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0.9649</a:t>
            </a:r>
          </a:p>
        </p:txBody>
      </p:sp>
      <p:sp>
        <p:nvSpPr>
          <p:cNvPr id="52" name="TextBox 52"/>
          <p:cNvSpPr txBox="1"/>
          <p:nvPr/>
        </p:nvSpPr>
        <p:spPr>
          <a:xfrm>
            <a:off x="9539711" y="7660527"/>
            <a:ext cx="3873107"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0.9641</a:t>
            </a:r>
          </a:p>
        </p:txBody>
      </p:sp>
      <p:sp>
        <p:nvSpPr>
          <p:cNvPr id="53" name="TextBox 53"/>
          <p:cNvSpPr txBox="1"/>
          <p:nvPr/>
        </p:nvSpPr>
        <p:spPr>
          <a:xfrm>
            <a:off x="9539711" y="3834190"/>
            <a:ext cx="3873107" cy="700919"/>
          </a:xfrm>
          <a:prstGeom prst="rect">
            <a:avLst/>
          </a:prstGeom>
        </p:spPr>
        <p:txBody>
          <a:bodyPr wrap="none" lIns="0" tIns="0" rIns="0" bIns="0" rtlCol="0" anchor="ctr"/>
          <a:lstStyle/>
          <a:p>
            <a:pPr marL="0" algn="ctr" fontAlgn="base">
              <a:lnSpc>
                <a:spcPct val="100000"/>
              </a:lnSpc>
              <a:spcBef>
                <a:spcPct val="0"/>
              </a:spcBef>
              <a:spcAft>
                <a:spcPct val="0"/>
              </a:spcAft>
            </a:pPr>
            <a:r>
              <a:rPr lang="en-US" sz="2095" b="1" i="0" u="none" strike="noStrike" spc="190">
                <a:solidFill>
                  <a:srgbClr val="FFFFFF"/>
                </a:solidFill>
                <a:latin typeface="Embedded Inter"/>
              </a:rPr>
              <a:t>TEST MACRO F</a:t>
            </a:r>
            <a:r>
              <a:rPr lang="en-US" sz="2095" b="1" i="0" u="none" strike="noStrike">
                <a:solidFill>
                  <a:srgbClr val="FFFFFF"/>
                </a:solidFill>
                <a:latin typeface="Embedded Inter"/>
              </a:rPr>
              <a:t>1</a:t>
            </a:r>
          </a:p>
        </p:txBody>
      </p:sp>
      <p:sp>
        <p:nvSpPr>
          <p:cNvPr id="54" name="TextBox 54"/>
          <p:cNvSpPr txBox="1"/>
          <p:nvPr/>
        </p:nvSpPr>
        <p:spPr>
          <a:xfrm>
            <a:off x="9539711" y="4535112"/>
            <a:ext cx="3873107" cy="774095"/>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1" i="0" u="none" strike="noStrike">
                <a:solidFill>
                  <a:srgbClr val="111111"/>
                </a:solidFill>
                <a:latin typeface="Embedded Inter"/>
              </a:rPr>
              <a:t>0.9680</a:t>
            </a:r>
          </a:p>
        </p:txBody>
      </p:sp>
      <p:sp>
        <p:nvSpPr>
          <p:cNvPr id="55" name="TextBox 55"/>
          <p:cNvSpPr txBox="1"/>
          <p:nvPr/>
        </p:nvSpPr>
        <p:spPr>
          <a:xfrm>
            <a:off x="12912960" y="3834190"/>
            <a:ext cx="3791389" cy="700919"/>
          </a:xfrm>
          <a:prstGeom prst="rect">
            <a:avLst/>
          </a:prstGeom>
        </p:spPr>
        <p:txBody>
          <a:bodyPr wrap="none" lIns="0" tIns="0" rIns="0" bIns="0" rtlCol="0" anchor="ctr"/>
          <a:lstStyle/>
          <a:p>
            <a:pPr marL="0" algn="ctr" fontAlgn="base">
              <a:lnSpc>
                <a:spcPct val="100000"/>
              </a:lnSpc>
              <a:spcBef>
                <a:spcPct val="0"/>
              </a:spcBef>
              <a:spcAft>
                <a:spcPct val="0"/>
              </a:spcAft>
            </a:pPr>
            <a:r>
              <a:rPr lang="en-US" sz="2095" b="1" i="0" u="none" strike="noStrike" spc="190">
                <a:solidFill>
                  <a:srgbClr val="FFFFFF"/>
                </a:solidFill>
                <a:latin typeface="Embedded Inter"/>
              </a:rPr>
              <a:t>ACCURACY (%</a:t>
            </a:r>
            <a:r>
              <a:rPr lang="en-US" sz="2095" b="1" i="0" u="none" strike="noStrike">
                <a:solidFill>
                  <a:srgbClr val="FFFFFF"/>
                </a:solidFill>
                <a:latin typeface="Embedded Inter"/>
              </a:rPr>
              <a:t>)</a:t>
            </a:r>
          </a:p>
        </p:txBody>
      </p:sp>
      <p:sp>
        <p:nvSpPr>
          <p:cNvPr id="56" name="TextBox 56"/>
          <p:cNvSpPr txBox="1"/>
          <p:nvPr/>
        </p:nvSpPr>
        <p:spPr>
          <a:xfrm>
            <a:off x="12912960" y="4535112"/>
            <a:ext cx="3791389" cy="774095"/>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1" i="0" u="none" strike="noStrike">
                <a:solidFill>
                  <a:srgbClr val="111111"/>
                </a:solidFill>
                <a:latin typeface="Embedded Inter"/>
              </a:rPr>
              <a:t>97.67%</a:t>
            </a:r>
          </a:p>
        </p:txBody>
      </p:sp>
      <p:sp>
        <p:nvSpPr>
          <p:cNvPr id="57" name="TextBox 57"/>
          <p:cNvSpPr txBox="1"/>
          <p:nvPr/>
        </p:nvSpPr>
        <p:spPr>
          <a:xfrm>
            <a:off x="9539711" y="5309207"/>
            <a:ext cx="3873107"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0.9654</a:t>
            </a:r>
          </a:p>
        </p:txBody>
      </p:sp>
      <p:sp>
        <p:nvSpPr>
          <p:cNvPr id="58" name="TextBox 58"/>
          <p:cNvSpPr txBox="1"/>
          <p:nvPr/>
        </p:nvSpPr>
        <p:spPr>
          <a:xfrm>
            <a:off x="12912960" y="5309207"/>
            <a:ext cx="3791389" cy="783772"/>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97.48%</a:t>
            </a:r>
          </a:p>
        </p:txBody>
      </p:sp>
      <p:sp>
        <p:nvSpPr>
          <p:cNvPr id="59" name="TextBox 59"/>
          <p:cNvSpPr txBox="1"/>
          <p:nvPr/>
        </p:nvSpPr>
        <p:spPr>
          <a:xfrm>
            <a:off x="12912960" y="6092976"/>
            <a:ext cx="3791389" cy="783772"/>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97.44%</a:t>
            </a:r>
          </a:p>
        </p:txBody>
      </p:sp>
      <p:sp>
        <p:nvSpPr>
          <p:cNvPr id="60" name="TextBox 60"/>
          <p:cNvSpPr txBox="1"/>
          <p:nvPr/>
        </p:nvSpPr>
        <p:spPr>
          <a:xfrm>
            <a:off x="9539711" y="6876745"/>
            <a:ext cx="3873107"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0.9638</a:t>
            </a:r>
          </a:p>
        </p:txBody>
      </p:sp>
      <p:sp>
        <p:nvSpPr>
          <p:cNvPr id="61" name="TextBox 61"/>
          <p:cNvSpPr txBox="1"/>
          <p:nvPr/>
        </p:nvSpPr>
        <p:spPr>
          <a:xfrm>
            <a:off x="12912960" y="6876745"/>
            <a:ext cx="3791389" cy="783772"/>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97.35%</a:t>
            </a:r>
          </a:p>
        </p:txBody>
      </p:sp>
      <p:sp>
        <p:nvSpPr>
          <p:cNvPr id="62" name="TextBox 62"/>
          <p:cNvSpPr txBox="1"/>
          <p:nvPr/>
        </p:nvSpPr>
        <p:spPr>
          <a:xfrm>
            <a:off x="12912960" y="7660527"/>
            <a:ext cx="3791389" cy="783772"/>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97.38%</a:t>
            </a:r>
          </a:p>
        </p:txBody>
      </p:sp>
      <p:sp>
        <p:nvSpPr>
          <p:cNvPr id="63" name="TextBox 63"/>
          <p:cNvSpPr txBox="1"/>
          <p:nvPr/>
        </p:nvSpPr>
        <p:spPr>
          <a:xfrm>
            <a:off x="16321125" y="5309207"/>
            <a:ext cx="2084690"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0.9317</a:t>
            </a:r>
          </a:p>
        </p:txBody>
      </p:sp>
      <p:sp>
        <p:nvSpPr>
          <p:cNvPr id="64" name="TextBox 64"/>
          <p:cNvSpPr txBox="1"/>
          <p:nvPr/>
        </p:nvSpPr>
        <p:spPr>
          <a:xfrm>
            <a:off x="16321125" y="6092976"/>
            <a:ext cx="2084690"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0.9306</a:t>
            </a:r>
          </a:p>
        </p:txBody>
      </p:sp>
      <p:sp>
        <p:nvSpPr>
          <p:cNvPr id="65" name="TextBox 65"/>
          <p:cNvSpPr txBox="1"/>
          <p:nvPr/>
        </p:nvSpPr>
        <p:spPr>
          <a:xfrm>
            <a:off x="16321125" y="7660527"/>
            <a:ext cx="2084690"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0.9290</a:t>
            </a:r>
          </a:p>
        </p:txBody>
      </p:sp>
      <p:sp>
        <p:nvSpPr>
          <p:cNvPr id="66" name="TextBox 66"/>
          <p:cNvSpPr txBox="1"/>
          <p:nvPr/>
        </p:nvSpPr>
        <p:spPr>
          <a:xfrm>
            <a:off x="16321125" y="3834190"/>
            <a:ext cx="2084690" cy="700919"/>
          </a:xfrm>
          <a:prstGeom prst="rect">
            <a:avLst/>
          </a:prstGeom>
        </p:spPr>
        <p:txBody>
          <a:bodyPr wrap="none" lIns="0" tIns="0" rIns="0" bIns="0" rtlCol="0" anchor="ctr"/>
          <a:lstStyle/>
          <a:p>
            <a:pPr marL="0" algn="ctr" fontAlgn="base">
              <a:lnSpc>
                <a:spcPct val="100000"/>
              </a:lnSpc>
              <a:spcBef>
                <a:spcPct val="0"/>
              </a:spcBef>
              <a:spcAft>
                <a:spcPct val="0"/>
              </a:spcAft>
            </a:pPr>
            <a:r>
              <a:rPr lang="en-US" sz="2095" b="1" i="0" u="none" strike="noStrike" spc="190">
                <a:solidFill>
                  <a:srgbClr val="FFFFFF"/>
                </a:solidFill>
                <a:latin typeface="Embedded Inter"/>
              </a:rPr>
              <a:t>MC</a:t>
            </a:r>
            <a:r>
              <a:rPr lang="en-US" sz="2095" b="1" i="0" u="none" strike="noStrike">
                <a:solidFill>
                  <a:srgbClr val="FFFFFF"/>
                </a:solidFill>
                <a:latin typeface="Embedded Inter"/>
              </a:rPr>
              <a:t>C</a:t>
            </a:r>
          </a:p>
        </p:txBody>
      </p:sp>
      <p:sp>
        <p:nvSpPr>
          <p:cNvPr id="67" name="TextBox 67"/>
          <p:cNvSpPr txBox="1"/>
          <p:nvPr/>
        </p:nvSpPr>
        <p:spPr>
          <a:xfrm>
            <a:off x="16321125" y="4535112"/>
            <a:ext cx="2084690" cy="774095"/>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1" i="0" u="none" strike="noStrike">
                <a:solidFill>
                  <a:srgbClr val="111111"/>
                </a:solidFill>
                <a:latin typeface="Embedded Inter"/>
              </a:rPr>
              <a:t>0.9368</a:t>
            </a:r>
          </a:p>
        </p:txBody>
      </p:sp>
      <p:sp>
        <p:nvSpPr>
          <p:cNvPr id="68" name="TextBox 68"/>
          <p:cNvSpPr txBox="1"/>
          <p:nvPr/>
        </p:nvSpPr>
        <p:spPr>
          <a:xfrm>
            <a:off x="16321125" y="6876745"/>
            <a:ext cx="2084690" cy="783771"/>
          </a:xfrm>
          <a:prstGeom prst="rect">
            <a:avLst/>
          </a:prstGeom>
        </p:spPr>
        <p:txBody>
          <a:bodyPr wrap="none" lIns="0" tIns="0" rIns="0" bIns="0" rtlCol="0" anchor="ctr"/>
          <a:lstStyle/>
          <a:p>
            <a:pPr marL="0" algn="ctr" fontAlgn="base">
              <a:lnSpc>
                <a:spcPct val="100000"/>
              </a:lnSpc>
              <a:spcBef>
                <a:spcPct val="0"/>
              </a:spcBef>
              <a:spcAft>
                <a:spcPct val="0"/>
              </a:spcAft>
            </a:pPr>
            <a:r>
              <a:rPr lang="en-US" sz="2476" b="0" i="0" u="none" strike="noStrike">
                <a:solidFill>
                  <a:srgbClr val="111111"/>
                </a:solidFill>
                <a:latin typeface="Embedded Inter"/>
              </a:rPr>
              <a:t>0.9283</a:t>
            </a:r>
          </a:p>
        </p:txBody>
      </p:sp>
      <p:pic>
        <p:nvPicPr>
          <p:cNvPr id="69" name="Picture 69"/>
          <p:cNvPicPr>
            <a:picLocks noChangeAspect="1"/>
          </p:cNvPicPr>
          <p:nvPr/>
        </p:nvPicPr>
        <p:blipFill>
          <a:blip r:embed="rId18"/>
          <a:stretch>
            <a:fillRect/>
          </a:stretch>
        </p:blipFill>
        <p:spPr>
          <a:xfrm>
            <a:off x="22206856" y="-1270000"/>
            <a:ext cx="3193143" cy="3193143"/>
          </a:xfrm>
          <a:prstGeom prst="rect">
            <a:avLst/>
          </a:prstGeom>
        </p:spPr>
      </p:pic>
      <p:sp>
        <p:nvSpPr>
          <p:cNvPr id="70" name="TextBox 70"/>
          <p:cNvSpPr txBox="1"/>
          <p:nvPr/>
        </p:nvSpPr>
        <p:spPr>
          <a:xfrm>
            <a:off x="23164497" y="616857"/>
            <a:ext cx="345304"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777" dirty="0">
                <a:solidFill>
                  <a:srgbClr val="FFFFFF"/>
                </a:solidFill>
                <a:latin typeface="Embedded Inter"/>
              </a:rPr>
              <a:t>11</a:t>
            </a:r>
            <a:r>
              <a:rPr lang="en-US" sz="100" dirty="0">
                <a:latin typeface="Embedded Inter"/>
              </a:rPr>
              <a:t> </a:t>
            </a:r>
          </a:p>
        </p:txBody>
      </p:sp>
      <p:pic>
        <p:nvPicPr>
          <p:cNvPr id="72" name="Picture 19">
            <a:extLst>
              <a:ext uri="{FF2B5EF4-FFF2-40B4-BE49-F238E27FC236}">
                <a16:creationId xmlns:a16="http://schemas.microsoft.com/office/drawing/2014/main" id="{EDC1C82A-5B25-03BC-665B-3C478220CB19}"/>
              </a:ext>
            </a:extLst>
          </p:cNvPr>
          <p:cNvPicPr>
            <a:picLocks noChangeAspect="1"/>
          </p:cNvPicPr>
          <p:nvPr/>
        </p:nvPicPr>
        <p:blipFill>
          <a:blip r:embed="rId19"/>
          <a:stretch>
            <a:fillRect/>
          </a:stretch>
        </p:blipFill>
        <p:spPr>
          <a:xfrm>
            <a:off x="1693333" y="2033290"/>
            <a:ext cx="16248591" cy="51101"/>
          </a:xfrm>
          <a:prstGeom prst="rect">
            <a:avLst/>
          </a:prstGeom>
        </p:spPr>
      </p:pic>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26572"/>
            <a:ext cx="23222857" cy="13062857"/>
          </a:xfrm>
          <a:prstGeom prst="rect">
            <a:avLst/>
          </a:prstGeom>
        </p:spPr>
      </p:pic>
      <p:pic>
        <p:nvPicPr>
          <p:cNvPr id="7" name="Picture 7"/>
          <p:cNvPicPr>
            <a:picLocks noChangeAspect="1"/>
          </p:cNvPicPr>
          <p:nvPr/>
        </p:nvPicPr>
        <p:blipFill>
          <a:blip r:embed="rId7">
            <a:extLst>
              <a:ext uri="{28A0092B-C50C-407E-A947-70E740481C1C}">
                <a14:useLocalDpi xmlns:a14="http://schemas.microsoft.com/office/drawing/2010/main" val="0"/>
              </a:ext>
            </a:extLst>
          </a:blip>
          <a:srcRect/>
          <a:stretch/>
        </p:blipFill>
        <p:spPr>
          <a:xfrm>
            <a:off x="989391" y="3627846"/>
            <a:ext cx="13217281" cy="8333617"/>
          </a:xfrm>
          <a:prstGeom prst="rect">
            <a:avLst/>
          </a:prstGeom>
        </p:spPr>
      </p:pic>
      <p:pic>
        <p:nvPicPr>
          <p:cNvPr id="8" name="Picture 8"/>
          <p:cNvPicPr>
            <a:picLocks noChangeAspect="1"/>
          </p:cNvPicPr>
          <p:nvPr/>
        </p:nvPicPr>
        <p:blipFill>
          <a:blip r:embed="rId8"/>
          <a:stretch>
            <a:fillRect/>
          </a:stretch>
        </p:blipFill>
        <p:spPr>
          <a:xfrm>
            <a:off x="14223999" y="6678993"/>
            <a:ext cx="8466666" cy="3241524"/>
          </a:xfrm>
          <a:prstGeom prst="rect">
            <a:avLst/>
          </a:prstGeom>
        </p:spPr>
      </p:pic>
      <p:pic>
        <p:nvPicPr>
          <p:cNvPr id="9" name="Picture 9"/>
          <p:cNvPicPr>
            <a:picLocks noChangeAspect="1"/>
          </p:cNvPicPr>
          <p:nvPr/>
        </p:nvPicPr>
        <p:blipFill>
          <a:blip r:embed="rId9"/>
          <a:stretch>
            <a:fillRect/>
          </a:stretch>
        </p:blipFill>
        <p:spPr>
          <a:xfrm>
            <a:off x="14223999" y="3592286"/>
            <a:ext cx="8466666" cy="2748038"/>
          </a:xfrm>
          <a:prstGeom prst="rect">
            <a:avLst/>
          </a:prstGeom>
        </p:spPr>
      </p:pic>
      <p:pic>
        <p:nvPicPr>
          <p:cNvPr id="10" name="Picture 10"/>
          <p:cNvPicPr>
            <a:picLocks noChangeAspect="1"/>
          </p:cNvPicPr>
          <p:nvPr/>
        </p:nvPicPr>
        <p:blipFill>
          <a:blip r:embed="rId9"/>
          <a:stretch>
            <a:fillRect/>
          </a:stretch>
        </p:blipFill>
        <p:spPr>
          <a:xfrm>
            <a:off x="14223999" y="10259184"/>
            <a:ext cx="8466666" cy="2748038"/>
          </a:xfrm>
          <a:prstGeom prst="rect">
            <a:avLst/>
          </a:prstGeom>
        </p:spPr>
      </p:pic>
      <p:pic>
        <p:nvPicPr>
          <p:cNvPr id="11" name="Picture 11"/>
          <p:cNvPicPr>
            <a:picLocks noChangeAspect="1"/>
          </p:cNvPicPr>
          <p:nvPr/>
        </p:nvPicPr>
        <p:blipFill>
          <a:blip r:embed="rId10"/>
          <a:stretch>
            <a:fillRect/>
          </a:stretch>
        </p:blipFill>
        <p:spPr>
          <a:xfrm>
            <a:off x="14223999" y="3592286"/>
            <a:ext cx="8466666" cy="116114"/>
          </a:xfrm>
          <a:prstGeom prst="rect">
            <a:avLst/>
          </a:prstGeom>
        </p:spPr>
      </p:pic>
      <p:pic>
        <p:nvPicPr>
          <p:cNvPr id="12" name="Picture 12"/>
          <p:cNvPicPr>
            <a:picLocks noChangeAspect="1"/>
          </p:cNvPicPr>
          <p:nvPr/>
        </p:nvPicPr>
        <p:blipFill>
          <a:blip r:embed="rId10"/>
          <a:stretch>
            <a:fillRect/>
          </a:stretch>
        </p:blipFill>
        <p:spPr>
          <a:xfrm>
            <a:off x="14223999" y="6678993"/>
            <a:ext cx="8466666" cy="116114"/>
          </a:xfrm>
          <a:prstGeom prst="rect">
            <a:avLst/>
          </a:prstGeom>
        </p:spPr>
      </p:pic>
      <p:pic>
        <p:nvPicPr>
          <p:cNvPr id="13" name="Picture 13"/>
          <p:cNvPicPr>
            <a:picLocks noChangeAspect="1"/>
          </p:cNvPicPr>
          <p:nvPr/>
        </p:nvPicPr>
        <p:blipFill>
          <a:blip r:embed="rId10"/>
          <a:stretch>
            <a:fillRect/>
          </a:stretch>
        </p:blipFill>
        <p:spPr>
          <a:xfrm>
            <a:off x="14223999" y="10259184"/>
            <a:ext cx="8466666" cy="116114"/>
          </a:xfrm>
          <a:prstGeom prst="rect">
            <a:avLst/>
          </a:prstGeom>
        </p:spPr>
      </p:pic>
      <p:pic>
        <p:nvPicPr>
          <p:cNvPr id="14" name="Picture 14"/>
          <p:cNvPicPr>
            <a:picLocks noChangeAspect="1"/>
          </p:cNvPicPr>
          <p:nvPr/>
        </p:nvPicPr>
        <p:blipFill>
          <a:blip r:embed="rId11"/>
          <a:stretch>
            <a:fillRect/>
          </a:stretch>
        </p:blipFill>
        <p:spPr>
          <a:xfrm flipV="1">
            <a:off x="1693333" y="2375303"/>
            <a:ext cx="16518466" cy="84482"/>
          </a:xfrm>
          <a:prstGeom prst="rect">
            <a:avLst/>
          </a:prstGeom>
        </p:spPr>
      </p:pic>
      <p:sp>
        <p:nvSpPr>
          <p:cNvPr id="15" name="TextBox 15"/>
          <p:cNvSpPr txBox="1"/>
          <p:nvPr/>
        </p:nvSpPr>
        <p:spPr>
          <a:xfrm>
            <a:off x="1693333" y="1536095"/>
            <a:ext cx="22605063" cy="975179"/>
          </a:xfrm>
          <a:prstGeom prst="rect">
            <a:avLst/>
          </a:prstGeom>
        </p:spPr>
        <p:txBody>
          <a:bodyPr wrap="none" lIns="0" tIns="0" rIns="0" bIns="0" rtlCol="0" anchor="t"/>
          <a:lstStyle/>
          <a:p>
            <a:pPr marL="0" algn="l">
              <a:lnSpc>
                <a:spcPct val="110000"/>
              </a:lnSpc>
              <a:spcBef>
                <a:spcPct val="0"/>
              </a:spcBef>
              <a:spcAft>
                <a:spcPct val="0"/>
              </a:spcAft>
            </a:pPr>
            <a:r>
              <a:rPr lang="en-US" sz="100">
                <a:latin typeface="Embedded Playfair Display"/>
              </a:rPr>
              <a:t> </a:t>
            </a:r>
          </a:p>
          <a:p>
            <a:pPr marL="0" algn="l" fontAlgn="base">
              <a:lnSpc>
                <a:spcPct val="100000"/>
              </a:lnSpc>
              <a:spcBef>
                <a:spcPct val="0"/>
              </a:spcBef>
              <a:spcAft>
                <a:spcPct val="0"/>
              </a:spcAft>
            </a:pPr>
            <a:r>
              <a:rPr lang="en-US" sz="5760" b="1" i="0" u="none" strike="noStrike" spc="-80">
                <a:solidFill>
                  <a:srgbClr val="111111"/>
                </a:solidFill>
                <a:latin typeface="Embedded Playfair Display"/>
              </a:rPr>
              <a:t>Results: Confusion Matrix and Diagnostic Analysi</a:t>
            </a:r>
            <a:r>
              <a:rPr lang="en-US" sz="5760" b="1" i="0" u="none" strike="noStrike">
                <a:solidFill>
                  <a:srgbClr val="111111"/>
                </a:solidFill>
                <a:latin typeface="Embedded Playfair Display"/>
              </a:rPr>
              <a:t>s</a:t>
            </a:r>
          </a:p>
          <a:p>
            <a:pPr marL="0" algn="l">
              <a:lnSpc>
                <a:spcPct val="110000"/>
              </a:lnSpc>
              <a:spcBef>
                <a:spcPct val="0"/>
              </a:spcBef>
              <a:spcAft>
                <a:spcPct val="0"/>
              </a:spcAft>
            </a:pPr>
            <a:r>
              <a:rPr lang="en-US" sz="100">
                <a:latin typeface="Embedded Playfair Display"/>
              </a:rPr>
              <a:t> </a:t>
            </a:r>
          </a:p>
        </p:txBody>
      </p:sp>
      <p:sp>
        <p:nvSpPr>
          <p:cNvPr id="16" name="TextBox 16"/>
          <p:cNvSpPr txBox="1"/>
          <p:nvPr/>
        </p:nvSpPr>
        <p:spPr>
          <a:xfrm>
            <a:off x="14659427" y="8043333"/>
            <a:ext cx="6402010" cy="1393372"/>
          </a:xfrm>
          <a:prstGeom prst="rect">
            <a:avLst/>
          </a:prstGeom>
        </p:spPr>
        <p:txBody>
          <a:bodyPr wrap="square" lIns="0" tIns="0" rIns="0" bIns="0" rtlCol="0" anchor="t"/>
          <a:lstStyle/>
          <a:p>
            <a:pPr marL="0" algn="l">
              <a:lnSpc>
                <a:spcPct val="110000"/>
              </a:lnSpc>
              <a:spcBef>
                <a:spcPct val="0"/>
              </a:spcBef>
              <a:spcAft>
                <a:spcPct val="0"/>
              </a:spcAft>
            </a:pPr>
            <a:r>
              <a:rPr lang="en-US" sz="100">
                <a:latin typeface="Embedded Inter"/>
              </a:rPr>
              <a:t> </a:t>
            </a:r>
          </a:p>
          <a:p>
            <a:pPr marL="0" algn="l" fontAlgn="base">
              <a:lnSpc>
                <a:spcPct val="105000"/>
              </a:lnSpc>
              <a:spcBef>
                <a:spcPct val="0"/>
              </a:spcBef>
              <a:spcAft>
                <a:spcPct val="3000"/>
              </a:spcAft>
            </a:pPr>
            <a:r>
              <a:rPr lang="en-US" sz="2666" b="0" i="0" u="none" strike="noStrike">
                <a:solidFill>
                  <a:srgbClr val="111111"/>
                </a:solidFill>
                <a:latin typeface="Embedded Inter"/>
              </a:rPr>
              <a:t>Calibration: Predicted probabilities align</a:t>
            </a:r>
          </a:p>
          <a:p>
            <a:pPr marL="0" algn="l" fontAlgn="base">
              <a:lnSpc>
                <a:spcPct val="105000"/>
              </a:lnSpc>
              <a:spcBef>
                <a:spcPct val="0"/>
              </a:spcBef>
              <a:spcAft>
                <a:spcPct val="3000"/>
              </a:spcAft>
            </a:pPr>
            <a:r>
              <a:rPr lang="en-US" sz="2666" b="0" i="0" u="none" strike="noStrike">
                <a:solidFill>
                  <a:srgbClr val="111111"/>
                </a:solidFill>
                <a:latin typeface="Embedded Inter"/>
              </a:rPr>
              <a:t>perfectly with true accuracy,</a:t>
            </a:r>
          </a:p>
          <a:p>
            <a:pPr marL="0" algn="l" fontAlgn="base">
              <a:lnSpc>
                <a:spcPct val="105000"/>
              </a:lnSpc>
              <a:spcBef>
                <a:spcPct val="0"/>
              </a:spcBef>
              <a:spcAft>
                <a:spcPct val="3000"/>
              </a:spcAft>
            </a:pPr>
            <a:r>
              <a:rPr lang="en-US" sz="2666" b="0" i="0" u="none" strike="noStrike">
                <a:solidFill>
                  <a:srgbClr val="111111"/>
                </a:solidFill>
                <a:latin typeface="Embedded Inter"/>
              </a:rPr>
              <a:t>eliminating overconfident errors.</a:t>
            </a:r>
          </a:p>
          <a:p>
            <a:pPr marL="0" algn="l">
              <a:lnSpc>
                <a:spcPct val="110000"/>
              </a:lnSpc>
              <a:spcBef>
                <a:spcPct val="0"/>
              </a:spcBef>
              <a:spcAft>
                <a:spcPct val="0"/>
              </a:spcAft>
            </a:pPr>
            <a:r>
              <a:rPr lang="en-US" sz="100">
                <a:latin typeface="Embedded Inter"/>
              </a:rPr>
              <a:t> </a:t>
            </a:r>
          </a:p>
        </p:txBody>
      </p:sp>
      <p:sp>
        <p:nvSpPr>
          <p:cNvPr id="17" name="TextBox 17"/>
          <p:cNvSpPr txBox="1"/>
          <p:nvPr/>
        </p:nvSpPr>
        <p:spPr>
          <a:xfrm>
            <a:off x="14659428" y="4143836"/>
            <a:ext cx="8735181" cy="774095"/>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4571" b="1" i="0" u="none" strike="noStrike" dirty="0">
                <a:solidFill>
                  <a:srgbClr val="D94F3A"/>
                </a:solidFill>
                <a:latin typeface="Arial" panose="020B0604020202020204" pitchFamily="34" charset="0"/>
                <a:cs typeface="Arial" panose="020B0604020202020204" pitchFamily="34" charset="0"/>
              </a:rPr>
              <a:t>98.9%</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18" name="TextBox 18"/>
          <p:cNvSpPr txBox="1"/>
          <p:nvPr/>
        </p:nvSpPr>
        <p:spPr>
          <a:xfrm>
            <a:off x="14659428" y="4956626"/>
            <a:ext cx="6818086" cy="899886"/>
          </a:xfrm>
          <a:prstGeom prst="rect">
            <a:avLst/>
          </a:prstGeom>
        </p:spPr>
        <p:txBody>
          <a:bodyPr wrap="square" lIns="0" tIns="0" rIns="0" bIns="0" rtlCol="0" anchor="t"/>
          <a:lstStyle/>
          <a:p>
            <a:pPr marL="0" algn="l">
              <a:lnSpc>
                <a:spcPct val="110000"/>
              </a:lnSpc>
              <a:spcBef>
                <a:spcPct val="0"/>
              </a:spcBef>
              <a:spcAft>
                <a:spcPct val="0"/>
              </a:spcAft>
            </a:pPr>
            <a:r>
              <a:rPr lang="en-US" sz="100">
                <a:latin typeface="Embedded Inter"/>
              </a:rPr>
              <a:t> </a:t>
            </a:r>
          </a:p>
          <a:p>
            <a:pPr marL="0" algn="l" fontAlgn="base">
              <a:lnSpc>
                <a:spcPct val="105000"/>
              </a:lnSpc>
              <a:spcBef>
                <a:spcPct val="0"/>
              </a:spcBef>
              <a:spcAft>
                <a:spcPct val="3000"/>
              </a:spcAft>
            </a:pPr>
            <a:r>
              <a:rPr lang="en-US" sz="2666" b="0" i="0" u="none" strike="noStrike">
                <a:solidFill>
                  <a:srgbClr val="111111"/>
                </a:solidFill>
                <a:latin typeface="Embedded Inter"/>
              </a:rPr>
              <a:t>High Recall: Correctly detected 98.9% real</a:t>
            </a:r>
          </a:p>
          <a:p>
            <a:pPr marL="0" algn="l" fontAlgn="base">
              <a:lnSpc>
                <a:spcPct val="105000"/>
              </a:lnSpc>
              <a:spcBef>
                <a:spcPct val="0"/>
              </a:spcBef>
              <a:spcAft>
                <a:spcPct val="3000"/>
              </a:spcAft>
            </a:pPr>
            <a:r>
              <a:rPr lang="en-US" sz="2666" b="0" i="0" u="none" strike="noStrike">
                <a:solidFill>
                  <a:srgbClr val="111111"/>
                </a:solidFill>
                <a:latin typeface="Embedded Inter"/>
              </a:rPr>
              <a:t>news and 94.0% fake claims on test split.</a:t>
            </a:r>
          </a:p>
          <a:p>
            <a:pPr marL="0" algn="l">
              <a:lnSpc>
                <a:spcPct val="110000"/>
              </a:lnSpc>
              <a:spcBef>
                <a:spcPct val="0"/>
              </a:spcBef>
              <a:spcAft>
                <a:spcPct val="0"/>
              </a:spcAft>
            </a:pPr>
            <a:r>
              <a:rPr lang="en-US" sz="100">
                <a:latin typeface="Embedded Inter"/>
              </a:rPr>
              <a:t> </a:t>
            </a:r>
          </a:p>
        </p:txBody>
      </p:sp>
      <p:sp>
        <p:nvSpPr>
          <p:cNvPr id="19" name="TextBox 19"/>
          <p:cNvSpPr txBox="1"/>
          <p:nvPr/>
        </p:nvSpPr>
        <p:spPr>
          <a:xfrm>
            <a:off x="14659428" y="7230531"/>
            <a:ext cx="8735181" cy="774095"/>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4571" b="1" i="0" u="none" strike="noStrike" dirty="0">
                <a:solidFill>
                  <a:srgbClr val="D94F3A"/>
                </a:solidFill>
                <a:latin typeface="Arial" panose="020B0604020202020204" pitchFamily="34" charset="0"/>
                <a:cs typeface="Arial" panose="020B0604020202020204" pitchFamily="34" charset="0"/>
              </a:rPr>
              <a:t>ECE 0.0052</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20" name="TextBox 20"/>
          <p:cNvSpPr txBox="1"/>
          <p:nvPr/>
        </p:nvSpPr>
        <p:spPr>
          <a:xfrm>
            <a:off x="14659428" y="10810722"/>
            <a:ext cx="8735181" cy="774095"/>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a:p>
            <a:pPr marL="0" algn="l" fontAlgn="base">
              <a:lnSpc>
                <a:spcPct val="100000"/>
              </a:lnSpc>
              <a:spcBef>
                <a:spcPct val="0"/>
              </a:spcBef>
              <a:spcAft>
                <a:spcPct val="0"/>
              </a:spcAft>
            </a:pPr>
            <a:r>
              <a:rPr lang="en-US" sz="4571" b="1" i="0" u="none" strike="noStrike" dirty="0">
                <a:solidFill>
                  <a:srgbClr val="D94F3A"/>
                </a:solidFill>
                <a:latin typeface="Arial" panose="020B0604020202020204" pitchFamily="34" charset="0"/>
                <a:cs typeface="Arial" panose="020B0604020202020204" pitchFamily="34" charset="0"/>
              </a:rPr>
              <a:t>Robustness</a:t>
            </a:r>
          </a:p>
          <a:p>
            <a:pPr marL="0" algn="l">
              <a:lnSpc>
                <a:spcPct val="11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21" name="TextBox 21"/>
          <p:cNvSpPr txBox="1"/>
          <p:nvPr/>
        </p:nvSpPr>
        <p:spPr>
          <a:xfrm>
            <a:off x="14659428" y="11623523"/>
            <a:ext cx="8075174" cy="899886"/>
          </a:xfrm>
          <a:prstGeom prst="rect">
            <a:avLst/>
          </a:prstGeom>
        </p:spPr>
        <p:txBody>
          <a:bodyPr wrap="none" lIns="0" tIns="0" rIns="0" bIns="0" rtlCol="0" anchor="t"/>
          <a:lstStyle/>
          <a:p>
            <a:pPr marL="0" algn="l">
              <a:lnSpc>
                <a:spcPct val="110000"/>
              </a:lnSpc>
              <a:spcBef>
                <a:spcPct val="0"/>
              </a:spcBef>
              <a:spcAft>
                <a:spcPct val="0"/>
              </a:spcAft>
            </a:pPr>
            <a:r>
              <a:rPr lang="en-US" sz="100">
                <a:latin typeface="Embedded Inter"/>
              </a:rPr>
              <a:t> </a:t>
            </a:r>
          </a:p>
          <a:p>
            <a:pPr marL="0" algn="l" fontAlgn="base">
              <a:lnSpc>
                <a:spcPct val="100000"/>
              </a:lnSpc>
              <a:spcBef>
                <a:spcPct val="0"/>
              </a:spcBef>
              <a:spcAft>
                <a:spcPct val="0"/>
              </a:spcAft>
            </a:pPr>
            <a:r>
              <a:rPr lang="en-US" sz="2666" b="0" i="0" u="none" strike="noStrike">
                <a:solidFill>
                  <a:srgbClr val="111111"/>
                </a:solidFill>
                <a:latin typeface="Embedded Inter"/>
              </a:rPr>
              <a:t>DG-SSOFNet drops only -0.0065 F1 under</a:t>
            </a:r>
          </a:p>
          <a:p>
            <a:pPr marL="0" algn="l" fontAlgn="base">
              <a:lnSpc>
                <a:spcPct val="100000"/>
              </a:lnSpc>
              <a:spcBef>
                <a:spcPct val="0"/>
              </a:spcBef>
              <a:spcAft>
                <a:spcPct val="0"/>
              </a:spcAft>
            </a:pPr>
            <a:r>
              <a:rPr lang="en-US" sz="2666" b="0" i="0" u="none" strike="noStrike">
                <a:solidFill>
                  <a:srgbClr val="111111"/>
                </a:solidFill>
                <a:latin typeface="Embedded Inter"/>
              </a:rPr>
              <a:t>noise compared to -0.0256 for CNN-BiGRU.</a:t>
            </a:r>
          </a:p>
          <a:p>
            <a:pPr marL="0" algn="l">
              <a:lnSpc>
                <a:spcPct val="110000"/>
              </a:lnSpc>
              <a:spcBef>
                <a:spcPct val="0"/>
              </a:spcBef>
              <a:spcAft>
                <a:spcPct val="0"/>
              </a:spcAft>
            </a:pPr>
            <a:r>
              <a:rPr lang="en-US" sz="100">
                <a:latin typeface="Embedded Inter"/>
              </a:rPr>
              <a:t> </a:t>
            </a:r>
          </a:p>
        </p:txBody>
      </p:sp>
      <p:pic>
        <p:nvPicPr>
          <p:cNvPr id="22" name="Picture 22"/>
          <p:cNvPicPr>
            <a:picLocks noChangeAspect="1"/>
          </p:cNvPicPr>
          <p:nvPr/>
        </p:nvPicPr>
        <p:blipFill>
          <a:blip r:embed="rId12"/>
          <a:stretch>
            <a:fillRect/>
          </a:stretch>
        </p:blipFill>
        <p:spPr>
          <a:xfrm>
            <a:off x="22206856" y="-1270000"/>
            <a:ext cx="3193143" cy="3193143"/>
          </a:xfrm>
          <a:prstGeom prst="rect">
            <a:avLst/>
          </a:prstGeom>
        </p:spPr>
      </p:pic>
      <p:sp>
        <p:nvSpPr>
          <p:cNvPr id="23" name="TextBox 23"/>
          <p:cNvSpPr txBox="1"/>
          <p:nvPr/>
        </p:nvSpPr>
        <p:spPr>
          <a:xfrm>
            <a:off x="22962507" y="616857"/>
            <a:ext cx="577593"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629" b="0" i="0" u="none" strike="noStrike" dirty="0">
                <a:solidFill>
                  <a:srgbClr val="F2F0EC"/>
                </a:solidFill>
                <a:latin typeface="Embedded Inter"/>
              </a:rPr>
              <a:t>12</a:t>
            </a:r>
          </a:p>
          <a:p>
            <a:pPr marL="0" algn="l">
              <a:lnSpc>
                <a:spcPct val="110000"/>
              </a:lnSpc>
              <a:spcBef>
                <a:spcPct val="0"/>
              </a:spcBef>
              <a:spcAft>
                <a:spcPct val="0"/>
              </a:spcAft>
            </a:pPr>
            <a:r>
              <a:rPr lang="en-US" sz="100" dirty="0">
                <a:latin typeface="Embedded Inter"/>
              </a:rPr>
              <a:t>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rcRect/>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26572"/>
            <a:ext cx="23222857" cy="13062857"/>
          </a:xfrm>
          <a:prstGeom prst="rect">
            <a:avLst/>
          </a:prstGeom>
        </p:spPr>
      </p:pic>
      <p:pic>
        <p:nvPicPr>
          <p:cNvPr id="6" name="Picture 6"/>
          <p:cNvPicPr>
            <a:picLocks noChangeAspect="1"/>
          </p:cNvPicPr>
          <p:nvPr/>
        </p:nvPicPr>
        <p:blipFill>
          <a:blip r:embed="rId7"/>
          <a:stretch>
            <a:fillRect/>
          </a:stretch>
        </p:blipFill>
        <p:spPr>
          <a:xfrm>
            <a:off x="1693333" y="2849940"/>
            <a:ext cx="10280952" cy="5984724"/>
          </a:xfrm>
          <a:prstGeom prst="rect">
            <a:avLst/>
          </a:prstGeom>
          <a:effectLst>
            <a:outerShdw blurRad="1451428" dist="241904" dir="5400000" algn="ctr">
              <a:srgbClr val="000000">
                <a:alpha val="3137"/>
              </a:srgbClr>
            </a:outerShdw>
          </a:effectLst>
        </p:spPr>
      </p:pic>
      <p:pic>
        <p:nvPicPr>
          <p:cNvPr id="7" name="Picture 7"/>
          <p:cNvPicPr>
            <a:picLocks noChangeAspect="1"/>
          </p:cNvPicPr>
          <p:nvPr/>
        </p:nvPicPr>
        <p:blipFill>
          <a:blip r:embed="rId7"/>
          <a:stretch>
            <a:fillRect/>
          </a:stretch>
        </p:blipFill>
        <p:spPr>
          <a:xfrm>
            <a:off x="12409715" y="2849940"/>
            <a:ext cx="10280952" cy="5984724"/>
          </a:xfrm>
          <a:prstGeom prst="rect">
            <a:avLst/>
          </a:prstGeom>
          <a:effectLst>
            <a:outerShdw blurRad="1451428" dist="241904" dir="5400000" algn="ctr">
              <a:srgbClr val="000000">
                <a:alpha val="3137"/>
              </a:srgbClr>
            </a:outerShdw>
          </a:effectLst>
        </p:spPr>
      </p:pic>
      <p:pic>
        <p:nvPicPr>
          <p:cNvPr id="8" name="Picture 8"/>
          <p:cNvPicPr>
            <a:picLocks noChangeAspect="1"/>
          </p:cNvPicPr>
          <p:nvPr/>
        </p:nvPicPr>
        <p:blipFill>
          <a:blip r:embed="rId8"/>
          <a:stretch>
            <a:fillRect/>
          </a:stretch>
        </p:blipFill>
        <p:spPr>
          <a:xfrm>
            <a:off x="1693334" y="2849940"/>
            <a:ext cx="193524" cy="5984724"/>
          </a:xfrm>
          <a:prstGeom prst="rect">
            <a:avLst/>
          </a:prstGeom>
        </p:spPr>
      </p:pic>
      <p:pic>
        <p:nvPicPr>
          <p:cNvPr id="9" name="Picture 9"/>
          <p:cNvPicPr>
            <a:picLocks noChangeAspect="1"/>
          </p:cNvPicPr>
          <p:nvPr/>
        </p:nvPicPr>
        <p:blipFill>
          <a:blip r:embed="rId8"/>
          <a:stretch>
            <a:fillRect/>
          </a:stretch>
        </p:blipFill>
        <p:spPr>
          <a:xfrm>
            <a:off x="12409714" y="2849940"/>
            <a:ext cx="193524" cy="5984724"/>
          </a:xfrm>
          <a:prstGeom prst="rect">
            <a:avLst/>
          </a:prstGeom>
        </p:spPr>
      </p:pic>
      <p:pic>
        <p:nvPicPr>
          <p:cNvPr id="10" name="Picture 10"/>
          <p:cNvPicPr>
            <a:picLocks noChangeAspect="1"/>
          </p:cNvPicPr>
          <p:nvPr/>
        </p:nvPicPr>
        <p:blipFill>
          <a:blip r:embed="rId9"/>
          <a:stretch>
            <a:fillRect/>
          </a:stretch>
        </p:blipFill>
        <p:spPr>
          <a:xfrm flipV="1">
            <a:off x="1790096" y="2078508"/>
            <a:ext cx="9918095" cy="45719"/>
          </a:xfrm>
          <a:prstGeom prst="rect">
            <a:avLst/>
          </a:prstGeom>
        </p:spPr>
      </p:pic>
      <p:sp>
        <p:nvSpPr>
          <p:cNvPr id="11" name="TextBox 11"/>
          <p:cNvSpPr txBox="1"/>
          <p:nvPr/>
        </p:nvSpPr>
        <p:spPr>
          <a:xfrm>
            <a:off x="1693333" y="1149048"/>
            <a:ext cx="24146934" cy="975179"/>
          </a:xfrm>
          <a:prstGeom prst="rect">
            <a:avLst/>
          </a:prstGeom>
        </p:spPr>
        <p:txBody>
          <a:bodyPr wrap="none" lIns="0" tIns="0" rIns="0" bIns="0" rtlCol="0" anchor="t"/>
          <a:lstStyle/>
          <a:p>
            <a:r>
              <a:rPr lang="en-US" sz="5600" b="1" dirty="0">
                <a:latin typeface="Arial" panose="020B0604020202020204" pitchFamily="34" charset="0"/>
                <a:cs typeface="Arial" panose="020B0604020202020204" pitchFamily="34" charset="0"/>
              </a:rPr>
              <a:t>Limitations and Future Works</a:t>
            </a:r>
          </a:p>
        </p:txBody>
      </p:sp>
      <p:sp>
        <p:nvSpPr>
          <p:cNvPr id="18" name="TextBox 18"/>
          <p:cNvSpPr txBox="1"/>
          <p:nvPr/>
        </p:nvSpPr>
        <p:spPr>
          <a:xfrm>
            <a:off x="2249714" y="3363692"/>
            <a:ext cx="9579429" cy="5323107"/>
          </a:xfrm>
          <a:prstGeom prst="rect">
            <a:avLst/>
          </a:prstGeom>
        </p:spPr>
        <p:txBody>
          <a:bodyPr wrap="none" lIns="0" tIns="0" rIns="0" bIns="0" rtlCol="0" anchor="ctr"/>
          <a:lstStyle/>
          <a:p>
            <a:pPr>
              <a:lnSpc>
                <a:spcPct val="150000"/>
              </a:lnSpc>
            </a:pPr>
            <a:r>
              <a:rPr lang="en-US" sz="4190" b="1" dirty="0">
                <a:solidFill>
                  <a:srgbClr val="D94F3A"/>
                </a:solidFill>
                <a:latin typeface="Embedded Playfair Display"/>
              </a:rPr>
              <a:t>Limitations </a:t>
            </a:r>
            <a:r>
              <a:rPr lang="en-US" sz="4190" b="1" i="0" u="none" strike="noStrike" dirty="0">
                <a:solidFill>
                  <a:srgbClr val="D94F3A"/>
                </a:solidFill>
                <a:latin typeface="Embedded Playfair Display"/>
              </a:rPr>
              <a:t>:</a:t>
            </a:r>
            <a:r>
              <a:rPr lang="en-US" dirty="0"/>
              <a:t> </a:t>
            </a:r>
          </a:p>
          <a:p>
            <a:pPr marL="457200" indent="-457200">
              <a:lnSpc>
                <a:spcPct val="150000"/>
              </a:lnSpc>
              <a:buFont typeface="Wingdings" panose="05000000000000000000" pitchFamily="2" charset="2"/>
              <a:buChar char="q"/>
            </a:pPr>
            <a:r>
              <a:rPr lang="en-US" sz="2800" b="1" dirty="0">
                <a:latin typeface="Arial" panose="020B0604020202020204" pitchFamily="34" charset="0"/>
                <a:cs typeface="Arial" panose="020B0604020202020204" pitchFamily="34" charset="0"/>
              </a:rPr>
              <a:t>Textual Unimodal Scope</a:t>
            </a:r>
            <a:r>
              <a:rPr lang="en-US" sz="2800" dirty="0">
                <a:latin typeface="Arial" panose="020B0604020202020204" pitchFamily="34" charset="0"/>
                <a:cs typeface="Arial" panose="020B0604020202020204" pitchFamily="34" charset="0"/>
              </a:rPr>
              <a:t>: Analyzes text content only</a:t>
            </a:r>
          </a:p>
          <a:p>
            <a:pPr marL="457200" indent="-457200">
              <a:lnSpc>
                <a:spcPct val="150000"/>
              </a:lnSpc>
              <a:buFont typeface="Wingdings" panose="05000000000000000000" pitchFamily="2" charset="2"/>
              <a:buChar char="q"/>
            </a:pPr>
            <a:r>
              <a:rPr lang="en-US" sz="2800" b="1" dirty="0">
                <a:latin typeface="Arial" panose="020B0604020202020204" pitchFamily="34" charset="0"/>
                <a:cs typeface="Arial" panose="020B0604020202020204" pitchFamily="34" charset="0"/>
              </a:rPr>
              <a:t>Temporal Domain Shift</a:t>
            </a:r>
            <a:r>
              <a:rPr lang="en-US" sz="2800" dirty="0">
                <a:latin typeface="Arial" panose="020B0604020202020204" pitchFamily="34" charset="0"/>
                <a:cs typeface="Arial" panose="020B0604020202020204" pitchFamily="34" charset="0"/>
              </a:rPr>
              <a:t>: Needs retraining for new events</a:t>
            </a:r>
          </a:p>
          <a:p>
            <a:pPr marL="457200" indent="-457200">
              <a:lnSpc>
                <a:spcPct val="150000"/>
              </a:lnSpc>
              <a:buFont typeface="Wingdings" panose="05000000000000000000" pitchFamily="2" charset="2"/>
              <a:buChar char="q"/>
            </a:pPr>
            <a:r>
              <a:rPr lang="en-US" sz="2800" b="1" dirty="0">
                <a:latin typeface="Arial" panose="020B0604020202020204" pitchFamily="34" charset="0"/>
                <a:cs typeface="Arial" panose="020B0604020202020204" pitchFamily="34" charset="0"/>
              </a:rPr>
              <a:t>Multi Stream Preprocessing Latency</a:t>
            </a:r>
            <a:r>
              <a:rPr lang="en-US" sz="2800" dirty="0">
                <a:latin typeface="Arial" panose="020B0604020202020204" pitchFamily="34" charset="0"/>
                <a:cs typeface="Arial" panose="020B0604020202020204" pitchFamily="34" charset="0"/>
              </a:rPr>
              <a:t>: Inference </a:t>
            </a:r>
          </a:p>
          <a:p>
            <a:pPr>
              <a:lnSpc>
                <a:spcPct val="150000"/>
              </a:lnSpc>
            </a:pPr>
            <a:r>
              <a:rPr lang="en-US" sz="2800" dirty="0">
                <a:latin typeface="Arial" panose="020B0604020202020204" pitchFamily="34" charset="0"/>
                <a:cs typeface="Arial" panose="020B0604020202020204" pitchFamily="34" charset="0"/>
              </a:rPr>
              <a:t>computation overhead.</a:t>
            </a:r>
          </a:p>
          <a:p>
            <a:pPr>
              <a:lnSpc>
                <a:spcPct val="150000"/>
              </a:lnSpc>
            </a:pPr>
            <a:endParaRPr lang="en-US" dirty="0"/>
          </a:p>
          <a:p>
            <a:pPr marL="0" algn="l">
              <a:lnSpc>
                <a:spcPct val="150000"/>
              </a:lnSpc>
              <a:spcBef>
                <a:spcPct val="0"/>
              </a:spcBef>
              <a:spcAft>
                <a:spcPct val="0"/>
              </a:spcAft>
            </a:pPr>
            <a:endParaRPr lang="en-US" sz="4190" b="1" i="0" u="none" strike="noStrike" dirty="0">
              <a:solidFill>
                <a:srgbClr val="D94F3A"/>
              </a:solidFill>
              <a:latin typeface="Embedded Playfair Display"/>
            </a:endParaRPr>
          </a:p>
          <a:p>
            <a:pPr fontAlgn="base">
              <a:lnSpc>
                <a:spcPct val="150000"/>
              </a:lnSpc>
              <a:spcBef>
                <a:spcPct val="0"/>
              </a:spcBef>
              <a:spcAft>
                <a:spcPct val="0"/>
              </a:spcAft>
            </a:pPr>
            <a:endParaRPr lang="en-US" sz="4190" b="1" i="0" u="none" strike="noStrike" dirty="0">
              <a:solidFill>
                <a:srgbClr val="D94F3A"/>
              </a:solidFill>
              <a:latin typeface="Embedded Playfair Display"/>
            </a:endParaRPr>
          </a:p>
          <a:p>
            <a:pPr marL="0" algn="l">
              <a:lnSpc>
                <a:spcPct val="150000"/>
              </a:lnSpc>
              <a:spcBef>
                <a:spcPct val="0"/>
              </a:spcBef>
              <a:spcAft>
                <a:spcPct val="0"/>
              </a:spcAft>
            </a:pPr>
            <a:r>
              <a:rPr lang="en-US" sz="100" dirty="0">
                <a:latin typeface="Embedded Playfair Display"/>
              </a:rPr>
              <a:t> </a:t>
            </a:r>
          </a:p>
        </p:txBody>
      </p:sp>
      <p:sp>
        <p:nvSpPr>
          <p:cNvPr id="19" name="TextBox 19"/>
          <p:cNvSpPr txBox="1"/>
          <p:nvPr/>
        </p:nvSpPr>
        <p:spPr>
          <a:xfrm>
            <a:off x="12966095" y="3140226"/>
            <a:ext cx="9724571" cy="4632174"/>
          </a:xfrm>
          <a:prstGeom prst="rect">
            <a:avLst/>
          </a:prstGeom>
        </p:spPr>
        <p:txBody>
          <a:bodyPr wrap="none" lIns="0" tIns="0" rIns="0" bIns="0" rtlCol="0" anchor="ctr"/>
          <a:lstStyle/>
          <a:p>
            <a:pPr marL="0" algn="l">
              <a:lnSpc>
                <a:spcPct val="150000"/>
              </a:lnSpc>
              <a:spcBef>
                <a:spcPct val="0"/>
              </a:spcBef>
              <a:spcAft>
                <a:spcPct val="0"/>
              </a:spcAft>
            </a:pPr>
            <a:r>
              <a:rPr lang="en-US" sz="100" dirty="0">
                <a:latin typeface="Embedded Playfair Display"/>
              </a:rPr>
              <a:t> </a:t>
            </a:r>
          </a:p>
          <a:p>
            <a:pPr marL="0" algn="l" fontAlgn="base">
              <a:lnSpc>
                <a:spcPct val="150000"/>
              </a:lnSpc>
              <a:spcBef>
                <a:spcPct val="0"/>
              </a:spcBef>
              <a:spcAft>
                <a:spcPct val="0"/>
              </a:spcAft>
            </a:pPr>
            <a:r>
              <a:rPr lang="en-US" sz="4190" b="1" i="0" u="none" strike="noStrike" dirty="0">
                <a:solidFill>
                  <a:srgbClr val="D94F3A"/>
                </a:solidFill>
                <a:latin typeface="Embedded Playfair Display"/>
              </a:rPr>
              <a:t>Future Work:</a:t>
            </a:r>
          </a:p>
          <a:p>
            <a:pPr marL="457200" indent="-457200" fontAlgn="base">
              <a:lnSpc>
                <a:spcPct val="150000"/>
              </a:lnSpc>
              <a:spcBef>
                <a:spcPct val="0"/>
              </a:spcBef>
              <a:spcAft>
                <a:spcPct val="0"/>
              </a:spcAft>
              <a:buFont typeface="Wingdings" panose="05000000000000000000" pitchFamily="2" charset="2"/>
              <a:buChar char="Ø"/>
            </a:pPr>
            <a:r>
              <a:rPr lang="en-US" sz="2800" b="1" dirty="0">
                <a:latin typeface="Arial" panose="020B0604020202020204" pitchFamily="34" charset="0"/>
                <a:cs typeface="Arial" panose="020B0604020202020204" pitchFamily="34" charset="0"/>
              </a:rPr>
              <a:t>Multimodal Integration:</a:t>
            </a:r>
            <a:r>
              <a:rPr lang="en-US" sz="2800" dirty="0">
                <a:latin typeface="Arial" panose="020B0604020202020204" pitchFamily="34" charset="0"/>
                <a:cs typeface="Arial" panose="020B0604020202020204" pitchFamily="34" charset="0"/>
              </a:rPr>
              <a:t> Combine text processing with </a:t>
            </a:r>
          </a:p>
          <a:p>
            <a:pPr fontAlgn="base">
              <a:lnSpc>
                <a:spcPct val="150000"/>
              </a:lnSpc>
              <a:spcBef>
                <a:spcPct val="0"/>
              </a:spcBef>
              <a:spcAft>
                <a:spcPct val="0"/>
              </a:spcAft>
            </a:pPr>
            <a:r>
              <a:rPr lang="en-US" sz="2800" dirty="0">
                <a:latin typeface="Arial" panose="020B0604020202020204" pitchFamily="34" charset="0"/>
                <a:cs typeface="Arial" panose="020B0604020202020204" pitchFamily="34" charset="0"/>
              </a:rPr>
              <a:t>Vision Transformers to analyze accompanying images and </a:t>
            </a:r>
          </a:p>
          <a:p>
            <a:pPr fontAlgn="base">
              <a:lnSpc>
                <a:spcPct val="150000"/>
              </a:lnSpc>
              <a:spcBef>
                <a:spcPct val="0"/>
              </a:spcBef>
              <a:spcAft>
                <a:spcPct val="0"/>
              </a:spcAft>
            </a:pPr>
            <a:r>
              <a:rPr lang="en-US" sz="2800" dirty="0">
                <a:latin typeface="Arial" panose="020B0604020202020204" pitchFamily="34" charset="0"/>
                <a:cs typeface="Arial" panose="020B0604020202020204" pitchFamily="34" charset="0"/>
              </a:rPr>
              <a:t>deepfakes.</a:t>
            </a:r>
            <a:endParaRPr lang="en-US" sz="2800" b="1" i="0" u="none" strike="noStrike" dirty="0">
              <a:solidFill>
                <a:srgbClr val="D94F3A"/>
              </a:solidFill>
              <a:latin typeface="Arial" panose="020B0604020202020204" pitchFamily="34" charset="0"/>
              <a:cs typeface="Arial" panose="020B0604020202020204" pitchFamily="34" charset="0"/>
            </a:endParaRPr>
          </a:p>
          <a:p>
            <a:pPr marL="457200" indent="-457200" fontAlgn="base">
              <a:lnSpc>
                <a:spcPct val="150000"/>
              </a:lnSpc>
              <a:spcBef>
                <a:spcPct val="0"/>
              </a:spcBef>
              <a:spcAft>
                <a:spcPct val="0"/>
              </a:spcAft>
              <a:buFont typeface="Wingdings" panose="05000000000000000000" pitchFamily="2" charset="2"/>
              <a:buChar char="Ø"/>
            </a:pPr>
            <a:r>
              <a:rPr lang="en-US" sz="2800" b="1" dirty="0">
                <a:latin typeface="Arial" panose="020B0604020202020204" pitchFamily="34" charset="0"/>
                <a:cs typeface="Arial" panose="020B0604020202020204" pitchFamily="34" charset="0"/>
              </a:rPr>
              <a:t>Real Time Knowledge Retrieval</a:t>
            </a:r>
            <a:r>
              <a:rPr lang="en-US" sz="2800" dirty="0">
                <a:latin typeface="Arial" panose="020B0604020202020204" pitchFamily="34" charset="0"/>
                <a:cs typeface="Arial" panose="020B0604020202020204" pitchFamily="34" charset="0"/>
              </a:rPr>
              <a:t>: Live news archive cross</a:t>
            </a:r>
          </a:p>
          <a:p>
            <a:pPr fontAlgn="base">
              <a:lnSpc>
                <a:spcPct val="150000"/>
              </a:lnSpc>
              <a:spcBef>
                <a:spcPct val="0"/>
              </a:spcBef>
              <a:spcAft>
                <a:spcPct val="0"/>
              </a:spcAft>
            </a:pPr>
            <a:r>
              <a:rPr lang="en-US" sz="2800" dirty="0">
                <a:latin typeface="Arial" panose="020B0604020202020204" pitchFamily="34" charset="0"/>
                <a:cs typeface="Arial" panose="020B0604020202020204" pitchFamily="34" charset="0"/>
              </a:rPr>
              <a:t> reference.</a:t>
            </a:r>
          </a:p>
          <a:p>
            <a:pPr marL="457200" indent="-457200" fontAlgn="base">
              <a:lnSpc>
                <a:spcPct val="150000"/>
              </a:lnSpc>
              <a:spcBef>
                <a:spcPct val="0"/>
              </a:spcBef>
              <a:spcAft>
                <a:spcPct val="0"/>
              </a:spcAft>
              <a:buFont typeface="Wingdings" panose="05000000000000000000" pitchFamily="2" charset="2"/>
              <a:buChar char="Ø"/>
            </a:pPr>
            <a:r>
              <a:rPr lang="en-US" sz="2800" b="1" dirty="0">
                <a:latin typeface="Arial" panose="020B0604020202020204" pitchFamily="34" charset="0"/>
                <a:cs typeface="Arial" panose="020B0604020202020204" pitchFamily="34" charset="0"/>
              </a:rPr>
              <a:t>Edge Model Quantization</a:t>
            </a:r>
            <a:r>
              <a:rPr lang="en-US" sz="2800" dirty="0">
                <a:latin typeface="Arial" panose="020B0604020202020204" pitchFamily="34" charset="0"/>
                <a:cs typeface="Arial" panose="020B0604020202020204" pitchFamily="34" charset="0"/>
              </a:rPr>
              <a:t>: Pruning pipeline to reduce </a:t>
            </a:r>
          </a:p>
          <a:p>
            <a:pPr fontAlgn="base">
              <a:lnSpc>
                <a:spcPct val="150000"/>
              </a:lnSpc>
              <a:spcBef>
                <a:spcPct val="0"/>
              </a:spcBef>
              <a:spcAft>
                <a:spcPct val="0"/>
              </a:spcAft>
            </a:pPr>
            <a:r>
              <a:rPr lang="en-US" sz="2800" dirty="0">
                <a:latin typeface="Arial" panose="020B0604020202020204" pitchFamily="34" charset="0"/>
                <a:cs typeface="Arial" panose="020B0604020202020204" pitchFamily="34" charset="0"/>
              </a:rPr>
              <a:t>latency</a:t>
            </a:r>
            <a:endParaRPr lang="en-US" sz="2800" b="1" i="0" u="none" strike="noStrike" dirty="0">
              <a:solidFill>
                <a:srgbClr val="D94F3A"/>
              </a:solidFill>
              <a:latin typeface="Arial" panose="020B0604020202020204" pitchFamily="34" charset="0"/>
              <a:cs typeface="Arial" panose="020B0604020202020204" pitchFamily="34" charset="0"/>
            </a:endParaRPr>
          </a:p>
          <a:p>
            <a:pPr marL="0" algn="l">
              <a:lnSpc>
                <a:spcPct val="150000"/>
              </a:lnSpc>
              <a:spcBef>
                <a:spcPct val="0"/>
              </a:spcBef>
              <a:spcAft>
                <a:spcPct val="0"/>
              </a:spcAft>
            </a:pPr>
            <a:r>
              <a:rPr lang="en-US" sz="100" dirty="0">
                <a:latin typeface="Arial" panose="020B0604020202020204" pitchFamily="34" charset="0"/>
                <a:cs typeface="Arial" panose="020B0604020202020204" pitchFamily="34" charset="0"/>
              </a:rPr>
              <a:t> </a:t>
            </a:r>
          </a:p>
        </p:txBody>
      </p:sp>
      <p:sp>
        <p:nvSpPr>
          <p:cNvPr id="21" name="TextBox 21"/>
          <p:cNvSpPr txBox="1"/>
          <p:nvPr/>
        </p:nvSpPr>
        <p:spPr>
          <a:xfrm>
            <a:off x="22690666" y="597785"/>
            <a:ext cx="452755"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12</a:t>
            </a:r>
            <a:endParaRPr lang="en-US" sz="3337" b="0" i="0" u="none" strike="noStrike" dirty="0">
              <a:solidFill>
                <a:srgbClr val="F2F0EC"/>
              </a:solidFill>
              <a:latin typeface="Embedded Inter"/>
            </a:endParaRPr>
          </a:p>
          <a:p>
            <a:pPr marL="0" algn="l">
              <a:lnSpc>
                <a:spcPct val="110000"/>
              </a:lnSpc>
              <a:spcBef>
                <a:spcPct val="0"/>
              </a:spcBef>
              <a:spcAft>
                <a:spcPct val="0"/>
              </a:spcAft>
            </a:pPr>
            <a:r>
              <a:rPr lang="en-US" sz="100" dirty="0">
                <a:latin typeface="Embedded Inter"/>
              </a:rPr>
              <a:t> </a:t>
            </a:r>
          </a:p>
        </p:txBody>
      </p:sp>
      <p:pic>
        <p:nvPicPr>
          <p:cNvPr id="13" name="Picture 16">
            <a:extLst>
              <a:ext uri="{FF2B5EF4-FFF2-40B4-BE49-F238E27FC236}">
                <a16:creationId xmlns:a16="http://schemas.microsoft.com/office/drawing/2014/main" id="{3C9FC385-0944-823A-A3EF-7C751E96DE0F}"/>
              </a:ext>
            </a:extLst>
          </p:cNvPr>
          <p:cNvPicPr>
            <a:picLocks noChangeAspect="1"/>
          </p:cNvPicPr>
          <p:nvPr/>
        </p:nvPicPr>
        <p:blipFill>
          <a:blip r:embed="rId10"/>
          <a:stretch>
            <a:fillRect/>
          </a:stretch>
        </p:blipFill>
        <p:spPr>
          <a:xfrm>
            <a:off x="22206856" y="-1270000"/>
            <a:ext cx="3193143" cy="3193143"/>
          </a:xfrm>
          <a:prstGeom prst="rect">
            <a:avLst/>
          </a:prstGeom>
        </p:spPr>
      </p:pic>
      <p:sp>
        <p:nvSpPr>
          <p:cNvPr id="15" name="TextBox 17">
            <a:extLst>
              <a:ext uri="{FF2B5EF4-FFF2-40B4-BE49-F238E27FC236}">
                <a16:creationId xmlns:a16="http://schemas.microsoft.com/office/drawing/2014/main" id="{E139BA42-D2A2-1C3E-1813-9FC8A884CACF}"/>
              </a:ext>
            </a:extLst>
          </p:cNvPr>
          <p:cNvSpPr txBox="1"/>
          <p:nvPr/>
        </p:nvSpPr>
        <p:spPr>
          <a:xfrm>
            <a:off x="22972790" y="616857"/>
            <a:ext cx="565770"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621" dirty="0">
                <a:solidFill>
                  <a:srgbClr val="F2F0EC"/>
                </a:solidFill>
                <a:latin typeface="Embedded Inter"/>
              </a:rPr>
              <a:t>13</a:t>
            </a:r>
            <a:endParaRPr lang="en-US" sz="3621" b="0" i="0" u="none" strike="noStrike" dirty="0">
              <a:solidFill>
                <a:srgbClr val="F2F0EC"/>
              </a:solidFill>
              <a:latin typeface="Embedded Inter"/>
            </a:endParaRPr>
          </a:p>
          <a:p>
            <a:pPr marL="0" algn="l">
              <a:lnSpc>
                <a:spcPct val="110000"/>
              </a:lnSpc>
              <a:spcBef>
                <a:spcPct val="0"/>
              </a:spcBef>
              <a:spcAft>
                <a:spcPct val="0"/>
              </a:spcAft>
            </a:pPr>
            <a:r>
              <a:rPr lang="en-US" sz="100" dirty="0">
                <a:latin typeface="Embedded Inter"/>
              </a:rPr>
              <a:t> </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26572"/>
            <a:ext cx="23222857" cy="13062857"/>
          </a:xfrm>
          <a:prstGeom prst="rect">
            <a:avLst/>
          </a:prstGeom>
        </p:spPr>
      </p:pic>
      <p:pic>
        <p:nvPicPr>
          <p:cNvPr id="6" name="Picture 6"/>
          <p:cNvPicPr>
            <a:picLocks noChangeAspect="1"/>
          </p:cNvPicPr>
          <p:nvPr/>
        </p:nvPicPr>
        <p:blipFill>
          <a:blip r:embed="rId7"/>
          <a:stretch>
            <a:fillRect/>
          </a:stretch>
        </p:blipFill>
        <p:spPr>
          <a:xfrm>
            <a:off x="1693333" y="2032396"/>
            <a:ext cx="3564467" cy="118816"/>
          </a:xfrm>
          <a:prstGeom prst="rect">
            <a:avLst/>
          </a:prstGeom>
        </p:spPr>
      </p:pic>
      <p:sp>
        <p:nvSpPr>
          <p:cNvPr id="7" name="TextBox 7"/>
          <p:cNvSpPr txBox="1"/>
          <p:nvPr/>
        </p:nvSpPr>
        <p:spPr>
          <a:xfrm>
            <a:off x="1693333" y="1149048"/>
            <a:ext cx="24146934" cy="975179"/>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Playfair Display"/>
              </a:rPr>
              <a:t> </a:t>
            </a:r>
          </a:p>
          <a:p>
            <a:pPr marL="0" algn="l" fontAlgn="base">
              <a:lnSpc>
                <a:spcPct val="100000"/>
              </a:lnSpc>
              <a:spcBef>
                <a:spcPct val="0"/>
              </a:spcBef>
              <a:spcAft>
                <a:spcPct val="0"/>
              </a:spcAft>
            </a:pPr>
            <a:r>
              <a:rPr lang="en-US" sz="5760" b="1" i="0" u="none" strike="noStrike" spc="-80" dirty="0">
                <a:solidFill>
                  <a:srgbClr val="111111"/>
                </a:solidFill>
                <a:latin typeface="Embedded Playfair Display"/>
              </a:rPr>
              <a:t>Reference</a:t>
            </a:r>
            <a:r>
              <a:rPr lang="en-US" sz="5760" b="1" i="0" u="none" strike="noStrike" dirty="0">
                <a:solidFill>
                  <a:srgbClr val="111111"/>
                </a:solidFill>
                <a:latin typeface="Embedded Playfair Display"/>
              </a:rPr>
              <a:t>s</a:t>
            </a:r>
          </a:p>
          <a:p>
            <a:pPr marL="0" algn="l">
              <a:lnSpc>
                <a:spcPct val="110000"/>
              </a:lnSpc>
              <a:spcBef>
                <a:spcPct val="0"/>
              </a:spcBef>
              <a:spcAft>
                <a:spcPct val="0"/>
              </a:spcAft>
            </a:pPr>
            <a:r>
              <a:rPr lang="en-US" sz="100" dirty="0">
                <a:latin typeface="Embedded Playfair Display"/>
              </a:rPr>
              <a:t> </a:t>
            </a:r>
          </a:p>
        </p:txBody>
      </p:sp>
      <p:pic>
        <p:nvPicPr>
          <p:cNvPr id="16" name="Picture 16"/>
          <p:cNvPicPr>
            <a:picLocks noChangeAspect="1"/>
          </p:cNvPicPr>
          <p:nvPr/>
        </p:nvPicPr>
        <p:blipFill>
          <a:blip r:embed="rId8"/>
          <a:stretch>
            <a:fillRect/>
          </a:stretch>
        </p:blipFill>
        <p:spPr>
          <a:xfrm>
            <a:off x="22206856" y="-1270000"/>
            <a:ext cx="3193143" cy="3193143"/>
          </a:xfrm>
          <a:prstGeom prst="rect">
            <a:avLst/>
          </a:prstGeom>
        </p:spPr>
      </p:pic>
      <p:sp>
        <p:nvSpPr>
          <p:cNvPr id="17" name="TextBox 17"/>
          <p:cNvSpPr txBox="1"/>
          <p:nvPr/>
        </p:nvSpPr>
        <p:spPr>
          <a:xfrm>
            <a:off x="22972790" y="616857"/>
            <a:ext cx="565770" cy="580571"/>
          </a:xfrm>
          <a:prstGeom prst="rect">
            <a:avLst/>
          </a:prstGeom>
        </p:spPr>
        <p:txBody>
          <a:bodyPr wrap="none" lIns="0" tIns="0" rIns="0" bIns="0" rtlCol="0" anchor="t"/>
          <a:lstStyle/>
          <a:p>
            <a:pPr marL="0" algn="l">
              <a:lnSpc>
                <a:spcPct val="110000"/>
              </a:lnSpc>
              <a:spcBef>
                <a:spcPct val="0"/>
              </a:spcBef>
              <a:spcAft>
                <a:spcPct val="0"/>
              </a:spcAft>
            </a:pPr>
            <a:r>
              <a:rPr lang="en-US" sz="100" dirty="0">
                <a:latin typeface="Embedded Inter"/>
              </a:rPr>
              <a:t> </a:t>
            </a:r>
          </a:p>
          <a:p>
            <a:pPr marL="0" algn="l" fontAlgn="base">
              <a:lnSpc>
                <a:spcPct val="100000"/>
              </a:lnSpc>
              <a:spcBef>
                <a:spcPct val="0"/>
              </a:spcBef>
              <a:spcAft>
                <a:spcPct val="0"/>
              </a:spcAft>
            </a:pPr>
            <a:r>
              <a:rPr lang="en-US" sz="3621" dirty="0">
                <a:solidFill>
                  <a:srgbClr val="F2F0EC"/>
                </a:solidFill>
                <a:latin typeface="Embedded Inter"/>
              </a:rPr>
              <a:t>14</a:t>
            </a:r>
            <a:endParaRPr lang="en-US" sz="3621" b="0" i="0" u="none" strike="noStrike" dirty="0">
              <a:solidFill>
                <a:srgbClr val="F2F0EC"/>
              </a:solidFill>
              <a:latin typeface="Embedded Inter"/>
            </a:endParaRPr>
          </a:p>
          <a:p>
            <a:pPr marL="0" algn="l">
              <a:lnSpc>
                <a:spcPct val="110000"/>
              </a:lnSpc>
              <a:spcBef>
                <a:spcPct val="0"/>
              </a:spcBef>
              <a:spcAft>
                <a:spcPct val="0"/>
              </a:spcAft>
            </a:pPr>
            <a:r>
              <a:rPr lang="en-US" sz="100" dirty="0">
                <a:latin typeface="Embedded Inter"/>
              </a:rPr>
              <a:t> </a:t>
            </a:r>
          </a:p>
        </p:txBody>
      </p:sp>
      <p:sp>
        <p:nvSpPr>
          <p:cNvPr id="19" name="TextBox 18">
            <a:extLst>
              <a:ext uri="{FF2B5EF4-FFF2-40B4-BE49-F238E27FC236}">
                <a16:creationId xmlns:a16="http://schemas.microsoft.com/office/drawing/2014/main" id="{C08D047A-288C-EF74-9C5D-C7E8A3C01D31}"/>
              </a:ext>
            </a:extLst>
          </p:cNvPr>
          <p:cNvSpPr txBox="1"/>
          <p:nvPr/>
        </p:nvSpPr>
        <p:spPr>
          <a:xfrm>
            <a:off x="1718732" y="2477784"/>
            <a:ext cx="20836467" cy="9995813"/>
          </a:xfrm>
          <a:prstGeom prst="rect">
            <a:avLst/>
          </a:prstGeom>
          <a:noFill/>
        </p:spPr>
        <p:txBody>
          <a:bodyPr wrap="square">
            <a:spAutoFit/>
          </a:bodyPr>
          <a:lstStyle/>
          <a:p>
            <a:pPr marL="114300" marR="0" lvl="0" indent="-457200" algn="l">
              <a:lnSpc>
                <a:spcPct val="150000"/>
              </a:lnSpc>
              <a:buFont typeface="+mj-lt"/>
              <a:buAutoNum type="arabicParenR"/>
            </a:pPr>
            <a:r>
              <a:rPr lang="en-US" sz="2400" b="0" i="0" dirty="0">
                <a:solidFill>
                  <a:schemeClr val="tx1"/>
                </a:solidFill>
                <a:effectLst/>
                <a:latin typeface="Arial" panose="020B0604020202020204" pitchFamily="34" charset="0"/>
                <a:cs typeface="Arial" panose="020B0604020202020204" pitchFamily="34" charset="0"/>
              </a:rPr>
              <a:t> J. Devlin, M. W. Chang, K. Lee, and K. Toutanova, </a:t>
            </a:r>
            <a:r>
              <a:rPr lang="en-US" sz="2400" b="0" i="1" dirty="0">
                <a:solidFill>
                  <a:schemeClr val="tx1"/>
                </a:solidFill>
                <a:effectLst/>
                <a:latin typeface="Arial" panose="020B0604020202020204" pitchFamily="34" charset="0"/>
                <a:cs typeface="Arial" panose="020B0604020202020204" pitchFamily="34" charset="0"/>
              </a:rPr>
              <a:t>"BERT: Pre-training of Deep Bidirectional Transformers for Language Understanding,"</a:t>
            </a:r>
            <a:r>
              <a:rPr lang="en-US" sz="2400" b="0" i="0" dirty="0">
                <a:solidFill>
                  <a:schemeClr val="tx1"/>
                </a:solidFill>
                <a:effectLst/>
                <a:latin typeface="Arial" panose="020B0604020202020204" pitchFamily="34" charset="0"/>
                <a:cs typeface="Arial" panose="020B0604020202020204" pitchFamily="34" charset="0"/>
              </a:rPr>
              <a:t> in </a:t>
            </a:r>
            <a:r>
              <a:rPr lang="en-US" sz="2400" b="0" i="1" dirty="0">
                <a:solidFill>
                  <a:schemeClr val="tx1"/>
                </a:solidFill>
                <a:effectLst/>
                <a:latin typeface="Arial" panose="020B0604020202020204" pitchFamily="34" charset="0"/>
                <a:cs typeface="Arial" panose="020B0604020202020204" pitchFamily="34" charset="0"/>
              </a:rPr>
              <a:t>Proc. Conf. North Amer. Chapter Assoc. </a:t>
            </a:r>
            <a:r>
              <a:rPr lang="en-US" sz="2400" b="0" i="1" dirty="0" err="1">
                <a:solidFill>
                  <a:schemeClr val="tx1"/>
                </a:solidFill>
                <a:effectLst/>
                <a:latin typeface="Arial" panose="020B0604020202020204" pitchFamily="34" charset="0"/>
                <a:cs typeface="Arial" panose="020B0604020202020204" pitchFamily="34" charset="0"/>
              </a:rPr>
              <a:t>Comput</a:t>
            </a:r>
            <a:r>
              <a:rPr lang="en-US" sz="2400" b="0" i="1" dirty="0">
                <a:solidFill>
                  <a:schemeClr val="tx1"/>
                </a:solidFill>
                <a:effectLst/>
                <a:latin typeface="Arial" panose="020B0604020202020204" pitchFamily="34" charset="0"/>
                <a:cs typeface="Arial" panose="020B0604020202020204" pitchFamily="34" charset="0"/>
              </a:rPr>
              <a:t>. Linguistics: Hum. Lang. Technol. (NAACL-HLT)</a:t>
            </a:r>
            <a:r>
              <a:rPr lang="en-US" sz="2400" b="0" i="0" dirty="0">
                <a:solidFill>
                  <a:schemeClr val="tx1"/>
                </a:solidFill>
                <a:effectLst/>
                <a:latin typeface="Arial" panose="020B0604020202020204" pitchFamily="34" charset="0"/>
                <a:cs typeface="Arial" panose="020B0604020202020204" pitchFamily="34" charset="0"/>
              </a:rPr>
              <a:t>, Minneapolis, MN, USA, 2019, pp. 4171–4186. </a:t>
            </a:r>
            <a:r>
              <a:rPr lang="en-US" sz="2400" b="1" i="0" dirty="0">
                <a:solidFill>
                  <a:schemeClr val="tx1"/>
                </a:solidFill>
                <a:effectLst/>
                <a:latin typeface="Arial" panose="020B0604020202020204" pitchFamily="34" charset="0"/>
                <a:cs typeface="Arial" panose="020B0604020202020204" pitchFamily="34" charset="0"/>
              </a:rPr>
              <a:t>DOI:</a:t>
            </a:r>
            <a:r>
              <a:rPr lang="en-US" sz="2400" b="0" i="0" dirty="0">
                <a:solidFill>
                  <a:schemeClr val="tx1"/>
                </a:solidFill>
                <a:effectLst/>
                <a:latin typeface="Arial" panose="020B0604020202020204" pitchFamily="34" charset="0"/>
                <a:cs typeface="Arial" panose="020B0604020202020204" pitchFamily="34" charset="0"/>
              </a:rPr>
              <a:t> </a:t>
            </a:r>
            <a:r>
              <a:rPr lang="en-US" sz="2400" b="0" i="0" dirty="0">
                <a:solidFill>
                  <a:schemeClr val="tx1"/>
                </a:solidFill>
                <a:effectLst/>
                <a:latin typeface="Arial" panose="020B0604020202020204" pitchFamily="34" charset="0"/>
                <a:cs typeface="Arial" panose="020B0604020202020204" pitchFamily="34" charset="0"/>
                <a:hlinkClick r:id="rId9"/>
              </a:rPr>
              <a:t>https://doi.org/10.18653/v1/N19-1423</a:t>
            </a:r>
            <a:endParaRPr lang="en-US" sz="2400" b="0" i="0" dirty="0">
              <a:solidFill>
                <a:schemeClr val="tx1"/>
              </a:solidFill>
              <a:effectLst/>
              <a:latin typeface="Arial" panose="020B0604020202020204" pitchFamily="34" charset="0"/>
              <a:cs typeface="Arial" panose="020B0604020202020204" pitchFamily="34" charset="0"/>
            </a:endParaRPr>
          </a:p>
          <a:p>
            <a:pPr marL="114300" marR="0" lvl="0" indent="-457200" algn="l">
              <a:lnSpc>
                <a:spcPct val="150000"/>
              </a:lnSpc>
              <a:buFont typeface="+mj-lt"/>
              <a:buAutoNum type="arabicParenR"/>
            </a:pPr>
            <a:r>
              <a:rPr lang="en-US" sz="2400" b="0" i="0" dirty="0">
                <a:solidFill>
                  <a:schemeClr val="tx1"/>
                </a:solidFill>
                <a:effectLst/>
                <a:latin typeface="Arial" panose="020B0604020202020204" pitchFamily="34" charset="0"/>
                <a:cs typeface="Arial" panose="020B0604020202020204" pitchFamily="34" charset="0"/>
              </a:rPr>
              <a:t>F. Bhattacharjee, T. Hasan, W. Ahmad, K. S. Hasan, M. </a:t>
            </a:r>
            <a:r>
              <a:rPr lang="en-US" sz="2400" b="0" i="0" dirty="0" err="1">
                <a:solidFill>
                  <a:schemeClr val="tx1"/>
                </a:solidFill>
                <a:effectLst/>
                <a:latin typeface="Arial" panose="020B0604020202020204" pitchFamily="34" charset="0"/>
                <a:cs typeface="Arial" panose="020B0604020202020204" pitchFamily="34" charset="0"/>
              </a:rPr>
              <a:t>Shahmateen</a:t>
            </a:r>
            <a:r>
              <a:rPr lang="en-US" sz="2400" b="0" i="0" dirty="0">
                <a:solidFill>
                  <a:schemeClr val="tx1"/>
                </a:solidFill>
                <a:effectLst/>
                <a:latin typeface="Arial" panose="020B0604020202020204" pitchFamily="34" charset="0"/>
                <a:cs typeface="Arial" panose="020B0604020202020204" pitchFamily="34" charset="0"/>
              </a:rPr>
              <a:t>, and R. Shahriyar, </a:t>
            </a:r>
            <a:r>
              <a:rPr lang="en-US" sz="2400" b="0" i="1" dirty="0">
                <a:solidFill>
                  <a:schemeClr val="tx1"/>
                </a:solidFill>
                <a:effectLst/>
                <a:latin typeface="Arial" panose="020B0604020202020204" pitchFamily="34" charset="0"/>
                <a:cs typeface="Arial" panose="020B0604020202020204" pitchFamily="34" charset="0"/>
              </a:rPr>
              <a:t>"</a:t>
            </a:r>
            <a:r>
              <a:rPr lang="en-US" sz="2400" b="0" i="1" dirty="0" err="1">
                <a:solidFill>
                  <a:schemeClr val="tx1"/>
                </a:solidFill>
                <a:effectLst/>
                <a:latin typeface="Arial" panose="020B0604020202020204" pitchFamily="34" charset="0"/>
                <a:cs typeface="Arial" panose="020B0604020202020204" pitchFamily="34" charset="0"/>
              </a:rPr>
              <a:t>BanglaBERT</a:t>
            </a:r>
            <a:r>
              <a:rPr lang="en-US" sz="2400" b="0" i="1" dirty="0">
                <a:solidFill>
                  <a:schemeClr val="tx1"/>
                </a:solidFill>
                <a:effectLst/>
                <a:latin typeface="Arial" panose="020B0604020202020204" pitchFamily="34" charset="0"/>
                <a:cs typeface="Arial" panose="020B0604020202020204" pitchFamily="34" charset="0"/>
              </a:rPr>
              <a:t>: Language Model Pretraining and Benchmarks for Low-Resource Language Understanding in Bangla,"</a:t>
            </a:r>
            <a:r>
              <a:rPr lang="en-US" sz="2400" b="0" i="0" dirty="0">
                <a:solidFill>
                  <a:schemeClr val="tx1"/>
                </a:solidFill>
                <a:effectLst/>
                <a:latin typeface="Arial" panose="020B0604020202020204" pitchFamily="34" charset="0"/>
                <a:cs typeface="Arial" panose="020B0604020202020204" pitchFamily="34" charset="0"/>
              </a:rPr>
              <a:t> in </a:t>
            </a:r>
            <a:r>
              <a:rPr lang="en-US" sz="2400" b="0" i="1" dirty="0">
                <a:solidFill>
                  <a:schemeClr val="tx1"/>
                </a:solidFill>
                <a:effectLst/>
                <a:latin typeface="Arial" panose="020B0604020202020204" pitchFamily="34" charset="0"/>
                <a:cs typeface="Arial" panose="020B0604020202020204" pitchFamily="34" charset="0"/>
              </a:rPr>
              <a:t>Findings of Assoc. </a:t>
            </a:r>
            <a:r>
              <a:rPr lang="en-US" sz="2400" b="0" i="1" dirty="0" err="1">
                <a:solidFill>
                  <a:schemeClr val="tx1"/>
                </a:solidFill>
                <a:effectLst/>
                <a:latin typeface="Arial" panose="020B0604020202020204" pitchFamily="34" charset="0"/>
                <a:cs typeface="Arial" panose="020B0604020202020204" pitchFamily="34" charset="0"/>
              </a:rPr>
              <a:t>Comput</a:t>
            </a:r>
            <a:r>
              <a:rPr lang="en-US" sz="2400" b="0" i="1" dirty="0">
                <a:solidFill>
                  <a:schemeClr val="tx1"/>
                </a:solidFill>
                <a:effectLst/>
                <a:latin typeface="Arial" panose="020B0604020202020204" pitchFamily="34" charset="0"/>
                <a:cs typeface="Arial" panose="020B0604020202020204" pitchFamily="34" charset="0"/>
              </a:rPr>
              <a:t>. Linguistics: NAACL 2022</a:t>
            </a:r>
            <a:r>
              <a:rPr lang="en-US" sz="2400" b="0" i="0" dirty="0">
                <a:solidFill>
                  <a:schemeClr val="tx1"/>
                </a:solidFill>
                <a:effectLst/>
                <a:latin typeface="Arial" panose="020B0604020202020204" pitchFamily="34" charset="0"/>
                <a:cs typeface="Arial" panose="020B0604020202020204" pitchFamily="34" charset="0"/>
              </a:rPr>
              <a:t>, Seattle, WA, USA, 2022, pp. 1318–1327.</a:t>
            </a:r>
            <a:r>
              <a:rPr lang="en-US" sz="2400" b="1" i="0" dirty="0">
                <a:solidFill>
                  <a:schemeClr val="tx1"/>
                </a:solidFill>
                <a:effectLst/>
                <a:latin typeface="Arial" panose="020B0604020202020204" pitchFamily="34" charset="0"/>
                <a:cs typeface="Arial" panose="020B0604020202020204" pitchFamily="34" charset="0"/>
              </a:rPr>
              <a:t>DOI:</a:t>
            </a:r>
            <a:r>
              <a:rPr lang="en-US" sz="2400" b="0" i="0" dirty="0">
                <a:solidFill>
                  <a:schemeClr val="tx1"/>
                </a:solidFill>
                <a:effectLst/>
                <a:latin typeface="Arial" panose="020B0604020202020204" pitchFamily="34" charset="0"/>
                <a:cs typeface="Arial" panose="020B0604020202020204" pitchFamily="34" charset="0"/>
              </a:rPr>
              <a:t> </a:t>
            </a:r>
            <a:r>
              <a:rPr lang="en-US" sz="2400" b="0" i="0" dirty="0">
                <a:solidFill>
                  <a:schemeClr val="tx1"/>
                </a:solidFill>
                <a:effectLst/>
                <a:latin typeface="Arial" panose="020B0604020202020204" pitchFamily="34" charset="0"/>
                <a:cs typeface="Arial" panose="020B0604020202020204" pitchFamily="34" charset="0"/>
                <a:hlinkClick r:id="rId10"/>
              </a:rPr>
              <a:t>https://doi.org/10.18653/v1/2022.findings-naacl.98</a:t>
            </a:r>
            <a:endParaRPr lang="en-US" sz="2400" b="0" i="0" dirty="0">
              <a:solidFill>
                <a:schemeClr val="tx1"/>
              </a:solidFill>
              <a:effectLst/>
              <a:latin typeface="Arial" panose="020B0604020202020204" pitchFamily="34" charset="0"/>
              <a:cs typeface="Arial" panose="020B0604020202020204" pitchFamily="34" charset="0"/>
            </a:endParaRPr>
          </a:p>
          <a:p>
            <a:pPr marL="114300" marR="0" lvl="0" indent="-457200" algn="l">
              <a:lnSpc>
                <a:spcPct val="150000"/>
              </a:lnSpc>
              <a:buFont typeface="+mj-lt"/>
              <a:buAutoNum type="arabicParenR"/>
            </a:pPr>
            <a:r>
              <a:rPr lang="en-US" sz="2400" b="0" i="0" dirty="0">
                <a:solidFill>
                  <a:schemeClr val="tx1"/>
                </a:solidFill>
                <a:effectLst/>
                <a:latin typeface="Arial" panose="020B0604020202020204" pitchFamily="34" charset="0"/>
                <a:cs typeface="Arial" panose="020B0604020202020204" pitchFamily="34" charset="0"/>
              </a:rPr>
              <a:t>M. Z. Hossain, M. A. Rahman, M. S. Islam, and S. Kar, </a:t>
            </a:r>
            <a:r>
              <a:rPr lang="en-US" sz="2400" b="0" i="1" dirty="0">
                <a:solidFill>
                  <a:schemeClr val="tx1"/>
                </a:solidFill>
                <a:effectLst/>
                <a:latin typeface="Arial" panose="020B0604020202020204" pitchFamily="34" charset="0"/>
                <a:cs typeface="Arial" panose="020B0604020202020204" pitchFamily="34" charset="0"/>
              </a:rPr>
              <a:t>"</a:t>
            </a:r>
            <a:r>
              <a:rPr lang="en-US" sz="2400" b="0" i="1" dirty="0" err="1">
                <a:solidFill>
                  <a:schemeClr val="tx1"/>
                </a:solidFill>
                <a:effectLst/>
                <a:latin typeface="Arial" panose="020B0604020202020204" pitchFamily="34" charset="0"/>
                <a:cs typeface="Arial" panose="020B0604020202020204" pitchFamily="34" charset="0"/>
              </a:rPr>
              <a:t>BanFakeNews</a:t>
            </a:r>
            <a:r>
              <a:rPr lang="en-US" sz="2400" b="0" i="1" dirty="0">
                <a:solidFill>
                  <a:schemeClr val="tx1"/>
                </a:solidFill>
                <a:effectLst/>
                <a:latin typeface="Arial" panose="020B0604020202020204" pitchFamily="34" charset="0"/>
                <a:cs typeface="Arial" panose="020B0604020202020204" pitchFamily="34" charset="0"/>
              </a:rPr>
              <a:t>: A Dataset for Detecting Fake News in Bangla,"</a:t>
            </a:r>
            <a:r>
              <a:rPr lang="en-US" sz="2400" b="0" i="0" dirty="0">
                <a:solidFill>
                  <a:schemeClr val="tx1"/>
                </a:solidFill>
                <a:effectLst/>
                <a:latin typeface="Arial" panose="020B0604020202020204" pitchFamily="34" charset="0"/>
                <a:cs typeface="Arial" panose="020B0604020202020204" pitchFamily="34" charset="0"/>
              </a:rPr>
              <a:t> in </a:t>
            </a:r>
            <a:r>
              <a:rPr lang="en-US" sz="2400" b="0" i="1" dirty="0">
                <a:solidFill>
                  <a:schemeClr val="tx1"/>
                </a:solidFill>
                <a:effectLst/>
                <a:latin typeface="Arial" panose="020B0604020202020204" pitchFamily="34" charset="0"/>
                <a:cs typeface="Arial" panose="020B0604020202020204" pitchFamily="34" charset="0"/>
              </a:rPr>
              <a:t>Proc. 12th Lang. </a:t>
            </a:r>
            <a:r>
              <a:rPr lang="en-US" sz="2400" b="0" i="1" dirty="0" err="1">
                <a:solidFill>
                  <a:schemeClr val="tx1"/>
                </a:solidFill>
                <a:effectLst/>
                <a:latin typeface="Arial" panose="020B0604020202020204" pitchFamily="34" charset="0"/>
                <a:cs typeface="Arial" panose="020B0604020202020204" pitchFamily="34" charset="0"/>
              </a:rPr>
              <a:t>Resour</a:t>
            </a:r>
            <a:r>
              <a:rPr lang="en-US" sz="2400" b="0" i="1" dirty="0">
                <a:solidFill>
                  <a:schemeClr val="tx1"/>
                </a:solidFill>
                <a:effectLst/>
                <a:latin typeface="Arial" panose="020B0604020202020204" pitchFamily="34" charset="0"/>
                <a:cs typeface="Arial" panose="020B0604020202020204" pitchFamily="34" charset="0"/>
              </a:rPr>
              <a:t>. Eval. Conf. (LREC)</a:t>
            </a:r>
            <a:r>
              <a:rPr lang="en-US" sz="2400" b="0" i="0" dirty="0">
                <a:solidFill>
                  <a:schemeClr val="tx1"/>
                </a:solidFill>
                <a:effectLst/>
                <a:latin typeface="Arial" panose="020B0604020202020204" pitchFamily="34" charset="0"/>
                <a:cs typeface="Arial" panose="020B0604020202020204" pitchFamily="34" charset="0"/>
              </a:rPr>
              <a:t>, Marseille, France, 2020, pp. 2862–2871.</a:t>
            </a:r>
            <a:r>
              <a:rPr lang="en-US" sz="2400" dirty="0">
                <a:latin typeface="Arial" panose="020B0604020202020204" pitchFamily="34" charset="0"/>
                <a:cs typeface="Arial" panose="020B0604020202020204" pitchFamily="34" charset="0"/>
              </a:rPr>
              <a:t> </a:t>
            </a:r>
            <a:r>
              <a:rPr lang="en-US" sz="2400" b="1" i="0" dirty="0">
                <a:solidFill>
                  <a:schemeClr val="tx1"/>
                </a:solidFill>
                <a:effectLst/>
                <a:latin typeface="Arial" panose="020B0604020202020204" pitchFamily="34" charset="0"/>
                <a:cs typeface="Arial" panose="020B0604020202020204" pitchFamily="34" charset="0"/>
              </a:rPr>
              <a:t>URL:</a:t>
            </a:r>
            <a:r>
              <a:rPr lang="en-US" sz="2400" b="0" i="0" dirty="0">
                <a:solidFill>
                  <a:schemeClr val="tx1"/>
                </a:solidFill>
                <a:effectLst/>
                <a:latin typeface="Arial" panose="020B0604020202020204" pitchFamily="34" charset="0"/>
                <a:cs typeface="Arial" panose="020B0604020202020204" pitchFamily="34" charset="0"/>
              </a:rPr>
              <a:t> </a:t>
            </a:r>
            <a:r>
              <a:rPr lang="en-US" sz="2400" b="0" i="0" dirty="0">
                <a:solidFill>
                  <a:schemeClr val="tx1"/>
                </a:solidFill>
                <a:effectLst/>
                <a:latin typeface="Arial" panose="020B0604020202020204" pitchFamily="34" charset="0"/>
                <a:cs typeface="Arial" panose="020B0604020202020204" pitchFamily="34" charset="0"/>
                <a:hlinkClick r:id="rId11"/>
              </a:rPr>
              <a:t>https://aclanthology.org/2020.lrec-1.349</a:t>
            </a:r>
            <a:endParaRPr lang="en-US" sz="2400" b="0" i="0" dirty="0">
              <a:solidFill>
                <a:schemeClr val="tx1"/>
              </a:solidFill>
              <a:effectLst/>
              <a:latin typeface="Arial" panose="020B0604020202020204" pitchFamily="34" charset="0"/>
              <a:cs typeface="Arial" panose="020B0604020202020204" pitchFamily="34" charset="0"/>
            </a:endParaRPr>
          </a:p>
          <a:p>
            <a:pPr marL="114300" marR="0" lvl="0" indent="-457200" algn="l">
              <a:lnSpc>
                <a:spcPct val="150000"/>
              </a:lnSpc>
              <a:buFont typeface="+mj-lt"/>
              <a:buAutoNum type="arabicParenR"/>
            </a:pPr>
            <a:r>
              <a:rPr lang="en-US" sz="2400" b="0" i="0" dirty="0">
                <a:solidFill>
                  <a:schemeClr val="tx1"/>
                </a:solidFill>
                <a:effectLst/>
                <a:latin typeface="Arial" panose="020B0604020202020204" pitchFamily="34" charset="0"/>
                <a:cs typeface="Arial" panose="020B0604020202020204" pitchFamily="34" charset="0"/>
              </a:rPr>
              <a:t>P. Khosla, P. </a:t>
            </a:r>
            <a:r>
              <a:rPr lang="en-US" sz="2400" b="0" i="0" dirty="0" err="1">
                <a:solidFill>
                  <a:schemeClr val="tx1"/>
                </a:solidFill>
                <a:effectLst/>
                <a:latin typeface="Arial" panose="020B0604020202020204" pitchFamily="34" charset="0"/>
                <a:cs typeface="Arial" panose="020B0604020202020204" pitchFamily="34" charset="0"/>
              </a:rPr>
              <a:t>Teterwak</a:t>
            </a:r>
            <a:r>
              <a:rPr lang="en-US" sz="2400" b="0" i="0" dirty="0">
                <a:solidFill>
                  <a:schemeClr val="tx1"/>
                </a:solidFill>
                <a:effectLst/>
                <a:latin typeface="Arial" panose="020B0604020202020204" pitchFamily="34" charset="0"/>
                <a:cs typeface="Arial" panose="020B0604020202020204" pitchFamily="34" charset="0"/>
              </a:rPr>
              <a:t>, C. Wang, A. Sarna, Y. Tian, P. Isola, A. Maschinot, C. Liu, and D. Krishnan, </a:t>
            </a:r>
            <a:r>
              <a:rPr lang="en-US" sz="2400" b="0" i="1" dirty="0">
                <a:solidFill>
                  <a:schemeClr val="tx1"/>
                </a:solidFill>
                <a:effectLst/>
                <a:latin typeface="Arial" panose="020B0604020202020204" pitchFamily="34" charset="0"/>
                <a:cs typeface="Arial" panose="020B0604020202020204" pitchFamily="34" charset="0"/>
              </a:rPr>
              <a:t>"Supervised Contrastive Learning,"</a:t>
            </a:r>
            <a:r>
              <a:rPr lang="en-US" sz="2400" b="0" i="0" dirty="0">
                <a:solidFill>
                  <a:schemeClr val="tx1"/>
                </a:solidFill>
                <a:effectLst/>
                <a:latin typeface="Arial" panose="020B0604020202020204" pitchFamily="34" charset="0"/>
                <a:cs typeface="Arial" panose="020B0604020202020204" pitchFamily="34" charset="0"/>
              </a:rPr>
              <a:t> in </a:t>
            </a:r>
            <a:r>
              <a:rPr lang="en-US" sz="2400" b="0" i="1" dirty="0">
                <a:solidFill>
                  <a:schemeClr val="tx1"/>
                </a:solidFill>
                <a:effectLst/>
                <a:latin typeface="Arial" panose="020B0604020202020204" pitchFamily="34" charset="0"/>
                <a:cs typeface="Arial" panose="020B0604020202020204" pitchFamily="34" charset="0"/>
              </a:rPr>
              <a:t>Adv. Neural Inf. Process. Syst. (</a:t>
            </a:r>
            <a:r>
              <a:rPr lang="en-US" sz="2400" b="0" i="1" dirty="0" err="1">
                <a:solidFill>
                  <a:schemeClr val="tx1"/>
                </a:solidFill>
                <a:effectLst/>
                <a:latin typeface="Arial" panose="020B0604020202020204" pitchFamily="34" charset="0"/>
                <a:cs typeface="Arial" panose="020B0604020202020204" pitchFamily="34" charset="0"/>
              </a:rPr>
              <a:t>NeurIPS</a:t>
            </a:r>
            <a:r>
              <a:rPr lang="en-US" sz="2400" b="0" i="1" dirty="0">
                <a:solidFill>
                  <a:schemeClr val="tx1"/>
                </a:solidFill>
                <a:effectLst/>
                <a:latin typeface="Arial" panose="020B0604020202020204" pitchFamily="34" charset="0"/>
                <a:cs typeface="Arial" panose="020B0604020202020204" pitchFamily="34" charset="0"/>
              </a:rPr>
              <a:t>)</a:t>
            </a:r>
            <a:r>
              <a:rPr lang="en-US" sz="2400" b="0" i="0" dirty="0">
                <a:solidFill>
                  <a:schemeClr val="tx1"/>
                </a:solidFill>
                <a:effectLst/>
                <a:latin typeface="Arial" panose="020B0604020202020204" pitchFamily="34" charset="0"/>
                <a:cs typeface="Arial" panose="020B0604020202020204" pitchFamily="34" charset="0"/>
              </a:rPr>
              <a:t>, vol. 33, 2020, pp. 18661–18673.</a:t>
            </a:r>
            <a:r>
              <a:rPr lang="en-US" sz="2400" dirty="0">
                <a:latin typeface="Arial" panose="020B0604020202020204" pitchFamily="34" charset="0"/>
                <a:cs typeface="Arial" panose="020B0604020202020204" pitchFamily="34" charset="0"/>
              </a:rPr>
              <a:t> </a:t>
            </a:r>
            <a:r>
              <a:rPr lang="en-US" sz="2400" b="1" i="0" dirty="0">
                <a:solidFill>
                  <a:schemeClr val="tx1"/>
                </a:solidFill>
                <a:effectLst/>
                <a:latin typeface="Arial" panose="020B0604020202020204" pitchFamily="34" charset="0"/>
                <a:cs typeface="Arial" panose="020B0604020202020204" pitchFamily="34" charset="0"/>
              </a:rPr>
              <a:t>DOI:</a:t>
            </a:r>
            <a:r>
              <a:rPr lang="en-US" sz="2400" b="0" i="0" dirty="0">
                <a:solidFill>
                  <a:schemeClr val="tx1"/>
                </a:solidFill>
                <a:effectLst/>
                <a:latin typeface="Arial" panose="020B0604020202020204" pitchFamily="34" charset="0"/>
                <a:cs typeface="Arial" panose="020B0604020202020204" pitchFamily="34" charset="0"/>
              </a:rPr>
              <a:t> </a:t>
            </a:r>
            <a:r>
              <a:rPr lang="en-US" sz="2400" b="0" i="0" dirty="0">
                <a:solidFill>
                  <a:schemeClr val="tx1"/>
                </a:solidFill>
                <a:effectLst/>
                <a:latin typeface="Arial" panose="020B0604020202020204" pitchFamily="34" charset="0"/>
                <a:cs typeface="Arial" panose="020B0604020202020204" pitchFamily="34" charset="0"/>
                <a:hlinkClick r:id="rId12"/>
              </a:rPr>
              <a:t>https://doi.org/10.48550/arXiv.2004.11362</a:t>
            </a:r>
            <a:endParaRPr lang="en-US" sz="2400" b="0" i="0" dirty="0">
              <a:solidFill>
                <a:schemeClr val="tx1"/>
              </a:solidFill>
              <a:effectLst/>
              <a:latin typeface="Arial" panose="020B0604020202020204" pitchFamily="34" charset="0"/>
              <a:cs typeface="Arial" panose="020B0604020202020204" pitchFamily="34" charset="0"/>
            </a:endParaRPr>
          </a:p>
          <a:p>
            <a:pPr marL="114300" marR="0" lvl="0" indent="-457200" algn="l">
              <a:lnSpc>
                <a:spcPct val="150000"/>
              </a:lnSpc>
              <a:buFont typeface="+mj-lt"/>
              <a:buAutoNum type="arabicParenR"/>
            </a:pPr>
            <a:r>
              <a:rPr lang="en-US" sz="2400" b="0" i="0" dirty="0">
                <a:solidFill>
                  <a:schemeClr val="tx1"/>
                </a:solidFill>
                <a:effectLst/>
                <a:latin typeface="Arial" panose="020B0604020202020204" pitchFamily="34" charset="0"/>
                <a:cs typeface="Arial" panose="020B0604020202020204" pitchFamily="34" charset="0"/>
              </a:rPr>
              <a:t> T. Y. Lin, P. Goyal, R. </a:t>
            </a:r>
            <a:r>
              <a:rPr lang="en-US" sz="2400" b="0" i="0" dirty="0" err="1">
                <a:solidFill>
                  <a:schemeClr val="tx1"/>
                </a:solidFill>
                <a:effectLst/>
                <a:latin typeface="Arial" panose="020B0604020202020204" pitchFamily="34" charset="0"/>
                <a:cs typeface="Arial" panose="020B0604020202020204" pitchFamily="34" charset="0"/>
              </a:rPr>
              <a:t>Girshick</a:t>
            </a:r>
            <a:r>
              <a:rPr lang="en-US" sz="2400" b="0" i="0" dirty="0">
                <a:solidFill>
                  <a:schemeClr val="tx1"/>
                </a:solidFill>
                <a:effectLst/>
                <a:latin typeface="Arial" panose="020B0604020202020204" pitchFamily="34" charset="0"/>
                <a:cs typeface="Arial" panose="020B0604020202020204" pitchFamily="34" charset="0"/>
              </a:rPr>
              <a:t>, K. He, and P. </a:t>
            </a:r>
            <a:r>
              <a:rPr lang="en-US" sz="2400" b="0" i="0" dirty="0" err="1">
                <a:solidFill>
                  <a:schemeClr val="tx1"/>
                </a:solidFill>
                <a:effectLst/>
                <a:latin typeface="Arial" panose="020B0604020202020204" pitchFamily="34" charset="0"/>
                <a:cs typeface="Arial" panose="020B0604020202020204" pitchFamily="34" charset="0"/>
              </a:rPr>
              <a:t>Dollár</a:t>
            </a:r>
            <a:r>
              <a:rPr lang="en-US" sz="2400" b="0" i="0" dirty="0">
                <a:solidFill>
                  <a:schemeClr val="tx1"/>
                </a:solidFill>
                <a:effectLst/>
                <a:latin typeface="Arial" panose="020B0604020202020204" pitchFamily="34" charset="0"/>
                <a:cs typeface="Arial" panose="020B0604020202020204" pitchFamily="34" charset="0"/>
              </a:rPr>
              <a:t>, </a:t>
            </a:r>
            <a:r>
              <a:rPr lang="en-US" sz="2400" b="0" i="1" dirty="0">
                <a:solidFill>
                  <a:schemeClr val="tx1"/>
                </a:solidFill>
                <a:effectLst/>
                <a:latin typeface="Arial" panose="020B0604020202020204" pitchFamily="34" charset="0"/>
                <a:cs typeface="Arial" panose="020B0604020202020204" pitchFamily="34" charset="0"/>
              </a:rPr>
              <a:t>"Focal Loss for Dense Object Detection,"</a:t>
            </a:r>
            <a:r>
              <a:rPr lang="en-US" sz="2400" b="0" i="0" dirty="0">
                <a:solidFill>
                  <a:schemeClr val="tx1"/>
                </a:solidFill>
                <a:effectLst/>
                <a:latin typeface="Arial" panose="020B0604020202020204" pitchFamily="34" charset="0"/>
                <a:cs typeface="Arial" panose="020B0604020202020204" pitchFamily="34" charset="0"/>
              </a:rPr>
              <a:t> in </a:t>
            </a:r>
            <a:r>
              <a:rPr lang="en-US" sz="2400" b="0" i="1" dirty="0">
                <a:solidFill>
                  <a:schemeClr val="tx1"/>
                </a:solidFill>
                <a:effectLst/>
                <a:latin typeface="Arial" panose="020B0604020202020204" pitchFamily="34" charset="0"/>
                <a:cs typeface="Arial" panose="020B0604020202020204" pitchFamily="34" charset="0"/>
              </a:rPr>
              <a:t>Proc. IEEE Int. Conf. </a:t>
            </a:r>
            <a:r>
              <a:rPr lang="en-US" sz="2400" b="0" i="1" dirty="0" err="1">
                <a:solidFill>
                  <a:schemeClr val="tx1"/>
                </a:solidFill>
                <a:effectLst/>
                <a:latin typeface="Arial" panose="020B0604020202020204" pitchFamily="34" charset="0"/>
                <a:cs typeface="Arial" panose="020B0604020202020204" pitchFamily="34" charset="0"/>
              </a:rPr>
              <a:t>Comput</a:t>
            </a:r>
            <a:r>
              <a:rPr lang="en-US" sz="2400" b="0" i="1" dirty="0">
                <a:solidFill>
                  <a:schemeClr val="tx1"/>
                </a:solidFill>
                <a:effectLst/>
                <a:latin typeface="Arial" panose="020B0604020202020204" pitchFamily="34" charset="0"/>
                <a:cs typeface="Arial" panose="020B0604020202020204" pitchFamily="34" charset="0"/>
              </a:rPr>
              <a:t>. Vis. (ICCV)</a:t>
            </a:r>
            <a:r>
              <a:rPr lang="en-US" sz="2400" b="0" i="0" dirty="0">
                <a:solidFill>
                  <a:schemeClr val="tx1"/>
                </a:solidFill>
                <a:effectLst/>
                <a:latin typeface="Arial" panose="020B0604020202020204" pitchFamily="34" charset="0"/>
                <a:cs typeface="Arial" panose="020B0604020202020204" pitchFamily="34" charset="0"/>
              </a:rPr>
              <a:t>, Venice, Italy, 2017, pp. 2980–2988.</a:t>
            </a:r>
            <a:r>
              <a:rPr lang="en-US" sz="2400" dirty="0">
                <a:latin typeface="Arial" panose="020B0604020202020204" pitchFamily="34" charset="0"/>
                <a:cs typeface="Arial" panose="020B0604020202020204" pitchFamily="34" charset="0"/>
              </a:rPr>
              <a:t> </a:t>
            </a:r>
            <a:r>
              <a:rPr lang="en-US" sz="2400" b="1" i="0" dirty="0">
                <a:solidFill>
                  <a:schemeClr val="tx1"/>
                </a:solidFill>
                <a:effectLst/>
                <a:latin typeface="Arial" panose="020B0604020202020204" pitchFamily="34" charset="0"/>
                <a:cs typeface="Arial" panose="020B0604020202020204" pitchFamily="34" charset="0"/>
              </a:rPr>
              <a:t>DOI:</a:t>
            </a:r>
            <a:r>
              <a:rPr lang="en-US" sz="2400" b="0" i="0" dirty="0">
                <a:solidFill>
                  <a:schemeClr val="tx1"/>
                </a:solidFill>
                <a:effectLst/>
                <a:latin typeface="Arial" panose="020B0604020202020204" pitchFamily="34" charset="0"/>
                <a:cs typeface="Arial" panose="020B0604020202020204" pitchFamily="34" charset="0"/>
              </a:rPr>
              <a:t> </a:t>
            </a:r>
            <a:r>
              <a:rPr lang="en-US" sz="2400" b="0" i="0" dirty="0">
                <a:solidFill>
                  <a:schemeClr val="tx1"/>
                </a:solidFill>
                <a:effectLst/>
                <a:latin typeface="Arial" panose="020B0604020202020204" pitchFamily="34" charset="0"/>
                <a:cs typeface="Arial" panose="020B0604020202020204" pitchFamily="34" charset="0"/>
                <a:hlinkClick r:id="rId13"/>
              </a:rPr>
              <a:t>https://doi.org/10.1109/ICCV.2017.324</a:t>
            </a:r>
            <a:endParaRPr lang="en-US" sz="2400" b="0" i="0" dirty="0">
              <a:solidFill>
                <a:schemeClr val="tx1"/>
              </a:solidFill>
              <a:effectLst/>
              <a:latin typeface="Arial" panose="020B0604020202020204" pitchFamily="34" charset="0"/>
              <a:cs typeface="Arial" panose="020B0604020202020204" pitchFamily="34" charset="0"/>
            </a:endParaRPr>
          </a:p>
          <a:p>
            <a:pPr marL="114300" marR="0" lvl="0" indent="-457200" algn="l">
              <a:lnSpc>
                <a:spcPct val="150000"/>
              </a:lnSpc>
              <a:buFont typeface="+mj-lt"/>
              <a:buAutoNum type="arabicParenR"/>
            </a:pPr>
            <a:r>
              <a:rPr lang="en-US" sz="2400" b="0" i="0" dirty="0">
                <a:solidFill>
                  <a:schemeClr val="tx1"/>
                </a:solidFill>
                <a:effectLst/>
                <a:latin typeface="Arial" panose="020B0604020202020204" pitchFamily="34" charset="0"/>
                <a:cs typeface="Arial" panose="020B0604020202020204" pitchFamily="34" charset="0"/>
              </a:rPr>
              <a:t>Y. Kim, </a:t>
            </a:r>
            <a:r>
              <a:rPr lang="en-US" sz="2400" b="0" i="1" dirty="0">
                <a:solidFill>
                  <a:schemeClr val="tx1"/>
                </a:solidFill>
                <a:effectLst/>
                <a:latin typeface="Arial" panose="020B0604020202020204" pitchFamily="34" charset="0"/>
                <a:cs typeface="Arial" panose="020B0604020202020204" pitchFamily="34" charset="0"/>
              </a:rPr>
              <a:t>"Convolutional Neural Networks for Sentence Classification,"</a:t>
            </a:r>
            <a:r>
              <a:rPr lang="en-US" sz="2400" b="0" i="0" dirty="0">
                <a:solidFill>
                  <a:schemeClr val="tx1"/>
                </a:solidFill>
                <a:effectLst/>
                <a:latin typeface="Arial" panose="020B0604020202020204" pitchFamily="34" charset="0"/>
                <a:cs typeface="Arial" panose="020B0604020202020204" pitchFamily="34" charset="0"/>
              </a:rPr>
              <a:t> in </a:t>
            </a:r>
            <a:r>
              <a:rPr lang="en-US" sz="2400" b="0" i="1" dirty="0">
                <a:solidFill>
                  <a:schemeClr val="tx1"/>
                </a:solidFill>
                <a:effectLst/>
                <a:latin typeface="Arial" panose="020B0604020202020204" pitchFamily="34" charset="0"/>
                <a:cs typeface="Arial" panose="020B0604020202020204" pitchFamily="34" charset="0"/>
              </a:rPr>
              <a:t>Proc. Conf. Empirical Methods Nat. Lang. Process. (EMNLP)</a:t>
            </a:r>
            <a:r>
              <a:rPr lang="en-US" sz="2400" b="0" i="0" dirty="0">
                <a:solidFill>
                  <a:schemeClr val="tx1"/>
                </a:solidFill>
                <a:effectLst/>
                <a:latin typeface="Arial" panose="020B0604020202020204" pitchFamily="34" charset="0"/>
                <a:cs typeface="Arial" panose="020B0604020202020204" pitchFamily="34" charset="0"/>
              </a:rPr>
              <a:t>, Doha, Qatar, 2014, pp. 1746–1751. </a:t>
            </a:r>
            <a:r>
              <a:rPr lang="en-US" sz="2400" b="1" i="0" dirty="0">
                <a:solidFill>
                  <a:schemeClr val="tx1"/>
                </a:solidFill>
                <a:effectLst/>
                <a:latin typeface="Arial" panose="020B0604020202020204" pitchFamily="34" charset="0"/>
                <a:cs typeface="Arial" panose="020B0604020202020204" pitchFamily="34" charset="0"/>
              </a:rPr>
              <a:t>DOI:</a:t>
            </a:r>
            <a:r>
              <a:rPr lang="en-US" sz="2400" b="0" i="0" dirty="0">
                <a:solidFill>
                  <a:schemeClr val="tx1"/>
                </a:solidFill>
                <a:effectLst/>
                <a:latin typeface="Arial" panose="020B0604020202020204" pitchFamily="34" charset="0"/>
                <a:cs typeface="Arial" panose="020B0604020202020204" pitchFamily="34" charset="0"/>
              </a:rPr>
              <a:t> </a:t>
            </a:r>
            <a:r>
              <a:rPr lang="en-US" sz="2400" b="0" i="0" dirty="0">
                <a:solidFill>
                  <a:schemeClr val="tx1"/>
                </a:solidFill>
                <a:effectLst/>
                <a:latin typeface="Arial" panose="020B0604020202020204" pitchFamily="34" charset="0"/>
                <a:cs typeface="Arial" panose="020B0604020202020204" pitchFamily="34" charset="0"/>
                <a:hlinkClick r:id="rId14"/>
              </a:rPr>
              <a:t>https://doi.org/10.3115/v1/D14-1181</a:t>
            </a:r>
            <a:endParaRPr lang="en-US" sz="2400" b="0" i="0" dirty="0">
              <a:solidFill>
                <a:schemeClr val="tx1"/>
              </a:solidFill>
              <a:effectLst/>
              <a:latin typeface="Arial" panose="020B0604020202020204" pitchFamily="34" charset="0"/>
              <a:cs typeface="Arial" panose="020B0604020202020204" pitchFamily="34" charset="0"/>
            </a:endParaRPr>
          </a:p>
          <a:p>
            <a:pPr marL="114300" marR="0" lvl="0" indent="-457200" algn="l">
              <a:lnSpc>
                <a:spcPct val="150000"/>
              </a:lnSpc>
              <a:buFont typeface="+mj-lt"/>
              <a:buAutoNum type="arabicParenR"/>
            </a:pPr>
            <a:r>
              <a:rPr lang="en-US" sz="2400" b="0" i="0" dirty="0">
                <a:solidFill>
                  <a:schemeClr val="tx1"/>
                </a:solidFill>
                <a:effectLst/>
                <a:latin typeface="Arial" panose="020B0604020202020204" pitchFamily="34" charset="0"/>
                <a:cs typeface="Arial" panose="020B0604020202020204" pitchFamily="34" charset="0"/>
              </a:rPr>
              <a:t>M. T. Ribeiro, S. Singh, and C. </a:t>
            </a:r>
            <a:r>
              <a:rPr lang="en-US" sz="2400" b="0" i="0" dirty="0" err="1">
                <a:solidFill>
                  <a:schemeClr val="tx1"/>
                </a:solidFill>
                <a:effectLst/>
                <a:latin typeface="Arial" panose="020B0604020202020204" pitchFamily="34" charset="0"/>
                <a:cs typeface="Arial" panose="020B0604020202020204" pitchFamily="34" charset="0"/>
              </a:rPr>
              <a:t>Guestrin</a:t>
            </a:r>
            <a:r>
              <a:rPr lang="en-US" sz="2400" b="0" i="0" dirty="0">
                <a:solidFill>
                  <a:schemeClr val="tx1"/>
                </a:solidFill>
                <a:effectLst/>
                <a:latin typeface="Arial" panose="020B0604020202020204" pitchFamily="34" charset="0"/>
                <a:cs typeface="Arial" panose="020B0604020202020204" pitchFamily="34" charset="0"/>
              </a:rPr>
              <a:t>, </a:t>
            </a:r>
            <a:r>
              <a:rPr lang="en-US" sz="2400" b="0" i="1" dirty="0">
                <a:solidFill>
                  <a:schemeClr val="tx1"/>
                </a:solidFill>
                <a:effectLst/>
                <a:latin typeface="Arial" panose="020B0604020202020204" pitchFamily="34" charset="0"/>
                <a:cs typeface="Arial" panose="020B0604020202020204" pitchFamily="34" charset="0"/>
              </a:rPr>
              <a:t>""Why Should I Trust You?": Explaining the Predictions of Any Classifier,"</a:t>
            </a:r>
            <a:r>
              <a:rPr lang="en-US" sz="2400" b="0" i="0" dirty="0">
                <a:solidFill>
                  <a:schemeClr val="tx1"/>
                </a:solidFill>
                <a:effectLst/>
                <a:latin typeface="Arial" panose="020B0604020202020204" pitchFamily="34" charset="0"/>
                <a:cs typeface="Arial" panose="020B0604020202020204" pitchFamily="34" charset="0"/>
              </a:rPr>
              <a:t> in </a:t>
            </a:r>
            <a:r>
              <a:rPr lang="en-US" sz="2400" b="0" i="1" dirty="0">
                <a:solidFill>
                  <a:schemeClr val="tx1"/>
                </a:solidFill>
                <a:effectLst/>
                <a:latin typeface="Arial" panose="020B0604020202020204" pitchFamily="34" charset="0"/>
                <a:cs typeface="Arial" panose="020B0604020202020204" pitchFamily="34" charset="0"/>
              </a:rPr>
              <a:t>Proc. 22nd ACM SIGKDD Int. Conf. </a:t>
            </a:r>
            <a:r>
              <a:rPr lang="en-US" sz="2400" b="0" i="1" dirty="0" err="1">
                <a:solidFill>
                  <a:schemeClr val="tx1"/>
                </a:solidFill>
                <a:effectLst/>
                <a:latin typeface="Arial" panose="020B0604020202020204" pitchFamily="34" charset="0"/>
                <a:cs typeface="Arial" panose="020B0604020202020204" pitchFamily="34" charset="0"/>
              </a:rPr>
              <a:t>Knowl</a:t>
            </a:r>
            <a:r>
              <a:rPr lang="en-US" sz="2400" b="0" i="1" dirty="0">
                <a:solidFill>
                  <a:schemeClr val="tx1"/>
                </a:solidFill>
                <a:effectLst/>
                <a:latin typeface="Arial" panose="020B0604020202020204" pitchFamily="34" charset="0"/>
                <a:cs typeface="Arial" panose="020B0604020202020204" pitchFamily="34" charset="0"/>
              </a:rPr>
              <a:t>. Discovery Data Mining (KDD)</a:t>
            </a:r>
            <a:r>
              <a:rPr lang="en-US" sz="2400" b="0" i="0" dirty="0">
                <a:solidFill>
                  <a:schemeClr val="tx1"/>
                </a:solidFill>
                <a:effectLst/>
                <a:latin typeface="Arial" panose="020B0604020202020204" pitchFamily="34" charset="0"/>
                <a:cs typeface="Arial" panose="020B0604020202020204" pitchFamily="34" charset="0"/>
              </a:rPr>
              <a:t>, San Francisco, CA, USA, 2016, pp. 1135–1144. </a:t>
            </a:r>
            <a:r>
              <a:rPr lang="en-US" sz="2400" b="1" i="0" dirty="0">
                <a:solidFill>
                  <a:schemeClr val="tx1"/>
                </a:solidFill>
                <a:effectLst/>
                <a:latin typeface="Arial" panose="020B0604020202020204" pitchFamily="34" charset="0"/>
                <a:cs typeface="Arial" panose="020B0604020202020204" pitchFamily="34" charset="0"/>
              </a:rPr>
              <a:t>DOI:</a:t>
            </a:r>
            <a:r>
              <a:rPr lang="en-US" sz="2400" b="0" i="0" dirty="0">
                <a:solidFill>
                  <a:schemeClr val="tx1"/>
                </a:solidFill>
                <a:effectLst/>
                <a:latin typeface="Arial" panose="020B0604020202020204" pitchFamily="34" charset="0"/>
                <a:cs typeface="Arial" panose="020B0604020202020204" pitchFamily="34" charset="0"/>
              </a:rPr>
              <a:t> </a:t>
            </a:r>
            <a:r>
              <a:rPr lang="en-US" sz="2400" b="0" i="0" dirty="0">
                <a:solidFill>
                  <a:schemeClr val="tx1"/>
                </a:solidFill>
                <a:effectLst/>
                <a:latin typeface="Arial" panose="020B0604020202020204" pitchFamily="34" charset="0"/>
                <a:cs typeface="Arial" panose="020B0604020202020204" pitchFamily="34" charset="0"/>
                <a:hlinkClick r:id="rId15"/>
              </a:rPr>
              <a:t>https://doi.org/10.1145/2939672.2939778</a:t>
            </a:r>
            <a:endParaRPr lang="en-US" sz="2400" b="0" i="0" dirty="0">
              <a:solidFill>
                <a:schemeClr val="tx1"/>
              </a:solidFill>
              <a:effectLst/>
              <a:latin typeface="Arial" panose="020B0604020202020204" pitchFamily="34" charset="0"/>
              <a:cs typeface="Arial" panose="020B0604020202020204" pitchFamily="34" charset="0"/>
            </a:endParaRPr>
          </a:p>
          <a:p>
            <a:pPr marL="114300" marR="0" lvl="0" indent="-457200" algn="l">
              <a:lnSpc>
                <a:spcPct val="150000"/>
              </a:lnSpc>
              <a:buFont typeface="+mj-lt"/>
              <a:buAutoNum type="arabicParenR"/>
            </a:pPr>
            <a:r>
              <a:rPr lang="en-US" sz="2400" b="0" i="0" dirty="0">
                <a:solidFill>
                  <a:schemeClr val="tx1"/>
                </a:solidFill>
                <a:effectLst/>
                <a:latin typeface="Arial" panose="020B0604020202020204" pitchFamily="34" charset="0"/>
                <a:cs typeface="Arial" panose="020B0604020202020204" pitchFamily="34" charset="0"/>
              </a:rPr>
              <a:t>R. </a:t>
            </a:r>
            <a:r>
              <a:rPr lang="en-US" sz="2400" b="0" i="0" dirty="0" err="1">
                <a:solidFill>
                  <a:schemeClr val="tx1"/>
                </a:solidFill>
                <a:effectLst/>
                <a:latin typeface="Arial" panose="020B0604020202020204" pitchFamily="34" charset="0"/>
                <a:cs typeface="Arial" panose="020B0604020202020204" pitchFamily="34" charset="0"/>
              </a:rPr>
              <a:t>Geirhos</a:t>
            </a:r>
            <a:r>
              <a:rPr lang="en-US" sz="2400" b="0" i="0" dirty="0">
                <a:solidFill>
                  <a:schemeClr val="tx1"/>
                </a:solidFill>
                <a:effectLst/>
                <a:latin typeface="Arial" panose="020B0604020202020204" pitchFamily="34" charset="0"/>
                <a:cs typeface="Arial" panose="020B0604020202020204" pitchFamily="34" charset="0"/>
              </a:rPr>
              <a:t>, J. H. Jacobsen, C. Michaelis, R. Zemel, W. Brendel, M. Bethge, and F. A. Wichmann, </a:t>
            </a:r>
            <a:r>
              <a:rPr lang="en-US" sz="2400" b="0" i="1" dirty="0">
                <a:solidFill>
                  <a:schemeClr val="tx1"/>
                </a:solidFill>
                <a:effectLst/>
                <a:latin typeface="Arial" panose="020B0604020202020204" pitchFamily="34" charset="0"/>
                <a:cs typeface="Arial" panose="020B0604020202020204" pitchFamily="34" charset="0"/>
              </a:rPr>
              <a:t>"Shortcut learning in deep neural networks,"</a:t>
            </a:r>
            <a:r>
              <a:rPr lang="en-US" sz="2400" b="0" i="0" dirty="0">
                <a:solidFill>
                  <a:schemeClr val="tx1"/>
                </a:solidFill>
                <a:effectLst/>
                <a:latin typeface="Arial" panose="020B0604020202020204" pitchFamily="34" charset="0"/>
                <a:cs typeface="Arial" panose="020B0604020202020204" pitchFamily="34" charset="0"/>
              </a:rPr>
              <a:t> </a:t>
            </a:r>
            <a:r>
              <a:rPr lang="en-US" sz="2400" b="0" i="1" dirty="0">
                <a:solidFill>
                  <a:schemeClr val="tx1"/>
                </a:solidFill>
                <a:effectLst/>
                <a:latin typeface="Arial" panose="020B0604020202020204" pitchFamily="34" charset="0"/>
                <a:cs typeface="Arial" panose="020B0604020202020204" pitchFamily="34" charset="0"/>
              </a:rPr>
              <a:t>Nature Machine Intelligence</a:t>
            </a:r>
            <a:r>
              <a:rPr lang="en-US" sz="2400" b="0" i="0" dirty="0">
                <a:solidFill>
                  <a:schemeClr val="tx1"/>
                </a:solidFill>
                <a:effectLst/>
                <a:latin typeface="Arial" panose="020B0604020202020204" pitchFamily="34" charset="0"/>
                <a:cs typeface="Arial" panose="020B0604020202020204" pitchFamily="34" charset="0"/>
              </a:rPr>
              <a:t>, vol. 2, no. 11, pp. 665–673, 2020.</a:t>
            </a:r>
            <a:r>
              <a:rPr lang="en-US" sz="2400" dirty="0">
                <a:latin typeface="Arial" panose="020B0604020202020204" pitchFamily="34" charset="0"/>
                <a:cs typeface="Arial" panose="020B0604020202020204" pitchFamily="34" charset="0"/>
              </a:rPr>
              <a:t> </a:t>
            </a:r>
            <a:r>
              <a:rPr lang="en-US" sz="2400" b="0" i="0" dirty="0">
                <a:solidFill>
                  <a:schemeClr val="tx1"/>
                </a:solidFill>
                <a:effectLst/>
                <a:latin typeface="Arial" panose="020B0604020202020204" pitchFamily="34" charset="0"/>
                <a:cs typeface="Arial" panose="020B0604020202020204" pitchFamily="34" charset="0"/>
              </a:rPr>
              <a:t> </a:t>
            </a:r>
            <a:r>
              <a:rPr lang="en-US" sz="2400" b="1" i="0" dirty="0">
                <a:solidFill>
                  <a:schemeClr val="tx1"/>
                </a:solidFill>
                <a:effectLst/>
                <a:latin typeface="Arial" panose="020B0604020202020204" pitchFamily="34" charset="0"/>
                <a:cs typeface="Arial" panose="020B0604020202020204" pitchFamily="34" charset="0"/>
              </a:rPr>
              <a:t>DOI:</a:t>
            </a:r>
            <a:r>
              <a:rPr lang="en-US" sz="2400" b="0" i="0" dirty="0">
                <a:solidFill>
                  <a:schemeClr val="tx1"/>
                </a:solidFill>
                <a:effectLst/>
                <a:latin typeface="Arial" panose="020B0604020202020204" pitchFamily="34" charset="0"/>
                <a:cs typeface="Arial" panose="020B0604020202020204" pitchFamily="34" charset="0"/>
              </a:rPr>
              <a:t> </a:t>
            </a:r>
            <a:r>
              <a:rPr lang="en-US" sz="2400" b="0" i="0" dirty="0">
                <a:solidFill>
                  <a:schemeClr val="tx1"/>
                </a:solidFill>
                <a:effectLst/>
                <a:latin typeface="Arial" panose="020B0604020202020204" pitchFamily="34" charset="0"/>
                <a:cs typeface="Arial" panose="020B0604020202020204" pitchFamily="34" charset="0"/>
                <a:hlinkClick r:id="rId16"/>
              </a:rPr>
              <a:t>https://doi.org/10.1038/s42256-020-00257-z</a:t>
            </a:r>
            <a:endParaRPr lang="en-US" sz="2400" b="0" i="0" dirty="0">
              <a:solidFill>
                <a:srgbClr val="101010"/>
              </a:solidFill>
              <a:effectLst/>
              <a:latin typeface="Arial" panose="020B0604020202020204" pitchFamily="34" charset="0"/>
              <a:cs typeface="Arial" panose="020B0604020202020204" pitchFamily="34" charset="0"/>
            </a:endParaRPr>
          </a:p>
        </p:txBody>
      </p:sp>
    </p:spTree>
  </p:cSld>
  <p:clrMapOvr>
    <a:masterClrMapping/>
  </p:clrMapOvr>
  <p:transition spd="slow">
    <p:wheel spokes="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Rot="1" noChangeAspect="1" noMove="1" noResize="1" noEditPoints="1" noAdjustHandles="1" noChangeArrowheads="1" noChangeShapeType="1" noCrop="1"/>
          </p:cNvPicPr>
          <p:nvPr/>
        </p:nvPicPr>
        <p:blipFill>
          <a:blip r:embed="rId3"/>
          <a:stretch>
            <a:fillRect/>
          </a:stretch>
        </p:blipFill>
        <p:spPr>
          <a:xfrm>
            <a:off x="0" y="0"/>
            <a:ext cx="24384000" cy="13716000"/>
          </a:xfrm>
          <a:prstGeom prst="rect">
            <a:avLst/>
          </a:prstGeom>
        </p:spPr>
      </p:pic>
      <p:pic>
        <p:nvPicPr>
          <p:cNvPr id="3" name="Picture 3"/>
          <p:cNvPicPr>
            <a:picLocks noChangeAspect="1"/>
          </p:cNvPicPr>
          <p:nvPr/>
        </p:nvPicPr>
        <p:blipFill>
          <a:blip r:embed="rId4"/>
          <a:stretch>
            <a:fillRect/>
          </a:stretch>
        </p:blipFill>
        <p:spPr>
          <a:xfrm>
            <a:off x="580572" y="382396"/>
            <a:ext cx="23222857" cy="12951209"/>
          </a:xfrm>
          <a:prstGeom prst="rect">
            <a:avLst/>
          </a:prstGeom>
        </p:spPr>
      </p:pic>
      <p:pic>
        <p:nvPicPr>
          <p:cNvPr id="4" name="Picture 4"/>
          <p:cNvPicPr>
            <a:picLocks noChangeAspect="1"/>
          </p:cNvPicPr>
          <p:nvPr/>
        </p:nvPicPr>
        <p:blipFill>
          <a:blip r:embed="rId5"/>
          <a:stretch>
            <a:fillRect/>
          </a:stretch>
        </p:blipFill>
        <p:spPr>
          <a:xfrm>
            <a:off x="580572" y="382396"/>
            <a:ext cx="23222857" cy="12951209"/>
          </a:xfrm>
          <a:prstGeom prst="rect">
            <a:avLst/>
          </a:prstGeom>
          <a:effectLst>
            <a:outerShdw blurRad="5359120" dist="893186" dir="5400000" algn="ctr">
              <a:srgbClr val="000000">
                <a:alpha val="14901"/>
              </a:srgbClr>
            </a:outerShdw>
          </a:effectLst>
        </p:spPr>
      </p:pic>
      <p:pic>
        <p:nvPicPr>
          <p:cNvPr id="5" name="Picture 5"/>
          <p:cNvPicPr>
            <a:picLocks noChangeAspect="1"/>
          </p:cNvPicPr>
          <p:nvPr/>
        </p:nvPicPr>
        <p:blipFill>
          <a:blip r:embed="rId6"/>
          <a:stretch>
            <a:fillRect/>
          </a:stretch>
        </p:blipFill>
        <p:spPr>
          <a:xfrm>
            <a:off x="580572" y="326572"/>
            <a:ext cx="23222857" cy="13062857"/>
          </a:xfrm>
          <a:prstGeom prst="rect">
            <a:avLst/>
          </a:prstGeom>
        </p:spPr>
      </p:pic>
      <p:pic>
        <p:nvPicPr>
          <p:cNvPr id="6" name="Picture 6"/>
          <p:cNvPicPr>
            <a:picLocks noChangeAspect="1"/>
          </p:cNvPicPr>
          <p:nvPr/>
        </p:nvPicPr>
        <p:blipFill>
          <a:blip r:embed="rId7"/>
          <a:stretch>
            <a:fillRect/>
          </a:stretch>
        </p:blipFill>
        <p:spPr>
          <a:xfrm>
            <a:off x="10740571" y="7230531"/>
            <a:ext cx="2902857" cy="96762"/>
          </a:xfrm>
          <a:prstGeom prst="rect">
            <a:avLst/>
          </a:prstGeom>
        </p:spPr>
      </p:pic>
      <p:sp>
        <p:nvSpPr>
          <p:cNvPr id="7" name="TextBox 7"/>
          <p:cNvSpPr txBox="1"/>
          <p:nvPr/>
        </p:nvSpPr>
        <p:spPr>
          <a:xfrm>
            <a:off x="2177143" y="5072748"/>
            <a:ext cx="20029715" cy="1625600"/>
          </a:xfrm>
          <a:prstGeom prst="rect">
            <a:avLst/>
          </a:prstGeom>
        </p:spPr>
        <p:txBody>
          <a:bodyPr wrap="none" lIns="0" tIns="0" rIns="0" bIns="0" rtlCol="0" anchor="t"/>
          <a:lstStyle/>
          <a:p>
            <a:pPr marL="0" algn="ctr" fontAlgn="base">
              <a:lnSpc>
                <a:spcPct val="100000"/>
              </a:lnSpc>
              <a:spcBef>
                <a:spcPct val="0"/>
              </a:spcBef>
              <a:spcAft>
                <a:spcPct val="0"/>
              </a:spcAft>
            </a:pPr>
            <a:r>
              <a:rPr lang="en-US" sz="9602" b="1" i="0" u="none" strike="noStrike">
                <a:solidFill>
                  <a:srgbClr val="111111"/>
                </a:solidFill>
                <a:latin typeface="Embedded Playfair Display"/>
              </a:rPr>
              <a:t>Thank You!</a:t>
            </a:r>
          </a:p>
        </p:txBody>
      </p:sp>
      <p:sp>
        <p:nvSpPr>
          <p:cNvPr id="8" name="TextBox 8"/>
          <p:cNvSpPr txBox="1"/>
          <p:nvPr/>
        </p:nvSpPr>
        <p:spPr>
          <a:xfrm>
            <a:off x="2177143" y="7859483"/>
            <a:ext cx="20029715" cy="783771"/>
          </a:xfrm>
          <a:prstGeom prst="rect">
            <a:avLst/>
          </a:prstGeom>
        </p:spPr>
        <p:txBody>
          <a:bodyPr wrap="none" lIns="0" tIns="0" rIns="0" bIns="0" rtlCol="0" anchor="t"/>
          <a:lstStyle/>
          <a:p>
            <a:pPr marL="0" algn="ctr" fontAlgn="base">
              <a:lnSpc>
                <a:spcPct val="100000"/>
              </a:lnSpc>
              <a:spcBef>
                <a:spcPct val="0"/>
              </a:spcBef>
              <a:spcAft>
                <a:spcPct val="0"/>
              </a:spcAft>
            </a:pPr>
            <a:r>
              <a:rPr lang="en-US" sz="4571" b="0" i="0" u="none" strike="noStrike">
                <a:solidFill>
                  <a:srgbClr val="111111"/>
                </a:solidFill>
                <a:latin typeface="Embedded Inter"/>
              </a:rPr>
              <a:t>Any Questions?</a:t>
            </a:r>
          </a:p>
        </p:txBody>
      </p:sp>
      <p:pic>
        <p:nvPicPr>
          <p:cNvPr id="9" name="Picture 9"/>
          <p:cNvPicPr>
            <a:picLocks noChangeAspect="1"/>
          </p:cNvPicPr>
          <p:nvPr/>
        </p:nvPicPr>
        <p:blipFill>
          <a:blip r:embed="rId8"/>
          <a:stretch>
            <a:fillRect/>
          </a:stretch>
        </p:blipFill>
        <p:spPr>
          <a:xfrm>
            <a:off x="22206856" y="-1270000"/>
            <a:ext cx="3193143" cy="3193143"/>
          </a:xfrm>
          <a:prstGeom prst="rect">
            <a:avLst/>
          </a:prstGeom>
        </p:spPr>
      </p:pic>
      <p:sp>
        <p:nvSpPr>
          <p:cNvPr id="10" name="TextBox 10"/>
          <p:cNvSpPr txBox="1"/>
          <p:nvPr/>
        </p:nvSpPr>
        <p:spPr>
          <a:xfrm>
            <a:off x="22931664" y="616857"/>
            <a:ext cx="570290" cy="580571"/>
          </a:xfrm>
          <a:prstGeom prst="rect">
            <a:avLst/>
          </a:prstGeom>
        </p:spPr>
        <p:txBody>
          <a:bodyPr wrap="none" lIns="0" tIns="0" rIns="0" bIns="0" rtlCol="0" anchor="t"/>
          <a:lstStyle/>
          <a:p>
            <a:pPr marL="0" algn="ctr" fontAlgn="base">
              <a:lnSpc>
                <a:spcPct val="100000"/>
              </a:lnSpc>
              <a:spcBef>
                <a:spcPct val="0"/>
              </a:spcBef>
              <a:spcAft>
                <a:spcPct val="0"/>
              </a:spcAft>
            </a:pPr>
            <a:r>
              <a:rPr lang="en-US" sz="3547" b="0" i="0" u="none" strike="noStrike" dirty="0">
                <a:solidFill>
                  <a:srgbClr val="F2F0EC"/>
                </a:solidFill>
                <a:latin typeface="Embedded Inter"/>
              </a:rPr>
              <a:t>15</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455</TotalTime>
  <Words>2094</Words>
  <Application>Microsoft Office PowerPoint</Application>
  <PresentationFormat>Custom</PresentationFormat>
  <Paragraphs>438</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Embedded Arial</vt:lpstr>
      <vt:lpstr>Embedded Hind Siliguri</vt:lpstr>
      <vt:lpstr>Wingdings</vt:lpstr>
      <vt:lpstr>Embedded Playfair Display</vt:lpstr>
      <vt:lpstr>Calibri</vt:lpstr>
      <vt:lpstr>Vrinda</vt:lpstr>
      <vt:lpstr>Embedded 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 Turzo</cp:lastModifiedBy>
  <cp:revision>47</cp:revision>
  <dcterms:created xsi:type="dcterms:W3CDTF">2006-08-16T00:00:00Z</dcterms:created>
  <dcterms:modified xsi:type="dcterms:W3CDTF">2026-09-02T03:56:41Z</dcterms:modified>
</cp:coreProperties>
</file>